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7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0816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de la réunion : présenter la démarche d'approche globale, étape par étape, en suivant un élevage réel du secteur. Tous les chiffres présentés viennent des analyses et du bilan de l'EARL Forgeneuf.</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de départ : quand les mêmes troubles reviennent chaque année (non-délivrances, métrites, diarrhées), ce n'est plus de la malchance, c'est un signal d'élevage. On arrête de regarder la vache seule pour regarder tout le système.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cinq piliers servent de check-list : pour chaque trouble, on se demande lequel des piliers est en cause. Le fil conducteur est la chaîne sol, plante, animal : les analyses de fourrages font le lien entre les pratiques culturales et la santé des vaches.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va dérouler ces six étapes sur l'EARL Forgeneuf. L'ordre compte : on collecte et on mesure avant de conclure, et on ne change pas tout d'un coup.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l'élevage : système herbager, fumier sur toutes les parcelles, 30 unités d'azote vers le 15 mars sur les 30 ha de jeunes prairies destinées à l'enrubannage. La ration est simple et typique de la région.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étape : écouter l'éleveur et noter tout, même ce qui paraît secondaire comme le poil terne ou les gros nombrils. Pris un par un, ces troubles semblent sans lien.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bilan GDS donne des chiffres objectifs, comparables d'une année à l'autre. L'intervalle vêlage-vêlage s'allonge depuis trois campagnes : la fertilité se dégrade. La mortalité des veaux a baissé mais reste au-dessus du seuil d'alerte.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transforme les nombres de cas en taux pour les comparer aux seuils de référence. Trois troubles liés au vêlage et à la délivrance ressortent : c'est la période autour du vêlage qu'il faut regarder en priorité.</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fourrage est analysé séparément : valeur azotée, énergie, minéraux majeurs, oligo-éléments, cendres. Les repères viennent de la grille d'interprétation des fourrages pour vaches allaitantes. On lit ligne par ligne : où est-on en dessous, où est-on au-dessus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messages à retenir sur les fourrages. Le plus important : le manque d'azote, qui touche tous les fourrages. On vérifie aussi ce qui va bien, ici l'absence de mycotoxines sur le triticale, pour ne pas chercher au mauvais endroit.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Toujours photographier l'étiquette du minéral : composition, dose conseillée, date limite. Ici, le minéral est conçu pour des vaches laitières (150 à 200 g/jour) et le sac était périmé depuis plus de 17 mois. L'eau est le premier pilier : une analyse complète est prévue.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mesures terrain disent comment la vache utilise sa ration. Glycémie basse, urée basse et bouses acides ensemble : d'après la grille PRITIH, c'est un manque d'azote avec excès relatif de sucres. Les sucres de l'enrubannage (12,6 %) sont mal valorisés dans le rumen et fermentent plus loin dans l'intestin.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 prises de sang suffisent pour un profil de troupeau. La carence en sélénium est homogène et profonde (moitié du seuil bas). Elle contredit le calcul sur papier du minéral : c'est une information clé pour l'étape suivante.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matériel tient dans une mallette : pH-mètre et redox-mètre étalonnés (solutions tampon pH 4, 7 et 10), réfractomètres, lecteur de glycémie et de BOH, bandelettes urée. Toutes ces mesures se font dans la stabulation et donnent un résultat immédiat, sans attendre le laboratoire. Chez Forgeneuf, 5 vaches en préparation au vêlage et 2 taries ont été mesurées le 03/09/2026.</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repères changent avec le stade : le pH urinaire doit être plus bas en préparation au vêlage (7,0 à 7,5) quand on utilise des sels anioniques, la glycémie est plus haute chez les veaux. Toujours comparer une vache à la référence de son stade, jamais à celle d'un autre lot. Chez Forgeneuf, les deux taries avaient un pH urinaire de 7,34 et 7,5 (sous la référence de 7,8 à 8,3) et l'une avait une urine très diluée (densité 1005, Brix 1,5 %) : à recontrôler.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mesure seule ne dit pas grand-chose : c'est la combinaison qui parle. Chez Forgeneuf, glycémie basse avec urée basse et bouses acides : c'est le tableau d'un déficit azoté avec excès relatif de sucres. Le tamisage des bouses n'a pas encore été fait : il est prévu chaque mois pendant l'hivernage.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cœur de la méthode : on met côte à côte les troubles, les analyses de fourrages et les mesures sur les animaux. Chaque cause est confirmée par au moins deux sources différentes. On complète avec les facteurs infectieux et de conduite : cryptosporidies, tiques (ehrlichiose), BVD.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grille aide à ne rien oublier : pour chaque trouble, elle indique les grandes familles de causes. On coche les troubles présents dans l'élevage et on regarde quelles colonnes reviennent le plus souvent. Les causes infectieuses restent à traiter en parallèle avec le vétérinaire.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ne change pas tout d'un coup. La priorité 1 corrige les carences qui ont le plus d'impact sur les vêlages à venir. La priorité 2 rééquilibre la ration. La priorité 3 améliore les fourrages à la source, pour la prochaine récolte. Les actions sur les veaux (colostrum, hygiène des cases, kéfir après le colostrum) complètent la vaccination cryptosporidies.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fiche montre la forme d'un plan d'action : un constat chiffré, des actions concrètes, une date et un contrôle. Le minéral en place couvrait presque les besoins sur le papier : c'est la distribution et le stock qui posent problème. Donc on corrige d'abord la façon de distribuer, avant de changer de produit.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Méthode pour lire une étiquette : on multiplie la teneur par kg par la dose distribuée (100 g = 0,1 kg), puis on compare au besoin journalier. Exemple sélénium : 40 mg/kg × 0,1 kg = 4 mg/jour, dans la fourchette de 3 à 5 mg. Si la vache n'en mange que la moitié, on tombe à 2 mg : c'est la carence. Le bolus est une alternative quand on ne maîtrise pas la consommation, à décider avec le vétérinaire.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que la vache mobilise elle-même son calcium avant le vêlage, pour éviter l'hypocalcémie discrète qui favorise retournements, non-délivrances et métrites. Repères de ration en préparation au vêlage pour des vaches rustiques : 0,75 à 0,78 UFL, 11,5 à 12 % de MAT, magnésium 2,5 à 3,5 g, potassium 13 g maximum, BACA de 0 à 100 par kg de matière sèche.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L'acidose ici ne vient pas d'un excès de céréales mais d'un manque d'azote : les sucres de l'enrubannage ne sont pas utilisés par les microbes du rumen et fermentent plus loin. On corrige donc d'abord l'azote. Ajouter de la mélasse aggraverait le problème tant que l'azote manque.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veaux profitent aussi des corrections faites sur les mères : un colostrum riche dépend de l'azote et du sélénium de la vache en fin de gestation. Le réfractomètre permet de vérifier en 1 minute si le colostrum est assez riche, puis si le veau a bien absorbé ses anticorps (protéines totales du sérum).</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l'action la plus longue mais la plus durable : améliorer le fourrage à la source réduit le besoin de correcteur et de minéral. Trier les fourrages disponibles selon les lots est en revanche possible dès cet hiver : un fourrage riche en potassium est bon pour la lactation mais à éviter avant le vêlage.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vêlage, on dilue le calcium et le potassium avec de la paille et un foin 2026 moins riche, et on réserve le foin 2025 aux vaches en lactation. Le calcium et le BACA restent un peu au-dessus de l'idéal : d'où le chlorure de magnésium les trois dernières semaines, avec contrôle du pH urinaire (cible 7,0 à 7,5).</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Sans contrôle, on ne sait pas si la correction marche. Les mêmes mesures qu'au départ sont refaites à dates fixes, et le bilan GDS de l'année suivante sert de juge de paix.</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calendrier permet à l'éleveur de savoir quoi faire et quand, en suivant le cycle de production. Chaque étape du cycle a ses actions et ses contrôles. On l'affiche dans le bureau ou la sellerie.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Chez Forgeneuf, trois déséquilibres (azote, sélénium et iode, calcium et potassium avant vêlage) expliquaient une grande partie des troubles, alors qu'on les traitait un par un.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Distribuer le document de pré-visite. Plus les documents sont complets, plus la visite est efficace. Questions et échanges.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2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3A566"/>
                </a:solidFill>
                <a:latin typeface="Nunito Sans" pitchFamily="34" charset="0"/>
                <a:ea typeface="Nunito Sans" pitchFamily="34" charset="-122"/>
                <a:cs typeface="Nunito Sans" pitchFamily="34" charset="-120"/>
              </a:rPr>
              <a:t>RÉUNION ÉLEVEURS · SANTÉ DU TROUPEAU ALLAITANT</a:t>
            </a:r>
            <a:endParaRPr lang="en-US" sz="1200" dirty="0"/>
          </a:p>
        </p:txBody>
      </p:sp>
      <p:sp>
        <p:nvSpPr>
          <p:cNvPr id="3" name="Text 1"/>
          <p:cNvSpPr/>
          <p:nvPr/>
        </p:nvSpPr>
        <p:spPr>
          <a:xfrm>
            <a:off x="812800" y="2493070"/>
            <a:ext cx="10883392" cy="751780"/>
          </a:xfrm>
          <a:prstGeom prst="rect">
            <a:avLst/>
          </a:prstGeom>
          <a:noFill/>
          <a:ln/>
        </p:spPr>
        <p:txBody>
          <a:bodyPr wrap="square" lIns="0" tIns="0" rIns="0" bIns="0" rtlCol="0" anchor="t">
            <a:normAutofit/>
          </a:bodyPr>
          <a:lstStyle/>
          <a:p>
            <a:pPr marL="0" indent="0" algn="l">
              <a:lnSpc>
                <a:spcPts val="5720"/>
              </a:lnSpc>
              <a:buNone/>
            </a:pPr>
            <a:r>
              <a:rPr lang="en-US" sz="5200" b="1" dirty="0">
                <a:solidFill>
                  <a:srgbClr val="F6F2E8"/>
                </a:solidFill>
                <a:latin typeface="Domine" pitchFamily="34" charset="0"/>
                <a:ea typeface="Domine" pitchFamily="34" charset="-122"/>
                <a:cs typeface="Domine" pitchFamily="34" charset="-120"/>
              </a:rPr>
              <a:t>L'approche globale</a:t>
            </a:r>
            <a:endParaRPr lang="en-US" sz="5200" dirty="0"/>
          </a:p>
        </p:txBody>
      </p:sp>
      <p:sp>
        <p:nvSpPr>
          <p:cNvPr id="4" name="Text 2"/>
          <p:cNvSpPr/>
          <p:nvPr/>
        </p:nvSpPr>
        <p:spPr>
          <a:xfrm>
            <a:off x="812800" y="3422650"/>
            <a:ext cx="8502650" cy="6858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D9E3DC"/>
                </a:solidFill>
                <a:latin typeface="Nunito Sans" pitchFamily="34" charset="0"/>
                <a:ea typeface="Nunito Sans" pitchFamily="34" charset="-122"/>
                <a:cs typeface="Nunito Sans" pitchFamily="34" charset="-120"/>
              </a:rPr>
              <a:t>Du sol à l'animal : une méthode pour comprendre et corriger les troubles du troupeau</a:t>
            </a:r>
            <a:endParaRPr lang="en-US" sz="2000" dirty="0"/>
          </a:p>
        </p:txBody>
      </p:sp>
      <p:sp>
        <p:nvSpPr>
          <p:cNvPr id="5" name="Shape 3"/>
          <p:cNvSpPr/>
          <p:nvPr/>
        </p:nvSpPr>
        <p:spPr>
          <a:xfrm>
            <a:off x="812800" y="5568950"/>
            <a:ext cx="50800" cy="457200"/>
          </a:xfrm>
          <a:prstGeom prst="rect">
            <a:avLst/>
          </a:prstGeom>
          <a:solidFill>
            <a:srgbClr val="E3A566"/>
          </a:solidFill>
          <a:ln/>
        </p:spPr>
        <p:txBody>
          <a:bodyPr/>
          <a:lstStyle/>
          <a:p>
            <a:endParaRPr lang="fr-FR"/>
          </a:p>
        </p:txBody>
      </p:sp>
      <p:sp>
        <p:nvSpPr>
          <p:cNvPr id="6" name="Text 4"/>
          <p:cNvSpPr/>
          <p:nvPr/>
        </p:nvSpPr>
        <p:spPr>
          <a:xfrm>
            <a:off x="1016000" y="5549900"/>
            <a:ext cx="4483206" cy="52070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D9E3DC"/>
                </a:solidFill>
                <a:latin typeface="Nunito Sans" pitchFamily="34" charset="0"/>
                <a:ea typeface="Nunito Sans" pitchFamily="34" charset="-122"/>
                <a:cs typeface="Nunito Sans" pitchFamily="34" charset="-120"/>
              </a:rPr>
              <a:t>Cas concret : EARL </a:t>
            </a:r>
            <a:r>
              <a:rPr lang="en-US" sz="1500" dirty="0" err="1">
                <a:solidFill>
                  <a:srgbClr val="D9E3DC"/>
                </a:solidFill>
                <a:latin typeface="Nunito Sans" pitchFamily="34" charset="0"/>
                <a:ea typeface="Nunito Sans" pitchFamily="34" charset="-122"/>
                <a:cs typeface="Nunito Sans" pitchFamily="34" charset="-120"/>
              </a:rPr>
              <a:t>Belvache</a:t>
            </a:r>
            <a:r>
              <a:rPr lang="en-US" sz="1500" dirty="0">
                <a:solidFill>
                  <a:srgbClr val="D9E3DC"/>
                </a:solidFill>
                <a:latin typeface="Nunito Sans" pitchFamily="34" charset="0"/>
                <a:ea typeface="Nunito Sans" pitchFamily="34" charset="-122"/>
                <a:cs typeface="Nunito Sans" pitchFamily="34" charset="-120"/>
              </a:rPr>
              <a:t>, 103 vêlages</a:t>
            </a:r>
            <a:endParaRPr lang="en-US" sz="1500" dirty="0"/>
          </a:p>
          <a:p>
            <a:pPr marL="0" indent="0" algn="l">
              <a:lnSpc>
                <a:spcPts val="1950"/>
              </a:lnSpc>
              <a:buNone/>
            </a:pPr>
            <a:r>
              <a:rPr lang="en-US" sz="1500" dirty="0">
                <a:solidFill>
                  <a:srgbClr val="D9E3DC"/>
                </a:solidFill>
                <a:latin typeface="Nunito Sans" pitchFamily="34" charset="0"/>
                <a:ea typeface="Nunito Sans" pitchFamily="34" charset="-122"/>
                <a:cs typeface="Nunito Sans" pitchFamily="34" charset="-120"/>
              </a:rPr>
              <a:t>Nord Dordogne (24) · visite du 03/09/2026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9A4F12"/>
        </a:solidFill>
        <a:effectLst/>
      </p:bgPr>
    </p:bg>
    <p:spTree>
      <p:nvGrpSpPr>
        <p:cNvPr id="1" name=""/>
        <p:cNvGrpSpPr/>
        <p:nvPr/>
      </p:nvGrpSpPr>
      <p:grpSpPr>
        <a:xfrm>
          <a:off x="0" y="0"/>
          <a:ext cx="0" cy="0"/>
          <a:chOff x="0" y="0"/>
          <a:chExt cx="0" cy="0"/>
        </a:xfrm>
      </p:grpSpPr>
      <p:sp>
        <p:nvSpPr>
          <p:cNvPr id="2" name="Text 0"/>
          <p:cNvSpPr/>
          <p:nvPr/>
        </p:nvSpPr>
        <p:spPr>
          <a:xfrm>
            <a:off x="812800" y="2040334"/>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6DDBF"/>
                </a:solidFill>
                <a:latin typeface="Nunito Sans" pitchFamily="34" charset="0"/>
                <a:ea typeface="Nunito Sans" pitchFamily="34" charset="-122"/>
                <a:cs typeface="Nunito Sans" pitchFamily="34" charset="-120"/>
              </a:rPr>
              <a:t>POURQUOI UNE APPROCHE GLOBALE ?</a:t>
            </a:r>
            <a:endParaRPr lang="en-US" sz="1200" dirty="0"/>
          </a:p>
        </p:txBody>
      </p:sp>
      <p:sp>
        <p:nvSpPr>
          <p:cNvPr id="3" name="Text 1"/>
          <p:cNvSpPr/>
          <p:nvPr/>
        </p:nvSpPr>
        <p:spPr>
          <a:xfrm>
            <a:off x="812800" y="2558455"/>
            <a:ext cx="9810750" cy="1427361"/>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F6F2E8"/>
                </a:solidFill>
                <a:latin typeface="Domine" pitchFamily="34" charset="0"/>
                <a:ea typeface="Domine" pitchFamily="34" charset="-122"/>
                <a:cs typeface="Domine" pitchFamily="34" charset="-120"/>
              </a:rPr>
              <a:t>Une non-délivrance, une métrite ou un veau qui fait une diarrhée ont rarement une seule cause.</a:t>
            </a:r>
            <a:endParaRPr lang="en-US" sz="3200" dirty="0"/>
          </a:p>
        </p:txBody>
      </p:sp>
      <p:sp>
        <p:nvSpPr>
          <p:cNvPr id="4" name="Text 2"/>
          <p:cNvSpPr/>
          <p:nvPr/>
        </p:nvSpPr>
        <p:spPr>
          <a:xfrm>
            <a:off x="812800" y="4265216"/>
            <a:ext cx="9156700"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F6E6D2"/>
                </a:solidFill>
                <a:latin typeface="Nunito Sans" pitchFamily="34" charset="0"/>
                <a:ea typeface="Nunito Sans" pitchFamily="34" charset="-122"/>
                <a:cs typeface="Nunito Sans" pitchFamily="34" charset="-120"/>
              </a:rPr>
              <a:t>Traiter chaque cas soulage l'animal, mais le problème revient l'année suivante. L'approche globale cherche ce qui relie les troubles entre eux : l'eau, les fourrages, les minéraux, le logement, la conduite.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2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4F12"/>
                </a:solidFill>
                <a:latin typeface="Nunito Sans" pitchFamily="34" charset="0"/>
                <a:ea typeface="Nunito Sans" pitchFamily="34" charset="-122"/>
                <a:cs typeface="Nunito Sans" pitchFamily="34" charset="-120"/>
              </a:rPr>
              <a:t>LA MÉTHODE</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E3A2F"/>
                </a:solidFill>
                <a:latin typeface="Domine" pitchFamily="34" charset="0"/>
                <a:ea typeface="Domine" pitchFamily="34" charset="-122"/>
                <a:cs typeface="Domine" pitchFamily="34" charset="-120"/>
              </a:rPr>
              <a:t>Cinq piliers de la santé</a:t>
            </a:r>
            <a:endParaRPr lang="en-US" sz="3200" dirty="0"/>
          </a:p>
        </p:txBody>
      </p:sp>
      <p:sp>
        <p:nvSpPr>
          <p:cNvPr id="4" name="Shape 2"/>
          <p:cNvSpPr/>
          <p:nvPr/>
        </p:nvSpPr>
        <p:spPr>
          <a:xfrm>
            <a:off x="819150" y="1835051"/>
            <a:ext cx="1978620" cy="1795661"/>
          </a:xfrm>
          <a:prstGeom prst="roundRect">
            <a:avLst>
              <a:gd name="adj" fmla="val 5304"/>
            </a:avLst>
          </a:prstGeom>
          <a:solidFill>
            <a:srgbClr val="FBF9F3"/>
          </a:solidFill>
          <a:ln w="12700">
            <a:solidFill>
              <a:srgbClr val="D8CEB6"/>
            </a:solidFill>
            <a:prstDash val="solid"/>
          </a:ln>
        </p:spPr>
        <p:txBody>
          <a:bodyPr/>
          <a:lstStyle/>
          <a:p>
            <a:endParaRPr lang="fr-FR"/>
          </a:p>
        </p:txBody>
      </p:sp>
      <p:sp>
        <p:nvSpPr>
          <p:cNvPr id="5" name="Text 3"/>
          <p:cNvSpPr/>
          <p:nvPr/>
        </p:nvSpPr>
        <p:spPr>
          <a:xfrm>
            <a:off x="1003300" y="2019201"/>
            <a:ext cx="1661120"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9A4F12"/>
                </a:solidFill>
                <a:latin typeface="Domine" pitchFamily="34" charset="0"/>
                <a:ea typeface="Domine" pitchFamily="34" charset="-122"/>
                <a:cs typeface="Domine" pitchFamily="34" charset="-120"/>
              </a:rPr>
              <a:t>1</a:t>
            </a:r>
            <a:endParaRPr lang="en-US" sz="3200" dirty="0"/>
          </a:p>
        </p:txBody>
      </p:sp>
      <p:sp>
        <p:nvSpPr>
          <p:cNvPr id="6" name="Text 4"/>
          <p:cNvSpPr/>
          <p:nvPr/>
        </p:nvSpPr>
        <p:spPr>
          <a:xfrm>
            <a:off x="1003300" y="2501801"/>
            <a:ext cx="16611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3A2F"/>
                </a:solidFill>
                <a:latin typeface="Domine" pitchFamily="34" charset="0"/>
                <a:ea typeface="Domine" pitchFamily="34" charset="-122"/>
                <a:cs typeface="Domine" pitchFamily="34" charset="-120"/>
              </a:rPr>
              <a:t>Hydratation</a:t>
            </a:r>
            <a:endParaRPr lang="en-US" sz="1500" dirty="0"/>
          </a:p>
        </p:txBody>
      </p:sp>
      <p:sp>
        <p:nvSpPr>
          <p:cNvPr id="7" name="Text 5"/>
          <p:cNvSpPr/>
          <p:nvPr/>
        </p:nvSpPr>
        <p:spPr>
          <a:xfrm>
            <a:off x="1003300" y="2806601"/>
            <a:ext cx="166112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Quantité et qualité de l'eau bue chaque jour.</a:t>
            </a:r>
            <a:endParaRPr lang="en-US" sz="1200" dirty="0"/>
          </a:p>
        </p:txBody>
      </p:sp>
      <p:sp>
        <p:nvSpPr>
          <p:cNvPr id="8" name="Shape 6"/>
          <p:cNvSpPr/>
          <p:nvPr/>
        </p:nvSpPr>
        <p:spPr>
          <a:xfrm>
            <a:off x="2962870" y="1835051"/>
            <a:ext cx="1978720" cy="1795661"/>
          </a:xfrm>
          <a:prstGeom prst="roundRect">
            <a:avLst>
              <a:gd name="adj" fmla="val 5304"/>
            </a:avLst>
          </a:prstGeom>
          <a:solidFill>
            <a:srgbClr val="FBF9F3"/>
          </a:solidFill>
          <a:ln w="12700">
            <a:solidFill>
              <a:srgbClr val="D8CEB6"/>
            </a:solidFill>
            <a:prstDash val="solid"/>
          </a:ln>
        </p:spPr>
        <p:txBody>
          <a:bodyPr/>
          <a:lstStyle/>
          <a:p>
            <a:endParaRPr lang="fr-FR"/>
          </a:p>
        </p:txBody>
      </p:sp>
      <p:sp>
        <p:nvSpPr>
          <p:cNvPr id="9" name="Text 7"/>
          <p:cNvSpPr/>
          <p:nvPr/>
        </p:nvSpPr>
        <p:spPr>
          <a:xfrm>
            <a:off x="3147020" y="2019201"/>
            <a:ext cx="1661220"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9A4F12"/>
                </a:solidFill>
                <a:latin typeface="Domine" pitchFamily="34" charset="0"/>
                <a:ea typeface="Domine" pitchFamily="34" charset="-122"/>
                <a:cs typeface="Domine" pitchFamily="34" charset="-120"/>
              </a:rPr>
              <a:t>2</a:t>
            </a:r>
            <a:endParaRPr lang="en-US" sz="3200" dirty="0"/>
          </a:p>
        </p:txBody>
      </p:sp>
      <p:sp>
        <p:nvSpPr>
          <p:cNvPr id="10" name="Text 8"/>
          <p:cNvSpPr/>
          <p:nvPr/>
        </p:nvSpPr>
        <p:spPr>
          <a:xfrm>
            <a:off x="3147020" y="2501801"/>
            <a:ext cx="16612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3A2F"/>
                </a:solidFill>
                <a:latin typeface="Domine" pitchFamily="34" charset="0"/>
                <a:ea typeface="Domine" pitchFamily="34" charset="-122"/>
                <a:cs typeface="Domine" pitchFamily="34" charset="-120"/>
              </a:rPr>
              <a:t>Nutrition</a:t>
            </a:r>
            <a:endParaRPr lang="en-US" sz="1500" dirty="0"/>
          </a:p>
        </p:txBody>
      </p:sp>
      <p:sp>
        <p:nvSpPr>
          <p:cNvPr id="11" name="Text 9"/>
          <p:cNvSpPr/>
          <p:nvPr/>
        </p:nvSpPr>
        <p:spPr>
          <a:xfrm>
            <a:off x="3147020" y="2806601"/>
            <a:ext cx="166122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Fourrages, concentrés, minéraux : équilibre énergie, azote, fibres.</a:t>
            </a:r>
            <a:endParaRPr lang="en-US" sz="1200" dirty="0"/>
          </a:p>
        </p:txBody>
      </p:sp>
      <p:sp>
        <p:nvSpPr>
          <p:cNvPr id="12" name="Shape 10"/>
          <p:cNvSpPr/>
          <p:nvPr/>
        </p:nvSpPr>
        <p:spPr>
          <a:xfrm>
            <a:off x="5106690" y="1835051"/>
            <a:ext cx="1978620" cy="1795661"/>
          </a:xfrm>
          <a:prstGeom prst="roundRect">
            <a:avLst>
              <a:gd name="adj" fmla="val 5304"/>
            </a:avLst>
          </a:prstGeom>
          <a:solidFill>
            <a:srgbClr val="FBF9F3"/>
          </a:solidFill>
          <a:ln w="12700">
            <a:solidFill>
              <a:srgbClr val="D8CEB6"/>
            </a:solidFill>
            <a:prstDash val="solid"/>
          </a:ln>
        </p:spPr>
        <p:txBody>
          <a:bodyPr/>
          <a:lstStyle/>
          <a:p>
            <a:endParaRPr lang="fr-FR"/>
          </a:p>
        </p:txBody>
      </p:sp>
      <p:sp>
        <p:nvSpPr>
          <p:cNvPr id="13" name="Text 11"/>
          <p:cNvSpPr/>
          <p:nvPr/>
        </p:nvSpPr>
        <p:spPr>
          <a:xfrm>
            <a:off x="5290840" y="2019201"/>
            <a:ext cx="1661120"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9A4F12"/>
                </a:solidFill>
                <a:latin typeface="Domine" pitchFamily="34" charset="0"/>
                <a:ea typeface="Domine" pitchFamily="34" charset="-122"/>
                <a:cs typeface="Domine" pitchFamily="34" charset="-120"/>
              </a:rPr>
              <a:t>3</a:t>
            </a:r>
            <a:endParaRPr lang="en-US" sz="3200" dirty="0"/>
          </a:p>
        </p:txBody>
      </p:sp>
      <p:sp>
        <p:nvSpPr>
          <p:cNvPr id="14" name="Text 12"/>
          <p:cNvSpPr/>
          <p:nvPr/>
        </p:nvSpPr>
        <p:spPr>
          <a:xfrm>
            <a:off x="5290840" y="2501801"/>
            <a:ext cx="16611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3A2F"/>
                </a:solidFill>
                <a:latin typeface="Domine" pitchFamily="34" charset="0"/>
                <a:ea typeface="Domine" pitchFamily="34" charset="-122"/>
                <a:cs typeface="Domine" pitchFamily="34" charset="-120"/>
              </a:rPr>
              <a:t>Physique</a:t>
            </a:r>
            <a:endParaRPr lang="en-US" sz="1500" dirty="0"/>
          </a:p>
        </p:txBody>
      </p:sp>
      <p:sp>
        <p:nvSpPr>
          <p:cNvPr id="15" name="Text 13"/>
          <p:cNvSpPr/>
          <p:nvPr/>
        </p:nvSpPr>
        <p:spPr>
          <a:xfrm>
            <a:off x="5290840" y="2806601"/>
            <a:ext cx="166112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Sols, déplacements, aplombs, bâtiments.</a:t>
            </a:r>
            <a:endParaRPr lang="en-US" sz="1200" dirty="0"/>
          </a:p>
        </p:txBody>
      </p:sp>
      <p:sp>
        <p:nvSpPr>
          <p:cNvPr id="16" name="Shape 14"/>
          <p:cNvSpPr/>
          <p:nvPr/>
        </p:nvSpPr>
        <p:spPr>
          <a:xfrm>
            <a:off x="7250410" y="1835051"/>
            <a:ext cx="1978720" cy="1795661"/>
          </a:xfrm>
          <a:prstGeom prst="roundRect">
            <a:avLst>
              <a:gd name="adj" fmla="val 5304"/>
            </a:avLst>
          </a:prstGeom>
          <a:solidFill>
            <a:srgbClr val="FBF9F3"/>
          </a:solidFill>
          <a:ln w="12700">
            <a:solidFill>
              <a:srgbClr val="D8CEB6"/>
            </a:solidFill>
            <a:prstDash val="solid"/>
          </a:ln>
        </p:spPr>
        <p:txBody>
          <a:bodyPr/>
          <a:lstStyle/>
          <a:p>
            <a:endParaRPr lang="fr-FR"/>
          </a:p>
        </p:txBody>
      </p:sp>
      <p:sp>
        <p:nvSpPr>
          <p:cNvPr id="17" name="Text 15"/>
          <p:cNvSpPr/>
          <p:nvPr/>
        </p:nvSpPr>
        <p:spPr>
          <a:xfrm>
            <a:off x="7434560" y="2019201"/>
            <a:ext cx="1661220"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9A4F12"/>
                </a:solidFill>
                <a:latin typeface="Domine" pitchFamily="34" charset="0"/>
                <a:ea typeface="Domine" pitchFamily="34" charset="-122"/>
                <a:cs typeface="Domine" pitchFamily="34" charset="-120"/>
              </a:rPr>
              <a:t>4</a:t>
            </a:r>
            <a:endParaRPr lang="en-US" sz="3200" dirty="0"/>
          </a:p>
        </p:txBody>
      </p:sp>
      <p:sp>
        <p:nvSpPr>
          <p:cNvPr id="18" name="Text 16"/>
          <p:cNvSpPr/>
          <p:nvPr/>
        </p:nvSpPr>
        <p:spPr>
          <a:xfrm>
            <a:off x="7434560" y="2501801"/>
            <a:ext cx="16612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3A2F"/>
                </a:solidFill>
                <a:latin typeface="Domine" pitchFamily="34" charset="0"/>
                <a:ea typeface="Domine" pitchFamily="34" charset="-122"/>
                <a:cs typeface="Domine" pitchFamily="34" charset="-120"/>
              </a:rPr>
              <a:t>Environnement</a:t>
            </a:r>
            <a:endParaRPr lang="en-US" sz="1500" dirty="0"/>
          </a:p>
        </p:txBody>
      </p:sp>
      <p:sp>
        <p:nvSpPr>
          <p:cNvPr id="19" name="Text 17"/>
          <p:cNvSpPr/>
          <p:nvPr/>
        </p:nvSpPr>
        <p:spPr>
          <a:xfrm>
            <a:off x="7434560" y="2806601"/>
            <a:ext cx="166122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Air, ambiance, pression microbienne et parasitaire.</a:t>
            </a:r>
            <a:endParaRPr lang="en-US" sz="1200" dirty="0"/>
          </a:p>
        </p:txBody>
      </p:sp>
      <p:sp>
        <p:nvSpPr>
          <p:cNvPr id="20" name="Shape 18"/>
          <p:cNvSpPr/>
          <p:nvPr/>
        </p:nvSpPr>
        <p:spPr>
          <a:xfrm>
            <a:off x="9394230" y="1835051"/>
            <a:ext cx="1978620" cy="1795661"/>
          </a:xfrm>
          <a:prstGeom prst="roundRect">
            <a:avLst>
              <a:gd name="adj" fmla="val 5304"/>
            </a:avLst>
          </a:prstGeom>
          <a:solidFill>
            <a:srgbClr val="FBF9F3"/>
          </a:solidFill>
          <a:ln w="12700">
            <a:solidFill>
              <a:srgbClr val="D8CEB6"/>
            </a:solidFill>
            <a:prstDash val="solid"/>
          </a:ln>
        </p:spPr>
        <p:txBody>
          <a:bodyPr/>
          <a:lstStyle/>
          <a:p>
            <a:endParaRPr lang="fr-FR"/>
          </a:p>
        </p:txBody>
      </p:sp>
      <p:sp>
        <p:nvSpPr>
          <p:cNvPr id="21" name="Text 19"/>
          <p:cNvSpPr/>
          <p:nvPr/>
        </p:nvSpPr>
        <p:spPr>
          <a:xfrm>
            <a:off x="9578380" y="2019201"/>
            <a:ext cx="1661120"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9A4F12"/>
                </a:solidFill>
                <a:latin typeface="Domine" pitchFamily="34" charset="0"/>
                <a:ea typeface="Domine" pitchFamily="34" charset="-122"/>
                <a:cs typeface="Domine" pitchFamily="34" charset="-120"/>
              </a:rPr>
              <a:t>5</a:t>
            </a:r>
            <a:endParaRPr lang="en-US" sz="3200" dirty="0"/>
          </a:p>
        </p:txBody>
      </p:sp>
      <p:sp>
        <p:nvSpPr>
          <p:cNvPr id="22" name="Text 20"/>
          <p:cNvSpPr/>
          <p:nvPr/>
        </p:nvSpPr>
        <p:spPr>
          <a:xfrm>
            <a:off x="9578380" y="2501801"/>
            <a:ext cx="16611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3A2F"/>
                </a:solidFill>
                <a:latin typeface="Domine" pitchFamily="34" charset="0"/>
                <a:ea typeface="Domine" pitchFamily="34" charset="-122"/>
                <a:cs typeface="Domine" pitchFamily="34" charset="-120"/>
              </a:rPr>
              <a:t>Bien-être</a:t>
            </a:r>
            <a:endParaRPr lang="en-US" sz="1500" dirty="0"/>
          </a:p>
        </p:txBody>
      </p:sp>
      <p:sp>
        <p:nvSpPr>
          <p:cNvPr id="23" name="Text 21"/>
          <p:cNvSpPr/>
          <p:nvPr/>
        </p:nvSpPr>
        <p:spPr>
          <a:xfrm>
            <a:off x="9578380" y="2806601"/>
            <a:ext cx="166112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Confort, repos, calme, conduite du troupeau.</a:t>
            </a:r>
            <a:endParaRPr lang="en-US" sz="1200" dirty="0"/>
          </a:p>
        </p:txBody>
      </p:sp>
      <p:sp>
        <p:nvSpPr>
          <p:cNvPr id="24" name="Shape 22"/>
          <p:cNvSpPr/>
          <p:nvPr/>
        </p:nvSpPr>
        <p:spPr>
          <a:xfrm>
            <a:off x="812800" y="3891062"/>
            <a:ext cx="10566400" cy="711200"/>
          </a:xfrm>
          <a:prstGeom prst="roundRect">
            <a:avLst>
              <a:gd name="adj" fmla="val 14286"/>
            </a:avLst>
          </a:prstGeom>
          <a:solidFill>
            <a:srgbClr val="ECE5D3"/>
          </a:solidFill>
          <a:ln/>
        </p:spPr>
        <p:txBody>
          <a:bodyPr/>
          <a:lstStyle/>
          <a:p>
            <a:endParaRPr lang="fr-FR"/>
          </a:p>
        </p:txBody>
      </p:sp>
      <p:pic>
        <p:nvPicPr>
          <p:cNvPr id="25" name="Image 0" descr="Lightbulb"/>
          <p:cNvPicPr>
            <a:picLocks noChangeAspect="1"/>
          </p:cNvPicPr>
          <p:nvPr/>
        </p:nvPicPr>
        <p:blipFill>
          <a:blip r:embed="rId3"/>
          <a:srcRect/>
          <a:stretch/>
        </p:blipFill>
        <p:spPr>
          <a:xfrm>
            <a:off x="1016000" y="4094262"/>
            <a:ext cx="304800" cy="304800"/>
          </a:xfrm>
          <a:prstGeom prst="rect">
            <a:avLst/>
          </a:prstGeom>
        </p:spPr>
      </p:pic>
      <p:sp>
        <p:nvSpPr>
          <p:cNvPr id="26" name="Text 23"/>
          <p:cNvSpPr/>
          <p:nvPr/>
        </p:nvSpPr>
        <p:spPr>
          <a:xfrm>
            <a:off x="1473200" y="4113312"/>
            <a:ext cx="8842041"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E3A2F"/>
                </a:solidFill>
                <a:latin typeface="Nunito Sans" pitchFamily="34" charset="0"/>
                <a:ea typeface="Nunito Sans" pitchFamily="34" charset="-122"/>
                <a:cs typeface="Nunito Sans" pitchFamily="34" charset="-120"/>
              </a:rPr>
              <a:t>Vie du sol → vie végétale → vie animale :</a:t>
            </a:r>
            <a:r>
              <a:rPr lang="en-US" sz="1500" dirty="0">
                <a:solidFill>
                  <a:srgbClr val="1E3A2F"/>
                </a:solidFill>
                <a:latin typeface="Nunito Sans" pitchFamily="34" charset="0"/>
                <a:ea typeface="Nunito Sans" pitchFamily="34" charset="-122"/>
                <a:cs typeface="Nunito Sans" pitchFamily="34" charset="-120"/>
              </a:rPr>
              <a:t> ce qui manque au sol manque au fourrage, puis à la vache.</a:t>
            </a:r>
            <a:endParaRPr lang="en-US" sz="1500" dirty="0"/>
          </a:p>
        </p:txBody>
      </p:sp>
      <p:sp>
        <p:nvSpPr>
          <p:cNvPr id="27" name="Text 2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66"/>
                </a:solidFill>
                <a:latin typeface="Nunito Sans" pitchFamily="34" charset="0"/>
                <a:ea typeface="Nunito Sans" pitchFamily="34" charset="-122"/>
                <a:cs typeface="Nunito Sans" pitchFamily="34" charset="-120"/>
              </a:rPr>
              <a:t>EARL </a:t>
            </a:r>
            <a:r>
              <a:rPr lang="en-US" sz="1200" dirty="0" err="1">
                <a:solidFill>
                  <a:srgbClr val="6B7266"/>
                </a:solidFill>
                <a:latin typeface="Nunito Sans" pitchFamily="34" charset="0"/>
                <a:ea typeface="Nunito Sans" pitchFamily="34" charset="-122"/>
                <a:cs typeface="Nunito Sans" pitchFamily="34" charset="-120"/>
              </a:rPr>
              <a:t>Belvache</a:t>
            </a:r>
            <a:r>
              <a:rPr lang="en-US" sz="1200" dirty="0">
                <a:solidFill>
                  <a:srgbClr val="6B7266"/>
                </a:solidFill>
                <a:latin typeface="Nunito Sans" pitchFamily="34" charset="0"/>
                <a:ea typeface="Nunito Sans" pitchFamily="34" charset="-122"/>
                <a:cs typeface="Nunito Sans" pitchFamily="34" charset="-120"/>
              </a:rPr>
              <a:t> · approche globale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2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4F12"/>
                </a:solidFill>
                <a:latin typeface="Nunito Sans" pitchFamily="34" charset="0"/>
                <a:ea typeface="Nunito Sans" pitchFamily="34" charset="-122"/>
                <a:cs typeface="Nunito Sans" pitchFamily="34" charset="-120"/>
              </a:rPr>
              <a:t>LA MÉTHODE</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E3A2F"/>
                </a:solidFill>
                <a:latin typeface="Domine" pitchFamily="34" charset="0"/>
                <a:ea typeface="Domine" pitchFamily="34" charset="-122"/>
                <a:cs typeface="Domine" pitchFamily="34" charset="-120"/>
              </a:rPr>
              <a:t>La démarche en six étapes</a:t>
            </a:r>
            <a:endParaRPr lang="en-US" sz="3200" dirty="0"/>
          </a:p>
        </p:txBody>
      </p:sp>
      <p:sp>
        <p:nvSpPr>
          <p:cNvPr id="4" name="Shape 2"/>
          <p:cNvSpPr/>
          <p:nvPr/>
        </p:nvSpPr>
        <p:spPr>
          <a:xfrm>
            <a:off x="819150" y="1835051"/>
            <a:ext cx="3407767" cy="1440061"/>
          </a:xfrm>
          <a:prstGeom prst="roundRect">
            <a:avLst>
              <a:gd name="adj" fmla="val 6614"/>
            </a:avLst>
          </a:prstGeom>
          <a:solidFill>
            <a:srgbClr val="FBF9F3"/>
          </a:solidFill>
          <a:ln w="12700">
            <a:solidFill>
              <a:srgbClr val="D8CEB6"/>
            </a:solidFill>
            <a:prstDash val="solid"/>
          </a:ln>
        </p:spPr>
        <p:txBody>
          <a:bodyPr/>
          <a:lstStyle/>
          <a:p>
            <a:endParaRPr lang="fr-FR"/>
          </a:p>
        </p:txBody>
      </p:sp>
      <p:sp>
        <p:nvSpPr>
          <p:cNvPr id="5" name="Text 3"/>
          <p:cNvSpPr/>
          <p:nvPr/>
        </p:nvSpPr>
        <p:spPr>
          <a:xfrm>
            <a:off x="1028700" y="2044601"/>
            <a:ext cx="307832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A4F12"/>
                </a:solidFill>
                <a:latin typeface="Nunito Sans" pitchFamily="34" charset="0"/>
                <a:ea typeface="Nunito Sans" pitchFamily="34" charset="-122"/>
                <a:cs typeface="Nunito Sans" pitchFamily="34" charset="-120"/>
              </a:rPr>
              <a:t>ÉTAPE 1</a:t>
            </a:r>
            <a:endParaRPr lang="en-US" sz="1200" dirty="0"/>
          </a:p>
        </p:txBody>
      </p:sp>
      <p:sp>
        <p:nvSpPr>
          <p:cNvPr id="6" name="Text 4"/>
          <p:cNvSpPr/>
          <p:nvPr/>
        </p:nvSpPr>
        <p:spPr>
          <a:xfrm>
            <a:off x="1028700" y="2334121"/>
            <a:ext cx="307832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3A2F"/>
                </a:solidFill>
                <a:latin typeface="Domine" pitchFamily="34" charset="0"/>
                <a:ea typeface="Domine" pitchFamily="34" charset="-122"/>
                <a:cs typeface="Domine" pitchFamily="34" charset="-120"/>
              </a:rPr>
              <a:t>Collecter</a:t>
            </a:r>
            <a:endParaRPr lang="en-US" sz="1500" dirty="0"/>
          </a:p>
        </p:txBody>
      </p:sp>
      <p:sp>
        <p:nvSpPr>
          <p:cNvPr id="7" name="Text 5"/>
          <p:cNvSpPr/>
          <p:nvPr/>
        </p:nvSpPr>
        <p:spPr>
          <a:xfrm>
            <a:off x="1028700" y="2638921"/>
            <a:ext cx="307832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Entretien, document de pré-visite, bilan sanitaire GDS.</a:t>
            </a:r>
            <a:endParaRPr lang="en-US" sz="1200" dirty="0"/>
          </a:p>
        </p:txBody>
      </p:sp>
      <p:sp>
        <p:nvSpPr>
          <p:cNvPr id="8" name="Shape 6"/>
          <p:cNvSpPr/>
          <p:nvPr/>
        </p:nvSpPr>
        <p:spPr>
          <a:xfrm>
            <a:off x="4392017" y="1835051"/>
            <a:ext cx="3407866" cy="1440061"/>
          </a:xfrm>
          <a:prstGeom prst="roundRect">
            <a:avLst>
              <a:gd name="adj" fmla="val 6614"/>
            </a:avLst>
          </a:prstGeom>
          <a:solidFill>
            <a:srgbClr val="FBF9F3"/>
          </a:solidFill>
          <a:ln w="12700">
            <a:solidFill>
              <a:srgbClr val="D8CEB6"/>
            </a:solidFill>
            <a:prstDash val="solid"/>
          </a:ln>
        </p:spPr>
        <p:txBody>
          <a:bodyPr/>
          <a:lstStyle/>
          <a:p>
            <a:endParaRPr lang="fr-FR"/>
          </a:p>
        </p:txBody>
      </p:sp>
      <p:sp>
        <p:nvSpPr>
          <p:cNvPr id="9" name="Text 7"/>
          <p:cNvSpPr/>
          <p:nvPr/>
        </p:nvSpPr>
        <p:spPr>
          <a:xfrm>
            <a:off x="4601567" y="2044601"/>
            <a:ext cx="307842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A4F12"/>
                </a:solidFill>
                <a:latin typeface="Nunito Sans" pitchFamily="34" charset="0"/>
                <a:ea typeface="Nunito Sans" pitchFamily="34" charset="-122"/>
                <a:cs typeface="Nunito Sans" pitchFamily="34" charset="-120"/>
              </a:rPr>
              <a:t>ÉTAPE 2</a:t>
            </a:r>
            <a:endParaRPr lang="en-US" sz="1200" dirty="0"/>
          </a:p>
        </p:txBody>
      </p:sp>
      <p:sp>
        <p:nvSpPr>
          <p:cNvPr id="10" name="Text 8"/>
          <p:cNvSpPr/>
          <p:nvPr/>
        </p:nvSpPr>
        <p:spPr>
          <a:xfrm>
            <a:off x="4601567" y="2334121"/>
            <a:ext cx="307842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3A2F"/>
                </a:solidFill>
                <a:latin typeface="Domine" pitchFamily="34" charset="0"/>
                <a:ea typeface="Domine" pitchFamily="34" charset="-122"/>
                <a:cs typeface="Domine" pitchFamily="34" charset="-120"/>
              </a:rPr>
              <a:t>Analyser les fourrages</a:t>
            </a:r>
            <a:endParaRPr lang="en-US" sz="1500" dirty="0"/>
          </a:p>
        </p:txBody>
      </p:sp>
      <p:sp>
        <p:nvSpPr>
          <p:cNvPr id="11" name="Text 9"/>
          <p:cNvSpPr/>
          <p:nvPr/>
        </p:nvSpPr>
        <p:spPr>
          <a:xfrm>
            <a:off x="4601567" y="2638921"/>
            <a:ext cx="307842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Valeur alimentaire, minéraux, mycotoxines, eau, étiquette du minéral.</a:t>
            </a:r>
            <a:endParaRPr lang="en-US" sz="1200" dirty="0"/>
          </a:p>
        </p:txBody>
      </p:sp>
      <p:sp>
        <p:nvSpPr>
          <p:cNvPr id="12" name="Shape 10"/>
          <p:cNvSpPr/>
          <p:nvPr/>
        </p:nvSpPr>
        <p:spPr>
          <a:xfrm>
            <a:off x="7964984" y="1835051"/>
            <a:ext cx="3407866" cy="1440061"/>
          </a:xfrm>
          <a:prstGeom prst="roundRect">
            <a:avLst>
              <a:gd name="adj" fmla="val 6614"/>
            </a:avLst>
          </a:prstGeom>
          <a:solidFill>
            <a:srgbClr val="FBF9F3"/>
          </a:solidFill>
          <a:ln w="12700">
            <a:solidFill>
              <a:srgbClr val="D8CEB6"/>
            </a:solidFill>
            <a:prstDash val="solid"/>
          </a:ln>
        </p:spPr>
        <p:txBody>
          <a:bodyPr/>
          <a:lstStyle/>
          <a:p>
            <a:endParaRPr lang="fr-FR"/>
          </a:p>
        </p:txBody>
      </p:sp>
      <p:sp>
        <p:nvSpPr>
          <p:cNvPr id="13" name="Text 11"/>
          <p:cNvSpPr/>
          <p:nvPr/>
        </p:nvSpPr>
        <p:spPr>
          <a:xfrm>
            <a:off x="8174534" y="2044601"/>
            <a:ext cx="307842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A4F12"/>
                </a:solidFill>
                <a:latin typeface="Nunito Sans" pitchFamily="34" charset="0"/>
                <a:ea typeface="Nunito Sans" pitchFamily="34" charset="-122"/>
                <a:cs typeface="Nunito Sans" pitchFamily="34" charset="-120"/>
              </a:rPr>
              <a:t>ÉTAPE 3</a:t>
            </a:r>
            <a:endParaRPr lang="en-US" sz="1200" dirty="0"/>
          </a:p>
        </p:txBody>
      </p:sp>
      <p:sp>
        <p:nvSpPr>
          <p:cNvPr id="14" name="Text 12"/>
          <p:cNvSpPr/>
          <p:nvPr/>
        </p:nvSpPr>
        <p:spPr>
          <a:xfrm>
            <a:off x="8174534" y="2334121"/>
            <a:ext cx="307842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3A2F"/>
                </a:solidFill>
                <a:latin typeface="Domine" pitchFamily="34" charset="0"/>
                <a:ea typeface="Domine" pitchFamily="34" charset="-122"/>
                <a:cs typeface="Domine" pitchFamily="34" charset="-120"/>
              </a:rPr>
              <a:t>Mesurer les animaux</a:t>
            </a:r>
            <a:endParaRPr lang="en-US" sz="1500" dirty="0"/>
          </a:p>
        </p:txBody>
      </p:sp>
      <p:sp>
        <p:nvSpPr>
          <p:cNvPr id="15" name="Text 13"/>
          <p:cNvSpPr/>
          <p:nvPr/>
        </p:nvSpPr>
        <p:spPr>
          <a:xfrm>
            <a:off x="8174534" y="2638921"/>
            <a:ext cx="307842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Mesures terrain (bouses, urine, sang) et profil oligo-éléments.</a:t>
            </a:r>
            <a:endParaRPr lang="en-US" sz="1200" dirty="0"/>
          </a:p>
        </p:txBody>
      </p:sp>
      <p:sp>
        <p:nvSpPr>
          <p:cNvPr id="16" name="Shape 14"/>
          <p:cNvSpPr/>
          <p:nvPr/>
        </p:nvSpPr>
        <p:spPr>
          <a:xfrm>
            <a:off x="819150" y="3440212"/>
            <a:ext cx="3407767" cy="1440061"/>
          </a:xfrm>
          <a:prstGeom prst="roundRect">
            <a:avLst>
              <a:gd name="adj" fmla="val 6614"/>
            </a:avLst>
          </a:prstGeom>
          <a:solidFill>
            <a:srgbClr val="FBF9F3"/>
          </a:solidFill>
          <a:ln w="12700">
            <a:solidFill>
              <a:srgbClr val="D8CEB6"/>
            </a:solidFill>
            <a:prstDash val="solid"/>
          </a:ln>
        </p:spPr>
        <p:txBody>
          <a:bodyPr/>
          <a:lstStyle/>
          <a:p>
            <a:endParaRPr lang="fr-FR"/>
          </a:p>
        </p:txBody>
      </p:sp>
      <p:sp>
        <p:nvSpPr>
          <p:cNvPr id="17" name="Text 15"/>
          <p:cNvSpPr/>
          <p:nvPr/>
        </p:nvSpPr>
        <p:spPr>
          <a:xfrm>
            <a:off x="1028700" y="3649762"/>
            <a:ext cx="307832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A4F12"/>
                </a:solidFill>
                <a:latin typeface="Nunito Sans" pitchFamily="34" charset="0"/>
                <a:ea typeface="Nunito Sans" pitchFamily="34" charset="-122"/>
                <a:cs typeface="Nunito Sans" pitchFamily="34" charset="-120"/>
              </a:rPr>
              <a:t>ÉTAPE 4</a:t>
            </a:r>
            <a:endParaRPr lang="en-US" sz="1200" dirty="0"/>
          </a:p>
        </p:txBody>
      </p:sp>
      <p:sp>
        <p:nvSpPr>
          <p:cNvPr id="18" name="Text 16"/>
          <p:cNvSpPr/>
          <p:nvPr/>
        </p:nvSpPr>
        <p:spPr>
          <a:xfrm>
            <a:off x="1028700" y="3939282"/>
            <a:ext cx="307832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3A2F"/>
                </a:solidFill>
                <a:latin typeface="Domine" pitchFamily="34" charset="0"/>
                <a:ea typeface="Domine" pitchFamily="34" charset="-122"/>
                <a:cs typeface="Domine" pitchFamily="34" charset="-120"/>
              </a:rPr>
              <a:t>Croiser</a:t>
            </a:r>
            <a:endParaRPr lang="en-US" sz="1500" dirty="0"/>
          </a:p>
        </p:txBody>
      </p:sp>
      <p:sp>
        <p:nvSpPr>
          <p:cNvPr id="19" name="Text 17"/>
          <p:cNvSpPr/>
          <p:nvPr/>
        </p:nvSpPr>
        <p:spPr>
          <a:xfrm>
            <a:off x="1028700" y="4244082"/>
            <a:ext cx="307832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Relier troubles, analyses et mesures pour trouver les causes communes.</a:t>
            </a:r>
            <a:endParaRPr lang="en-US" sz="1200" dirty="0"/>
          </a:p>
        </p:txBody>
      </p:sp>
      <p:sp>
        <p:nvSpPr>
          <p:cNvPr id="20" name="Shape 18"/>
          <p:cNvSpPr/>
          <p:nvPr/>
        </p:nvSpPr>
        <p:spPr>
          <a:xfrm>
            <a:off x="4392017" y="3440212"/>
            <a:ext cx="3407866" cy="1440061"/>
          </a:xfrm>
          <a:prstGeom prst="roundRect">
            <a:avLst>
              <a:gd name="adj" fmla="val 6614"/>
            </a:avLst>
          </a:prstGeom>
          <a:solidFill>
            <a:srgbClr val="FBF9F3"/>
          </a:solidFill>
          <a:ln w="12700">
            <a:solidFill>
              <a:srgbClr val="D8CEB6"/>
            </a:solidFill>
            <a:prstDash val="solid"/>
          </a:ln>
        </p:spPr>
        <p:txBody>
          <a:bodyPr/>
          <a:lstStyle/>
          <a:p>
            <a:endParaRPr lang="fr-FR"/>
          </a:p>
        </p:txBody>
      </p:sp>
      <p:sp>
        <p:nvSpPr>
          <p:cNvPr id="21" name="Text 19"/>
          <p:cNvSpPr/>
          <p:nvPr/>
        </p:nvSpPr>
        <p:spPr>
          <a:xfrm>
            <a:off x="4601567" y="3649762"/>
            <a:ext cx="307842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A4F12"/>
                </a:solidFill>
                <a:latin typeface="Nunito Sans" pitchFamily="34" charset="0"/>
                <a:ea typeface="Nunito Sans" pitchFamily="34" charset="-122"/>
                <a:cs typeface="Nunito Sans" pitchFamily="34" charset="-120"/>
              </a:rPr>
              <a:t>ÉTAPE 5</a:t>
            </a:r>
            <a:endParaRPr lang="en-US" sz="1200" dirty="0"/>
          </a:p>
        </p:txBody>
      </p:sp>
      <p:sp>
        <p:nvSpPr>
          <p:cNvPr id="22" name="Text 20"/>
          <p:cNvSpPr/>
          <p:nvPr/>
        </p:nvSpPr>
        <p:spPr>
          <a:xfrm>
            <a:off x="4601567" y="3939282"/>
            <a:ext cx="307842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3A2F"/>
                </a:solidFill>
                <a:latin typeface="Domine" pitchFamily="34" charset="0"/>
                <a:ea typeface="Domine" pitchFamily="34" charset="-122"/>
                <a:cs typeface="Domine" pitchFamily="34" charset="-120"/>
              </a:rPr>
              <a:t>Agir</a:t>
            </a:r>
            <a:endParaRPr lang="en-US" sz="1500" dirty="0"/>
          </a:p>
        </p:txBody>
      </p:sp>
      <p:sp>
        <p:nvSpPr>
          <p:cNvPr id="23" name="Text 21"/>
          <p:cNvSpPr/>
          <p:nvPr/>
        </p:nvSpPr>
        <p:spPr>
          <a:xfrm>
            <a:off x="4601567" y="4244082"/>
            <a:ext cx="307842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Plan d'action priorisé et rations recalculées.</a:t>
            </a:r>
            <a:endParaRPr lang="en-US" sz="1200" dirty="0"/>
          </a:p>
        </p:txBody>
      </p:sp>
      <p:sp>
        <p:nvSpPr>
          <p:cNvPr id="24" name="Shape 22"/>
          <p:cNvSpPr/>
          <p:nvPr/>
        </p:nvSpPr>
        <p:spPr>
          <a:xfrm>
            <a:off x="7964984" y="3440212"/>
            <a:ext cx="3407866" cy="1440061"/>
          </a:xfrm>
          <a:prstGeom prst="roundRect">
            <a:avLst>
              <a:gd name="adj" fmla="val 6614"/>
            </a:avLst>
          </a:prstGeom>
          <a:solidFill>
            <a:srgbClr val="FBF9F3"/>
          </a:solidFill>
          <a:ln w="12700">
            <a:solidFill>
              <a:srgbClr val="D8CEB6"/>
            </a:solidFill>
            <a:prstDash val="solid"/>
          </a:ln>
        </p:spPr>
        <p:txBody>
          <a:bodyPr/>
          <a:lstStyle/>
          <a:p>
            <a:endParaRPr lang="fr-FR"/>
          </a:p>
        </p:txBody>
      </p:sp>
      <p:sp>
        <p:nvSpPr>
          <p:cNvPr id="25" name="Text 23"/>
          <p:cNvSpPr/>
          <p:nvPr/>
        </p:nvSpPr>
        <p:spPr>
          <a:xfrm>
            <a:off x="8174534" y="3649762"/>
            <a:ext cx="307842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A4F12"/>
                </a:solidFill>
                <a:latin typeface="Nunito Sans" pitchFamily="34" charset="0"/>
                <a:ea typeface="Nunito Sans" pitchFamily="34" charset="-122"/>
                <a:cs typeface="Nunito Sans" pitchFamily="34" charset="-120"/>
              </a:rPr>
              <a:t>ÉTAPE 6</a:t>
            </a:r>
            <a:endParaRPr lang="en-US" sz="1200" dirty="0"/>
          </a:p>
        </p:txBody>
      </p:sp>
      <p:sp>
        <p:nvSpPr>
          <p:cNvPr id="26" name="Text 24"/>
          <p:cNvSpPr/>
          <p:nvPr/>
        </p:nvSpPr>
        <p:spPr>
          <a:xfrm>
            <a:off x="8174534" y="3939282"/>
            <a:ext cx="307842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3A2F"/>
                </a:solidFill>
                <a:latin typeface="Domine" pitchFamily="34" charset="0"/>
                <a:ea typeface="Domine" pitchFamily="34" charset="-122"/>
                <a:cs typeface="Domine" pitchFamily="34" charset="-120"/>
              </a:rPr>
              <a:t>Suivre</a:t>
            </a:r>
            <a:endParaRPr lang="en-US" sz="1500" dirty="0"/>
          </a:p>
        </p:txBody>
      </p:sp>
      <p:sp>
        <p:nvSpPr>
          <p:cNvPr id="27" name="Text 25"/>
          <p:cNvSpPr/>
          <p:nvPr/>
        </p:nvSpPr>
        <p:spPr>
          <a:xfrm>
            <a:off x="8174534" y="4244082"/>
            <a:ext cx="307842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Contrôles programmés pour vérifier que la correction fonctionne.</a:t>
            </a:r>
            <a:endParaRPr lang="en-US" sz="1200" dirty="0"/>
          </a:p>
        </p:txBody>
      </p:sp>
      <p:sp>
        <p:nvSpPr>
          <p:cNvPr id="28" name="Text 2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66"/>
                </a:solidFill>
                <a:latin typeface="Nunito Sans" pitchFamily="34" charset="0"/>
                <a:ea typeface="Nunito Sans" pitchFamily="34" charset="-122"/>
                <a:cs typeface="Nunito Sans" pitchFamily="34" charset="-120"/>
              </a:rPr>
              <a:t>EARL Forgeneuf · approche globale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2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4F12"/>
                </a:solidFill>
                <a:latin typeface="Nunito Sans" pitchFamily="34" charset="0"/>
                <a:ea typeface="Nunito Sans" pitchFamily="34" charset="-122"/>
                <a:cs typeface="Nunito Sans" pitchFamily="34" charset="-120"/>
              </a:rPr>
              <a:t>LE CAS BELVACHE</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E3A2F"/>
                </a:solidFill>
                <a:latin typeface="Domine" pitchFamily="34" charset="0"/>
                <a:ea typeface="Domine" pitchFamily="34" charset="-122"/>
                <a:cs typeface="Domine" pitchFamily="34" charset="-120"/>
              </a:rPr>
              <a:t>Un troupeau allaitant en Dordogne</a:t>
            </a:r>
            <a:endParaRPr lang="en-US" sz="3200" dirty="0"/>
          </a:p>
        </p:txBody>
      </p:sp>
      <p:sp>
        <p:nvSpPr>
          <p:cNvPr id="4" name="Shape 2"/>
          <p:cNvSpPr/>
          <p:nvPr/>
        </p:nvSpPr>
        <p:spPr>
          <a:xfrm>
            <a:off x="819150" y="1835051"/>
            <a:ext cx="2324100" cy="1107380"/>
          </a:xfrm>
          <a:prstGeom prst="roundRect">
            <a:avLst>
              <a:gd name="adj" fmla="val 8601"/>
            </a:avLst>
          </a:prstGeom>
          <a:solidFill>
            <a:srgbClr val="FBF9F3"/>
          </a:solidFill>
          <a:ln w="12700">
            <a:solidFill>
              <a:srgbClr val="D8CEB6"/>
            </a:solidFill>
            <a:prstDash val="solid"/>
          </a:ln>
        </p:spPr>
        <p:txBody>
          <a:bodyPr/>
          <a:lstStyle/>
          <a:p>
            <a:endParaRPr lang="fr-FR"/>
          </a:p>
        </p:txBody>
      </p:sp>
      <p:sp>
        <p:nvSpPr>
          <p:cNvPr id="5" name="Text 3"/>
          <p:cNvSpPr/>
          <p:nvPr/>
        </p:nvSpPr>
        <p:spPr>
          <a:xfrm>
            <a:off x="1003300" y="2019201"/>
            <a:ext cx="2014474"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9A4F12"/>
                </a:solidFill>
                <a:latin typeface="Domine" pitchFamily="34" charset="0"/>
                <a:ea typeface="Domine" pitchFamily="34" charset="-122"/>
                <a:cs typeface="Domine" pitchFamily="34" charset="-120"/>
              </a:rPr>
              <a:t>103</a:t>
            </a:r>
            <a:endParaRPr lang="en-US" sz="3200" dirty="0"/>
          </a:p>
        </p:txBody>
      </p:sp>
      <p:sp>
        <p:nvSpPr>
          <p:cNvPr id="6" name="Text 4"/>
          <p:cNvSpPr/>
          <p:nvPr/>
        </p:nvSpPr>
        <p:spPr>
          <a:xfrm>
            <a:off x="1003300" y="2491581"/>
            <a:ext cx="201447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E3A2F"/>
                </a:solidFill>
                <a:latin typeface="Nunito Sans" pitchFamily="34" charset="0"/>
                <a:ea typeface="Nunito Sans" pitchFamily="34" charset="-122"/>
                <a:cs typeface="Nunito Sans" pitchFamily="34" charset="-120"/>
              </a:rPr>
              <a:t>vêlages déclarés</a:t>
            </a:r>
            <a:endParaRPr lang="en-US" sz="1500" dirty="0"/>
          </a:p>
        </p:txBody>
      </p:sp>
      <p:sp>
        <p:nvSpPr>
          <p:cNvPr id="7" name="Shape 5"/>
          <p:cNvSpPr/>
          <p:nvPr/>
        </p:nvSpPr>
        <p:spPr>
          <a:xfrm>
            <a:off x="3308350" y="1835051"/>
            <a:ext cx="2324100" cy="1107380"/>
          </a:xfrm>
          <a:prstGeom prst="roundRect">
            <a:avLst>
              <a:gd name="adj" fmla="val 8601"/>
            </a:avLst>
          </a:prstGeom>
          <a:solidFill>
            <a:srgbClr val="FBF9F3"/>
          </a:solidFill>
          <a:ln w="12700">
            <a:solidFill>
              <a:srgbClr val="D8CEB6"/>
            </a:solidFill>
            <a:prstDash val="solid"/>
          </a:ln>
        </p:spPr>
        <p:txBody>
          <a:bodyPr/>
          <a:lstStyle/>
          <a:p>
            <a:endParaRPr lang="fr-FR"/>
          </a:p>
        </p:txBody>
      </p:sp>
      <p:sp>
        <p:nvSpPr>
          <p:cNvPr id="8" name="Text 6"/>
          <p:cNvSpPr/>
          <p:nvPr/>
        </p:nvSpPr>
        <p:spPr>
          <a:xfrm>
            <a:off x="3492500" y="2019201"/>
            <a:ext cx="2014474"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9A4F12"/>
                </a:solidFill>
                <a:latin typeface="Domine" pitchFamily="34" charset="0"/>
                <a:ea typeface="Domine" pitchFamily="34" charset="-122"/>
                <a:cs typeface="Domine" pitchFamily="34" charset="-120"/>
              </a:rPr>
              <a:t>220 ha</a:t>
            </a:r>
            <a:endParaRPr lang="en-US" sz="3200" dirty="0"/>
          </a:p>
        </p:txBody>
      </p:sp>
      <p:sp>
        <p:nvSpPr>
          <p:cNvPr id="9" name="Text 7"/>
          <p:cNvSpPr/>
          <p:nvPr/>
        </p:nvSpPr>
        <p:spPr>
          <a:xfrm>
            <a:off x="3492500" y="2491581"/>
            <a:ext cx="201447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E3A2F"/>
                </a:solidFill>
                <a:latin typeface="Nunito Sans" pitchFamily="34" charset="0"/>
                <a:ea typeface="Nunito Sans" pitchFamily="34" charset="-122"/>
                <a:cs typeface="Nunito Sans" pitchFamily="34" charset="-120"/>
              </a:rPr>
              <a:t>de SAU</a:t>
            </a:r>
            <a:endParaRPr lang="en-US" sz="1500" dirty="0"/>
          </a:p>
        </p:txBody>
      </p:sp>
      <p:sp>
        <p:nvSpPr>
          <p:cNvPr id="10" name="Shape 8"/>
          <p:cNvSpPr/>
          <p:nvPr/>
        </p:nvSpPr>
        <p:spPr>
          <a:xfrm>
            <a:off x="819150" y="3107531"/>
            <a:ext cx="2324100" cy="1107380"/>
          </a:xfrm>
          <a:prstGeom prst="roundRect">
            <a:avLst>
              <a:gd name="adj" fmla="val 8601"/>
            </a:avLst>
          </a:prstGeom>
          <a:solidFill>
            <a:srgbClr val="FBF9F3"/>
          </a:solidFill>
          <a:ln w="12700">
            <a:solidFill>
              <a:srgbClr val="D8CEB6"/>
            </a:solidFill>
            <a:prstDash val="solid"/>
          </a:ln>
        </p:spPr>
        <p:txBody>
          <a:bodyPr/>
          <a:lstStyle/>
          <a:p>
            <a:endParaRPr lang="fr-FR"/>
          </a:p>
        </p:txBody>
      </p:sp>
      <p:sp>
        <p:nvSpPr>
          <p:cNvPr id="11" name="Text 9"/>
          <p:cNvSpPr/>
          <p:nvPr/>
        </p:nvSpPr>
        <p:spPr>
          <a:xfrm>
            <a:off x="1003300" y="3291681"/>
            <a:ext cx="2014474"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9A4F12"/>
                </a:solidFill>
                <a:latin typeface="Domine" pitchFamily="34" charset="0"/>
                <a:ea typeface="Domine" pitchFamily="34" charset="-122"/>
                <a:cs typeface="Domine" pitchFamily="34" charset="-120"/>
              </a:rPr>
              <a:t>170 ha</a:t>
            </a:r>
            <a:endParaRPr lang="en-US" sz="3200" dirty="0"/>
          </a:p>
        </p:txBody>
      </p:sp>
      <p:sp>
        <p:nvSpPr>
          <p:cNvPr id="12" name="Text 10"/>
          <p:cNvSpPr/>
          <p:nvPr/>
        </p:nvSpPr>
        <p:spPr>
          <a:xfrm>
            <a:off x="1003300" y="3764062"/>
            <a:ext cx="201447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E3A2F"/>
                </a:solidFill>
                <a:latin typeface="Nunito Sans" pitchFamily="34" charset="0"/>
                <a:ea typeface="Nunito Sans" pitchFamily="34" charset="-122"/>
                <a:cs typeface="Nunito Sans" pitchFamily="34" charset="-120"/>
              </a:rPr>
              <a:t>de prairies</a:t>
            </a:r>
            <a:endParaRPr lang="en-US" sz="1500" dirty="0"/>
          </a:p>
        </p:txBody>
      </p:sp>
      <p:sp>
        <p:nvSpPr>
          <p:cNvPr id="13" name="Shape 11"/>
          <p:cNvSpPr/>
          <p:nvPr/>
        </p:nvSpPr>
        <p:spPr>
          <a:xfrm>
            <a:off x="3308350" y="3107531"/>
            <a:ext cx="2324100" cy="1107380"/>
          </a:xfrm>
          <a:prstGeom prst="roundRect">
            <a:avLst>
              <a:gd name="adj" fmla="val 8601"/>
            </a:avLst>
          </a:prstGeom>
          <a:solidFill>
            <a:srgbClr val="FBF9F3"/>
          </a:solidFill>
          <a:ln w="12700">
            <a:solidFill>
              <a:srgbClr val="D8CEB6"/>
            </a:solidFill>
            <a:prstDash val="solid"/>
          </a:ln>
        </p:spPr>
        <p:txBody>
          <a:bodyPr/>
          <a:lstStyle/>
          <a:p>
            <a:endParaRPr lang="fr-FR"/>
          </a:p>
        </p:txBody>
      </p:sp>
      <p:sp>
        <p:nvSpPr>
          <p:cNvPr id="14" name="Text 12"/>
          <p:cNvSpPr/>
          <p:nvPr/>
        </p:nvSpPr>
        <p:spPr>
          <a:xfrm>
            <a:off x="3492500" y="3291681"/>
            <a:ext cx="2014474"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9A4F12"/>
                </a:solidFill>
                <a:latin typeface="Domine" pitchFamily="34" charset="0"/>
                <a:ea typeface="Domine" pitchFamily="34" charset="-122"/>
                <a:cs typeface="Domine" pitchFamily="34" charset="-120"/>
              </a:rPr>
              <a:t>30 ha</a:t>
            </a:r>
            <a:endParaRPr lang="en-US" sz="3200" dirty="0"/>
          </a:p>
        </p:txBody>
      </p:sp>
      <p:sp>
        <p:nvSpPr>
          <p:cNvPr id="15" name="Text 13"/>
          <p:cNvSpPr/>
          <p:nvPr/>
        </p:nvSpPr>
        <p:spPr>
          <a:xfrm>
            <a:off x="3492500" y="3764062"/>
            <a:ext cx="201447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E3A2F"/>
                </a:solidFill>
                <a:latin typeface="Nunito Sans" pitchFamily="34" charset="0"/>
                <a:ea typeface="Nunito Sans" pitchFamily="34" charset="-122"/>
                <a:cs typeface="Nunito Sans" pitchFamily="34" charset="-120"/>
              </a:rPr>
              <a:t>de triticale, sans phyto</a:t>
            </a:r>
            <a:endParaRPr lang="en-US" sz="1500" dirty="0"/>
          </a:p>
        </p:txBody>
      </p:sp>
      <p:sp>
        <p:nvSpPr>
          <p:cNvPr id="16" name="Shape 14"/>
          <p:cNvSpPr/>
          <p:nvPr/>
        </p:nvSpPr>
        <p:spPr>
          <a:xfrm>
            <a:off x="5899150" y="1835051"/>
            <a:ext cx="5473700" cy="2379861"/>
          </a:xfrm>
          <a:prstGeom prst="roundRect">
            <a:avLst>
              <a:gd name="adj" fmla="val 4002"/>
            </a:avLst>
          </a:prstGeom>
          <a:solidFill>
            <a:srgbClr val="FBF9F3"/>
          </a:solidFill>
          <a:ln w="12700">
            <a:solidFill>
              <a:srgbClr val="D8CEB6"/>
            </a:solidFill>
            <a:prstDash val="solid"/>
          </a:ln>
        </p:spPr>
        <p:txBody>
          <a:bodyPr/>
          <a:lstStyle/>
          <a:p>
            <a:endParaRPr lang="fr-FR"/>
          </a:p>
        </p:txBody>
      </p:sp>
      <p:sp>
        <p:nvSpPr>
          <p:cNvPr id="17" name="Text 15"/>
          <p:cNvSpPr/>
          <p:nvPr/>
        </p:nvSpPr>
        <p:spPr>
          <a:xfrm>
            <a:off x="6108700" y="2044601"/>
            <a:ext cx="520623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3A2F"/>
                </a:solidFill>
                <a:latin typeface="Domine" pitchFamily="34" charset="0"/>
                <a:ea typeface="Domine" pitchFamily="34" charset="-122"/>
                <a:cs typeface="Domine" pitchFamily="34" charset="-120"/>
              </a:rPr>
              <a:t>Ration hivernale déclarée</a:t>
            </a:r>
            <a:endParaRPr lang="en-US" sz="1500" dirty="0"/>
          </a:p>
        </p:txBody>
      </p:sp>
      <p:sp>
        <p:nvSpPr>
          <p:cNvPr id="18" name="Text 16"/>
          <p:cNvSpPr/>
          <p:nvPr/>
        </p:nvSpPr>
        <p:spPr>
          <a:xfrm>
            <a:off x="6200394" y="2349401"/>
            <a:ext cx="5106924" cy="1221978"/>
          </a:xfrm>
          <a:prstGeom prst="rect">
            <a:avLst/>
          </a:prstGeom>
          <a:noFill/>
          <a:ln/>
        </p:spPr>
        <p:txBody>
          <a:bodyPr wrap="square" lIns="0" tIns="0" rIns="0" bIns="0" rtlCol="0" anchor="t">
            <a:normAutofit/>
          </a:bodyPr>
          <a:lstStyle/>
          <a:p>
            <a:pPr marL="162306" indent="-162306" algn="l">
              <a:lnSpc>
                <a:spcPts val="1885"/>
              </a:lnSpc>
              <a:buSzPct val="100000"/>
              <a:buChar char="•"/>
            </a:pPr>
            <a:r>
              <a:rPr lang="en-US" sz="1300" dirty="0">
                <a:solidFill>
                  <a:srgbClr val="4A5448"/>
                </a:solidFill>
                <a:latin typeface="Nunito Sans" pitchFamily="34" charset="0"/>
                <a:ea typeface="Nunito Sans" pitchFamily="34" charset="-122"/>
                <a:cs typeface="Nunito Sans" pitchFamily="34" charset="-120"/>
              </a:rPr>
              <a:t>Enrubannage 12 à 15 kg brut + foin 2 à 3 kg</a:t>
            </a:r>
            <a:endParaRPr lang="en-US" sz="1300" dirty="0"/>
          </a:p>
          <a:p>
            <a:pPr marL="162306" indent="-162306" algn="l">
              <a:lnSpc>
                <a:spcPts val="1885"/>
              </a:lnSpc>
              <a:buSzPct val="100000"/>
              <a:buChar char="•"/>
            </a:pPr>
            <a:r>
              <a:rPr lang="en-US" sz="1300" dirty="0">
                <a:solidFill>
                  <a:srgbClr val="4A5448"/>
                </a:solidFill>
                <a:latin typeface="Nunito Sans" pitchFamily="34" charset="0"/>
                <a:ea typeface="Nunito Sans" pitchFamily="34" charset="-122"/>
                <a:cs typeface="Nunito Sans" pitchFamily="34" charset="-120"/>
              </a:rPr>
              <a:t>Gestantes : triticale 0,5 à 1 kg + correcteur 25 MAT 0,5 à 1 kg</a:t>
            </a:r>
            <a:endParaRPr lang="en-US" sz="1300" dirty="0"/>
          </a:p>
          <a:p>
            <a:pPr marL="162306" indent="-162306" algn="l">
              <a:lnSpc>
                <a:spcPts val="1885"/>
              </a:lnSpc>
              <a:buSzPct val="100000"/>
              <a:buChar char="•"/>
            </a:pPr>
            <a:r>
              <a:rPr lang="en-US" sz="1300" dirty="0">
                <a:solidFill>
                  <a:srgbClr val="4A5448"/>
                </a:solidFill>
                <a:latin typeface="Nunito Sans" pitchFamily="34" charset="0"/>
                <a:ea typeface="Nunito Sans" pitchFamily="34" charset="-122"/>
                <a:cs typeface="Nunito Sans" pitchFamily="34" charset="-120"/>
              </a:rPr>
              <a:t>Génisses : triticale 2 kg + correcteur 0,5 à 1 kg</a:t>
            </a:r>
            <a:endParaRPr lang="en-US" sz="1300" dirty="0"/>
          </a:p>
          <a:p>
            <a:pPr marL="162306" indent="-162306" algn="l">
              <a:lnSpc>
                <a:spcPts val="1885"/>
              </a:lnSpc>
              <a:buSzPct val="100000"/>
              <a:buChar char="•"/>
            </a:pPr>
            <a:r>
              <a:rPr lang="en-US" sz="1300" dirty="0">
                <a:solidFill>
                  <a:srgbClr val="4A5448"/>
                </a:solidFill>
                <a:latin typeface="Nunito Sans" pitchFamily="34" charset="0"/>
                <a:ea typeface="Nunito Sans" pitchFamily="34" charset="-122"/>
                <a:cs typeface="Nunito Sans" pitchFamily="34" charset="-120"/>
              </a:rPr>
              <a:t>Minéral Viamin Elite SEM, 100 à 120 g/vache/jour</a:t>
            </a:r>
            <a:endParaRPr lang="en-US" sz="1300" dirty="0"/>
          </a:p>
          <a:p>
            <a:pPr marL="162306" indent="-162306" algn="l">
              <a:lnSpc>
                <a:spcPts val="1885"/>
              </a:lnSpc>
              <a:buSzPct val="100000"/>
              <a:buChar char="•"/>
            </a:pPr>
            <a:r>
              <a:rPr lang="en-US" sz="1300" dirty="0">
                <a:solidFill>
                  <a:srgbClr val="4A5448"/>
                </a:solidFill>
                <a:latin typeface="Nunito Sans" pitchFamily="34" charset="0"/>
                <a:ea typeface="Nunito Sans" pitchFamily="34" charset="-122"/>
                <a:cs typeface="Nunito Sans" pitchFamily="34" charset="-120"/>
              </a:rPr>
              <a:t>Ni sel, ni bolus ; eau de source</a:t>
            </a:r>
            <a:endParaRPr lang="en-US" sz="13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66"/>
                </a:solidFill>
                <a:latin typeface="Nunito Sans" pitchFamily="34" charset="0"/>
                <a:ea typeface="Nunito Sans" pitchFamily="34" charset="-122"/>
                <a:cs typeface="Nunito Sans" pitchFamily="34" charset="-120"/>
              </a:rPr>
              <a:t>EARL </a:t>
            </a:r>
            <a:r>
              <a:rPr lang="en-US" sz="1200" dirty="0" err="1">
                <a:solidFill>
                  <a:srgbClr val="6B7266"/>
                </a:solidFill>
                <a:latin typeface="Nunito Sans" pitchFamily="34" charset="0"/>
                <a:ea typeface="Nunito Sans" pitchFamily="34" charset="-122"/>
                <a:cs typeface="Nunito Sans" pitchFamily="34" charset="-120"/>
              </a:rPr>
              <a:t>Belvache</a:t>
            </a:r>
            <a:r>
              <a:rPr lang="en-US" sz="1200" dirty="0">
                <a:solidFill>
                  <a:srgbClr val="6B7266"/>
                </a:solidFill>
                <a:latin typeface="Nunito Sans" pitchFamily="34" charset="0"/>
                <a:ea typeface="Nunito Sans" pitchFamily="34" charset="-122"/>
                <a:cs typeface="Nunito Sans" pitchFamily="34" charset="-120"/>
              </a:rPr>
              <a:t> · approche globale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2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4F12"/>
                </a:solidFill>
                <a:latin typeface="Nunito Sans" pitchFamily="34" charset="0"/>
                <a:ea typeface="Nunito Sans" pitchFamily="34" charset="-122"/>
                <a:cs typeface="Nunito Sans" pitchFamily="34" charset="-120"/>
              </a:rPr>
              <a:t>ÉTAPE 1 · COLLECTER</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E3A2F"/>
                </a:solidFill>
                <a:latin typeface="Domine" pitchFamily="34" charset="0"/>
                <a:ea typeface="Domine" pitchFamily="34" charset="-122"/>
                <a:cs typeface="Domine" pitchFamily="34" charset="-120"/>
              </a:rPr>
              <a:t>Ce que l'éleveur constate au quotidien</a:t>
            </a:r>
            <a:endParaRPr lang="en-US" sz="3200" dirty="0"/>
          </a:p>
        </p:txBody>
      </p:sp>
      <p:sp>
        <p:nvSpPr>
          <p:cNvPr id="4" name="Shape 2"/>
          <p:cNvSpPr/>
          <p:nvPr/>
        </p:nvSpPr>
        <p:spPr>
          <a:xfrm>
            <a:off x="819150" y="1835051"/>
            <a:ext cx="2514600" cy="1313061"/>
          </a:xfrm>
          <a:prstGeom prst="roundRect">
            <a:avLst>
              <a:gd name="adj" fmla="val 7254"/>
            </a:avLst>
          </a:prstGeom>
          <a:solidFill>
            <a:srgbClr val="FBF9F3"/>
          </a:solidFill>
          <a:ln w="12700">
            <a:solidFill>
              <a:srgbClr val="D8CEB6"/>
            </a:solidFill>
            <a:prstDash val="solid"/>
          </a:ln>
        </p:spPr>
        <p:txBody>
          <a:bodyPr/>
          <a:lstStyle/>
          <a:p>
            <a:endParaRPr lang="fr-FR"/>
          </a:p>
        </p:txBody>
      </p:sp>
      <p:sp>
        <p:nvSpPr>
          <p:cNvPr id="5" name="Text 3"/>
          <p:cNvSpPr/>
          <p:nvPr/>
        </p:nvSpPr>
        <p:spPr>
          <a:xfrm>
            <a:off x="1003300" y="2019201"/>
            <a:ext cx="221068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3A2F"/>
                </a:solidFill>
                <a:latin typeface="Domine" pitchFamily="34" charset="0"/>
                <a:ea typeface="Domine" pitchFamily="34" charset="-122"/>
                <a:cs typeface="Domine" pitchFamily="34" charset="-120"/>
              </a:rPr>
              <a:t>Diarrhées des veaux</a:t>
            </a:r>
            <a:endParaRPr lang="en-US" sz="1500" dirty="0"/>
          </a:p>
        </p:txBody>
      </p:sp>
      <p:sp>
        <p:nvSpPr>
          <p:cNvPr id="6" name="Text 4"/>
          <p:cNvSpPr/>
          <p:nvPr/>
        </p:nvSpPr>
        <p:spPr>
          <a:xfrm>
            <a:off x="1003300" y="2324001"/>
            <a:ext cx="2210689"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Cryptosporidiose, première cause de mortalité de 2 jours à 1 mois</a:t>
            </a:r>
            <a:endParaRPr lang="en-US" sz="1200" dirty="0"/>
          </a:p>
        </p:txBody>
      </p:sp>
      <p:sp>
        <p:nvSpPr>
          <p:cNvPr id="7" name="Shape 5"/>
          <p:cNvSpPr/>
          <p:nvPr/>
        </p:nvSpPr>
        <p:spPr>
          <a:xfrm>
            <a:off x="3498850" y="1835051"/>
            <a:ext cx="2514600" cy="1313061"/>
          </a:xfrm>
          <a:prstGeom prst="roundRect">
            <a:avLst>
              <a:gd name="adj" fmla="val 7254"/>
            </a:avLst>
          </a:prstGeom>
          <a:solidFill>
            <a:srgbClr val="FBF9F3"/>
          </a:solidFill>
          <a:ln w="12700">
            <a:solidFill>
              <a:srgbClr val="D8CEB6"/>
            </a:solidFill>
            <a:prstDash val="solid"/>
          </a:ln>
        </p:spPr>
        <p:txBody>
          <a:bodyPr/>
          <a:lstStyle/>
          <a:p>
            <a:endParaRPr lang="fr-FR"/>
          </a:p>
        </p:txBody>
      </p:sp>
      <p:sp>
        <p:nvSpPr>
          <p:cNvPr id="8" name="Text 6"/>
          <p:cNvSpPr/>
          <p:nvPr/>
        </p:nvSpPr>
        <p:spPr>
          <a:xfrm>
            <a:off x="3683000" y="2019201"/>
            <a:ext cx="221068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3A2F"/>
                </a:solidFill>
                <a:latin typeface="Domine" pitchFamily="34" charset="0"/>
                <a:ea typeface="Domine" pitchFamily="34" charset="-122"/>
                <a:cs typeface="Domine" pitchFamily="34" charset="-120"/>
              </a:rPr>
              <a:t>Non-délivrances</a:t>
            </a:r>
            <a:endParaRPr lang="en-US" sz="1500" dirty="0"/>
          </a:p>
        </p:txBody>
      </p:sp>
      <p:sp>
        <p:nvSpPr>
          <p:cNvPr id="9" name="Text 7"/>
          <p:cNvSpPr/>
          <p:nvPr/>
        </p:nvSpPr>
        <p:spPr>
          <a:xfrm>
            <a:off x="3683000" y="2324001"/>
            <a:ext cx="22106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5 à 10 par an</a:t>
            </a:r>
            <a:endParaRPr lang="en-US" sz="1200" dirty="0"/>
          </a:p>
        </p:txBody>
      </p:sp>
      <p:sp>
        <p:nvSpPr>
          <p:cNvPr id="10" name="Shape 8"/>
          <p:cNvSpPr/>
          <p:nvPr/>
        </p:nvSpPr>
        <p:spPr>
          <a:xfrm>
            <a:off x="6178550" y="1835051"/>
            <a:ext cx="2514600" cy="1313061"/>
          </a:xfrm>
          <a:prstGeom prst="roundRect">
            <a:avLst>
              <a:gd name="adj" fmla="val 7254"/>
            </a:avLst>
          </a:prstGeom>
          <a:solidFill>
            <a:srgbClr val="FBF9F3"/>
          </a:solidFill>
          <a:ln w="12700">
            <a:solidFill>
              <a:srgbClr val="D8CEB6"/>
            </a:solidFill>
            <a:prstDash val="solid"/>
          </a:ln>
        </p:spPr>
        <p:txBody>
          <a:bodyPr/>
          <a:lstStyle/>
          <a:p>
            <a:endParaRPr lang="fr-FR"/>
          </a:p>
        </p:txBody>
      </p:sp>
      <p:sp>
        <p:nvSpPr>
          <p:cNvPr id="11" name="Text 9"/>
          <p:cNvSpPr/>
          <p:nvPr/>
        </p:nvSpPr>
        <p:spPr>
          <a:xfrm>
            <a:off x="6362700" y="2019201"/>
            <a:ext cx="221068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3A2F"/>
                </a:solidFill>
                <a:latin typeface="Domine" pitchFamily="34" charset="0"/>
                <a:ea typeface="Domine" pitchFamily="34" charset="-122"/>
                <a:cs typeface="Domine" pitchFamily="34" charset="-120"/>
              </a:rPr>
              <a:t>Métrites</a:t>
            </a:r>
            <a:endParaRPr lang="en-US" sz="1500" dirty="0"/>
          </a:p>
        </p:txBody>
      </p:sp>
      <p:sp>
        <p:nvSpPr>
          <p:cNvPr id="12" name="Text 10"/>
          <p:cNvSpPr/>
          <p:nvPr/>
        </p:nvSpPr>
        <p:spPr>
          <a:xfrm>
            <a:off x="6362700" y="2324001"/>
            <a:ext cx="22106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5 à 10 par an</a:t>
            </a:r>
            <a:endParaRPr lang="en-US" sz="1200" dirty="0"/>
          </a:p>
        </p:txBody>
      </p:sp>
      <p:sp>
        <p:nvSpPr>
          <p:cNvPr id="13" name="Shape 11"/>
          <p:cNvSpPr/>
          <p:nvPr/>
        </p:nvSpPr>
        <p:spPr>
          <a:xfrm>
            <a:off x="8858250" y="1835051"/>
            <a:ext cx="2514600" cy="1313061"/>
          </a:xfrm>
          <a:prstGeom prst="roundRect">
            <a:avLst>
              <a:gd name="adj" fmla="val 7254"/>
            </a:avLst>
          </a:prstGeom>
          <a:solidFill>
            <a:srgbClr val="FBF9F3"/>
          </a:solidFill>
          <a:ln w="12700">
            <a:solidFill>
              <a:srgbClr val="D8CEB6"/>
            </a:solidFill>
            <a:prstDash val="solid"/>
          </a:ln>
        </p:spPr>
        <p:txBody>
          <a:bodyPr/>
          <a:lstStyle/>
          <a:p>
            <a:endParaRPr lang="fr-FR"/>
          </a:p>
        </p:txBody>
      </p:sp>
      <p:sp>
        <p:nvSpPr>
          <p:cNvPr id="14" name="Text 12"/>
          <p:cNvSpPr/>
          <p:nvPr/>
        </p:nvSpPr>
        <p:spPr>
          <a:xfrm>
            <a:off x="9042400" y="2019201"/>
            <a:ext cx="2210689"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3A2F"/>
                </a:solidFill>
                <a:latin typeface="Domine" pitchFamily="34" charset="0"/>
                <a:ea typeface="Domine" pitchFamily="34" charset="-122"/>
                <a:cs typeface="Domine" pitchFamily="34" charset="-120"/>
              </a:rPr>
              <a:t>Retournements de matrice</a:t>
            </a:r>
            <a:endParaRPr lang="en-US" sz="1500" dirty="0"/>
          </a:p>
        </p:txBody>
      </p:sp>
      <p:sp>
        <p:nvSpPr>
          <p:cNvPr id="15" name="Text 13"/>
          <p:cNvSpPr/>
          <p:nvPr/>
        </p:nvSpPr>
        <p:spPr>
          <a:xfrm>
            <a:off x="9042400" y="2552601"/>
            <a:ext cx="22106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1 à 2 par an</a:t>
            </a:r>
            <a:endParaRPr lang="en-US" sz="1200" dirty="0"/>
          </a:p>
        </p:txBody>
      </p:sp>
      <p:sp>
        <p:nvSpPr>
          <p:cNvPr id="16" name="Shape 14"/>
          <p:cNvSpPr/>
          <p:nvPr/>
        </p:nvSpPr>
        <p:spPr>
          <a:xfrm>
            <a:off x="819150" y="3313212"/>
            <a:ext cx="2514600" cy="1099741"/>
          </a:xfrm>
          <a:prstGeom prst="roundRect">
            <a:avLst>
              <a:gd name="adj" fmla="val 8661"/>
            </a:avLst>
          </a:prstGeom>
          <a:solidFill>
            <a:srgbClr val="FBF9F3"/>
          </a:solidFill>
          <a:ln w="12700">
            <a:solidFill>
              <a:srgbClr val="D8CEB6"/>
            </a:solidFill>
            <a:prstDash val="solid"/>
          </a:ln>
        </p:spPr>
        <p:txBody>
          <a:bodyPr/>
          <a:lstStyle/>
          <a:p>
            <a:endParaRPr lang="fr-FR"/>
          </a:p>
        </p:txBody>
      </p:sp>
      <p:sp>
        <p:nvSpPr>
          <p:cNvPr id="17" name="Text 15"/>
          <p:cNvSpPr/>
          <p:nvPr/>
        </p:nvSpPr>
        <p:spPr>
          <a:xfrm>
            <a:off x="1003300" y="3497362"/>
            <a:ext cx="221068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3A2F"/>
                </a:solidFill>
                <a:latin typeface="Domine" pitchFamily="34" charset="0"/>
                <a:ea typeface="Domine" pitchFamily="34" charset="-122"/>
                <a:cs typeface="Domine" pitchFamily="34" charset="-120"/>
              </a:rPr>
              <a:t>Boiteries</a:t>
            </a:r>
            <a:endParaRPr lang="en-US" sz="1500" dirty="0"/>
          </a:p>
        </p:txBody>
      </p:sp>
      <p:sp>
        <p:nvSpPr>
          <p:cNvPr id="18" name="Text 16"/>
          <p:cNvSpPr/>
          <p:nvPr/>
        </p:nvSpPr>
        <p:spPr>
          <a:xfrm>
            <a:off x="1003300" y="3802162"/>
            <a:ext cx="22106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Panaris à la mise à l'herbe</a:t>
            </a:r>
            <a:endParaRPr lang="en-US" sz="1200" dirty="0"/>
          </a:p>
        </p:txBody>
      </p:sp>
      <p:sp>
        <p:nvSpPr>
          <p:cNvPr id="19" name="Shape 17"/>
          <p:cNvSpPr/>
          <p:nvPr/>
        </p:nvSpPr>
        <p:spPr>
          <a:xfrm>
            <a:off x="3498850" y="3313212"/>
            <a:ext cx="2514600" cy="1099741"/>
          </a:xfrm>
          <a:prstGeom prst="roundRect">
            <a:avLst>
              <a:gd name="adj" fmla="val 8661"/>
            </a:avLst>
          </a:prstGeom>
          <a:solidFill>
            <a:srgbClr val="FBF9F3"/>
          </a:solidFill>
          <a:ln w="12700">
            <a:solidFill>
              <a:srgbClr val="D8CEB6"/>
            </a:solidFill>
            <a:prstDash val="solid"/>
          </a:ln>
        </p:spPr>
        <p:txBody>
          <a:bodyPr/>
          <a:lstStyle/>
          <a:p>
            <a:endParaRPr lang="fr-FR"/>
          </a:p>
        </p:txBody>
      </p:sp>
      <p:sp>
        <p:nvSpPr>
          <p:cNvPr id="20" name="Text 18"/>
          <p:cNvSpPr/>
          <p:nvPr/>
        </p:nvSpPr>
        <p:spPr>
          <a:xfrm>
            <a:off x="3683000" y="3497362"/>
            <a:ext cx="221068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3A2F"/>
                </a:solidFill>
                <a:latin typeface="Domine" pitchFamily="34" charset="0"/>
                <a:ea typeface="Domine" pitchFamily="34" charset="-122"/>
                <a:cs typeface="Domine" pitchFamily="34" charset="-120"/>
              </a:rPr>
              <a:t>Acidose</a:t>
            </a:r>
            <a:endParaRPr lang="en-US" sz="1500" dirty="0"/>
          </a:p>
        </p:txBody>
      </p:sp>
      <p:sp>
        <p:nvSpPr>
          <p:cNvPr id="21" name="Text 19"/>
          <p:cNvSpPr/>
          <p:nvPr/>
        </p:nvSpPr>
        <p:spPr>
          <a:xfrm>
            <a:off x="3683000" y="3802162"/>
            <a:ext cx="22106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Cas observés chez les adultes</a:t>
            </a:r>
            <a:endParaRPr lang="en-US" sz="1200" dirty="0"/>
          </a:p>
        </p:txBody>
      </p:sp>
      <p:sp>
        <p:nvSpPr>
          <p:cNvPr id="22" name="Shape 20"/>
          <p:cNvSpPr/>
          <p:nvPr/>
        </p:nvSpPr>
        <p:spPr>
          <a:xfrm>
            <a:off x="6178550" y="3313212"/>
            <a:ext cx="2514600" cy="1099741"/>
          </a:xfrm>
          <a:prstGeom prst="roundRect">
            <a:avLst>
              <a:gd name="adj" fmla="val 8661"/>
            </a:avLst>
          </a:prstGeom>
          <a:solidFill>
            <a:srgbClr val="FBF9F3"/>
          </a:solidFill>
          <a:ln w="12700">
            <a:solidFill>
              <a:srgbClr val="D8CEB6"/>
            </a:solidFill>
            <a:prstDash val="solid"/>
          </a:ln>
        </p:spPr>
        <p:txBody>
          <a:bodyPr/>
          <a:lstStyle/>
          <a:p>
            <a:endParaRPr lang="fr-FR"/>
          </a:p>
        </p:txBody>
      </p:sp>
      <p:sp>
        <p:nvSpPr>
          <p:cNvPr id="23" name="Text 21"/>
          <p:cNvSpPr/>
          <p:nvPr/>
        </p:nvSpPr>
        <p:spPr>
          <a:xfrm>
            <a:off x="6362700" y="3497362"/>
            <a:ext cx="221068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3A2F"/>
                </a:solidFill>
                <a:latin typeface="Domine" pitchFamily="34" charset="0"/>
                <a:ea typeface="Domine" pitchFamily="34" charset="-122"/>
                <a:cs typeface="Domine" pitchFamily="34" charset="-120"/>
              </a:rPr>
              <a:t>Gros nombrils</a:t>
            </a:r>
            <a:endParaRPr lang="en-US" sz="1500" dirty="0"/>
          </a:p>
        </p:txBody>
      </p:sp>
      <p:sp>
        <p:nvSpPr>
          <p:cNvPr id="24" name="Text 22"/>
          <p:cNvSpPr/>
          <p:nvPr/>
        </p:nvSpPr>
        <p:spPr>
          <a:xfrm>
            <a:off x="6362700" y="3802162"/>
            <a:ext cx="221068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Récurrents sur certaines périodes</a:t>
            </a:r>
            <a:endParaRPr lang="en-US" sz="1200" dirty="0"/>
          </a:p>
        </p:txBody>
      </p:sp>
      <p:sp>
        <p:nvSpPr>
          <p:cNvPr id="25" name="Shape 23"/>
          <p:cNvSpPr/>
          <p:nvPr/>
        </p:nvSpPr>
        <p:spPr>
          <a:xfrm>
            <a:off x="8858250" y="3313212"/>
            <a:ext cx="2514600" cy="1099741"/>
          </a:xfrm>
          <a:prstGeom prst="roundRect">
            <a:avLst>
              <a:gd name="adj" fmla="val 8661"/>
            </a:avLst>
          </a:prstGeom>
          <a:solidFill>
            <a:srgbClr val="FBF9F3"/>
          </a:solidFill>
          <a:ln w="12700">
            <a:solidFill>
              <a:srgbClr val="D8CEB6"/>
            </a:solidFill>
            <a:prstDash val="solid"/>
          </a:ln>
        </p:spPr>
        <p:txBody>
          <a:bodyPr/>
          <a:lstStyle/>
          <a:p>
            <a:endParaRPr lang="fr-FR"/>
          </a:p>
        </p:txBody>
      </p:sp>
      <p:sp>
        <p:nvSpPr>
          <p:cNvPr id="26" name="Text 24"/>
          <p:cNvSpPr/>
          <p:nvPr/>
        </p:nvSpPr>
        <p:spPr>
          <a:xfrm>
            <a:off x="9042400" y="3497362"/>
            <a:ext cx="221068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3A2F"/>
                </a:solidFill>
                <a:latin typeface="Domine" pitchFamily="34" charset="0"/>
                <a:ea typeface="Domine" pitchFamily="34" charset="-122"/>
                <a:cs typeface="Domine" pitchFamily="34" charset="-120"/>
              </a:rPr>
              <a:t>Poil terne</a:t>
            </a:r>
            <a:endParaRPr lang="en-US" sz="1500" dirty="0"/>
          </a:p>
        </p:txBody>
      </p:sp>
      <p:sp>
        <p:nvSpPr>
          <p:cNvPr id="27" name="Text 25"/>
          <p:cNvSpPr/>
          <p:nvPr/>
        </p:nvSpPr>
        <p:spPr>
          <a:xfrm>
            <a:off x="9042400" y="3802162"/>
            <a:ext cx="22106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Veaux après le sevrage</a:t>
            </a:r>
            <a:endParaRPr lang="en-US" sz="1200" dirty="0"/>
          </a:p>
        </p:txBody>
      </p:sp>
      <p:sp>
        <p:nvSpPr>
          <p:cNvPr id="28" name="Text 2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66"/>
                </a:solidFill>
                <a:latin typeface="Nunito Sans" pitchFamily="34" charset="0"/>
                <a:ea typeface="Nunito Sans" pitchFamily="34" charset="-122"/>
                <a:cs typeface="Nunito Sans" pitchFamily="34" charset="-120"/>
              </a:rPr>
              <a:t>EARL </a:t>
            </a:r>
            <a:r>
              <a:rPr lang="en-US" sz="1200" dirty="0" err="1">
                <a:solidFill>
                  <a:srgbClr val="6B7266"/>
                </a:solidFill>
                <a:latin typeface="Nunito Sans" pitchFamily="34" charset="0"/>
                <a:ea typeface="Nunito Sans" pitchFamily="34" charset="-122"/>
                <a:cs typeface="Nunito Sans" pitchFamily="34" charset="-120"/>
              </a:rPr>
              <a:t>Belvache</a:t>
            </a:r>
            <a:r>
              <a:rPr lang="en-US" sz="1200" dirty="0">
                <a:solidFill>
                  <a:srgbClr val="6B7266"/>
                </a:solidFill>
                <a:latin typeface="Nunito Sans" pitchFamily="34" charset="0"/>
                <a:ea typeface="Nunito Sans" pitchFamily="34" charset="-122"/>
                <a:cs typeface="Nunito Sans" pitchFamily="34" charset="-120"/>
              </a:rPr>
              <a:t> · approche globale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2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4F12"/>
                </a:solidFill>
                <a:latin typeface="Nunito Sans" pitchFamily="34" charset="0"/>
                <a:ea typeface="Nunito Sans" pitchFamily="34" charset="-122"/>
                <a:cs typeface="Nunito Sans" pitchFamily="34" charset="-120"/>
              </a:rPr>
              <a:t>ÉTAPE 1 · COLLECTER</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E3A2F"/>
                </a:solidFill>
                <a:latin typeface="Domine" pitchFamily="34" charset="0"/>
                <a:ea typeface="Domine" pitchFamily="34" charset="-122"/>
                <a:cs typeface="Domine" pitchFamily="34" charset="-120"/>
              </a:rPr>
              <a:t>Les chiffres du bilan sanitaire GDS</a:t>
            </a:r>
            <a:endParaRPr lang="en-US" sz="3200" dirty="0"/>
          </a:p>
        </p:txBody>
      </p:sp>
      <p:sp>
        <p:nvSpPr>
          <p:cNvPr id="4" name="Shape 2"/>
          <p:cNvSpPr/>
          <p:nvPr/>
        </p:nvSpPr>
        <p:spPr>
          <a:xfrm>
            <a:off x="819150" y="1835051"/>
            <a:ext cx="2514600" cy="1803202"/>
          </a:xfrm>
          <a:prstGeom prst="roundRect">
            <a:avLst>
              <a:gd name="adj" fmla="val 5282"/>
            </a:avLst>
          </a:prstGeom>
          <a:solidFill>
            <a:srgbClr val="FBF9F3"/>
          </a:solidFill>
          <a:ln w="12700">
            <a:solidFill>
              <a:srgbClr val="D8CEB6"/>
            </a:solidFill>
            <a:prstDash val="solid"/>
          </a:ln>
        </p:spPr>
        <p:txBody>
          <a:bodyPr/>
          <a:lstStyle/>
          <a:p>
            <a:endParaRPr lang="fr-FR"/>
          </a:p>
        </p:txBody>
      </p:sp>
      <p:sp>
        <p:nvSpPr>
          <p:cNvPr id="5" name="Text 3"/>
          <p:cNvSpPr/>
          <p:nvPr/>
        </p:nvSpPr>
        <p:spPr>
          <a:xfrm>
            <a:off x="1028700" y="2044601"/>
            <a:ext cx="2158365" cy="64006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9A4F12"/>
                </a:solidFill>
                <a:latin typeface="Domine" pitchFamily="34" charset="0"/>
                <a:ea typeface="Domine" pitchFamily="34" charset="-122"/>
                <a:cs typeface="Domine" pitchFamily="34" charset="-120"/>
              </a:rPr>
              <a:t>406 j</a:t>
            </a:r>
            <a:endParaRPr lang="en-US" sz="4400" dirty="0"/>
          </a:p>
        </p:txBody>
      </p:sp>
      <p:sp>
        <p:nvSpPr>
          <p:cNvPr id="6" name="Text 4"/>
          <p:cNvSpPr/>
          <p:nvPr/>
        </p:nvSpPr>
        <p:spPr>
          <a:xfrm>
            <a:off x="1028700" y="2735461"/>
            <a:ext cx="2158365"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448"/>
                </a:solidFill>
                <a:latin typeface="Nunito Sans" pitchFamily="34" charset="0"/>
                <a:ea typeface="Nunito Sans" pitchFamily="34" charset="-122"/>
                <a:cs typeface="Nunito Sans" pitchFamily="34" charset="-120"/>
              </a:rPr>
              <a:t>intervalle vêlage-vêlage moyen (399 j en N-1, 387 j en N-2)</a:t>
            </a:r>
            <a:endParaRPr lang="en-US" sz="1300" dirty="0"/>
          </a:p>
        </p:txBody>
      </p:sp>
      <p:sp>
        <p:nvSpPr>
          <p:cNvPr id="7" name="Shape 5"/>
          <p:cNvSpPr/>
          <p:nvPr/>
        </p:nvSpPr>
        <p:spPr>
          <a:xfrm>
            <a:off x="3498850" y="1835051"/>
            <a:ext cx="2514600" cy="1803202"/>
          </a:xfrm>
          <a:prstGeom prst="roundRect">
            <a:avLst>
              <a:gd name="adj" fmla="val 5282"/>
            </a:avLst>
          </a:prstGeom>
          <a:solidFill>
            <a:srgbClr val="FBF9F3"/>
          </a:solidFill>
          <a:ln w="12700">
            <a:solidFill>
              <a:srgbClr val="D8CEB6"/>
            </a:solidFill>
            <a:prstDash val="solid"/>
          </a:ln>
        </p:spPr>
        <p:txBody>
          <a:bodyPr/>
          <a:lstStyle/>
          <a:p>
            <a:endParaRPr lang="fr-FR"/>
          </a:p>
        </p:txBody>
      </p:sp>
      <p:sp>
        <p:nvSpPr>
          <p:cNvPr id="8" name="Text 6"/>
          <p:cNvSpPr/>
          <p:nvPr/>
        </p:nvSpPr>
        <p:spPr>
          <a:xfrm>
            <a:off x="3708400" y="2044601"/>
            <a:ext cx="2158365" cy="64006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9A4F12"/>
                </a:solidFill>
                <a:latin typeface="Domine" pitchFamily="34" charset="0"/>
                <a:ea typeface="Domine" pitchFamily="34" charset="-122"/>
                <a:cs typeface="Domine" pitchFamily="34" charset="-120"/>
              </a:rPr>
              <a:t>27</a:t>
            </a:r>
            <a:endParaRPr lang="en-US" sz="4400" dirty="0"/>
          </a:p>
        </p:txBody>
      </p:sp>
      <p:sp>
        <p:nvSpPr>
          <p:cNvPr id="9" name="Text 7"/>
          <p:cNvSpPr/>
          <p:nvPr/>
        </p:nvSpPr>
        <p:spPr>
          <a:xfrm>
            <a:off x="3708400" y="2735461"/>
            <a:ext cx="2158365"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448"/>
                </a:solidFill>
                <a:latin typeface="Nunito Sans" pitchFamily="34" charset="0"/>
                <a:ea typeface="Nunito Sans" pitchFamily="34" charset="-122"/>
                <a:cs typeface="Nunito Sans" pitchFamily="34" charset="-120"/>
              </a:rPr>
              <a:t>vaches avec un intervalle de plus de 390 jours</a:t>
            </a:r>
            <a:endParaRPr lang="en-US" sz="1300" dirty="0"/>
          </a:p>
        </p:txBody>
      </p:sp>
      <p:sp>
        <p:nvSpPr>
          <p:cNvPr id="10" name="Shape 8"/>
          <p:cNvSpPr/>
          <p:nvPr/>
        </p:nvSpPr>
        <p:spPr>
          <a:xfrm>
            <a:off x="6178550" y="1835051"/>
            <a:ext cx="2514600" cy="1803202"/>
          </a:xfrm>
          <a:prstGeom prst="roundRect">
            <a:avLst>
              <a:gd name="adj" fmla="val 5282"/>
            </a:avLst>
          </a:prstGeom>
          <a:solidFill>
            <a:srgbClr val="FBF9F3"/>
          </a:solidFill>
          <a:ln w="12700">
            <a:solidFill>
              <a:srgbClr val="D8CEB6"/>
            </a:solidFill>
            <a:prstDash val="solid"/>
          </a:ln>
        </p:spPr>
        <p:txBody>
          <a:bodyPr/>
          <a:lstStyle/>
          <a:p>
            <a:endParaRPr lang="fr-FR"/>
          </a:p>
        </p:txBody>
      </p:sp>
      <p:sp>
        <p:nvSpPr>
          <p:cNvPr id="11" name="Text 9"/>
          <p:cNvSpPr/>
          <p:nvPr/>
        </p:nvSpPr>
        <p:spPr>
          <a:xfrm>
            <a:off x="6388100" y="2044601"/>
            <a:ext cx="2158365" cy="64006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9A4F12"/>
                </a:solidFill>
                <a:latin typeface="Domine" pitchFamily="34" charset="0"/>
                <a:ea typeface="Domine" pitchFamily="34" charset="-122"/>
                <a:cs typeface="Domine" pitchFamily="34" charset="-120"/>
              </a:rPr>
              <a:t>16</a:t>
            </a:r>
            <a:endParaRPr lang="en-US" sz="4400" dirty="0"/>
          </a:p>
        </p:txBody>
      </p:sp>
      <p:sp>
        <p:nvSpPr>
          <p:cNvPr id="12" name="Text 10"/>
          <p:cNvSpPr/>
          <p:nvPr/>
        </p:nvSpPr>
        <p:spPr>
          <a:xfrm>
            <a:off x="6388100" y="2735461"/>
            <a:ext cx="2158365"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448"/>
                </a:solidFill>
                <a:latin typeface="Nunito Sans" pitchFamily="34" charset="0"/>
                <a:ea typeface="Nunito Sans" pitchFamily="34" charset="-122"/>
                <a:cs typeface="Nunito Sans" pitchFamily="34" charset="-120"/>
              </a:rPr>
              <a:t>femelles de plus de 36 mois sans vêlage sur la campagne</a:t>
            </a:r>
            <a:endParaRPr lang="en-US" sz="1300" dirty="0"/>
          </a:p>
        </p:txBody>
      </p:sp>
      <p:sp>
        <p:nvSpPr>
          <p:cNvPr id="13" name="Shape 11"/>
          <p:cNvSpPr/>
          <p:nvPr/>
        </p:nvSpPr>
        <p:spPr>
          <a:xfrm>
            <a:off x="8858250" y="1835051"/>
            <a:ext cx="2514600" cy="1803202"/>
          </a:xfrm>
          <a:prstGeom prst="roundRect">
            <a:avLst>
              <a:gd name="adj" fmla="val 5282"/>
            </a:avLst>
          </a:prstGeom>
          <a:solidFill>
            <a:srgbClr val="FBF9F3"/>
          </a:solidFill>
          <a:ln w="12700">
            <a:solidFill>
              <a:srgbClr val="D8CEB6"/>
            </a:solidFill>
            <a:prstDash val="solid"/>
          </a:ln>
        </p:spPr>
        <p:txBody>
          <a:bodyPr/>
          <a:lstStyle/>
          <a:p>
            <a:endParaRPr lang="fr-FR"/>
          </a:p>
        </p:txBody>
      </p:sp>
      <p:sp>
        <p:nvSpPr>
          <p:cNvPr id="14" name="Text 12"/>
          <p:cNvSpPr/>
          <p:nvPr/>
        </p:nvSpPr>
        <p:spPr>
          <a:xfrm>
            <a:off x="9067800" y="2044601"/>
            <a:ext cx="2158365" cy="64006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9A4F12"/>
                </a:solidFill>
                <a:latin typeface="Domine" pitchFamily="34" charset="0"/>
                <a:ea typeface="Domine" pitchFamily="34" charset="-122"/>
                <a:cs typeface="Domine" pitchFamily="34" charset="-120"/>
              </a:rPr>
              <a:t>6 %</a:t>
            </a:r>
            <a:endParaRPr lang="en-US" sz="4400" dirty="0"/>
          </a:p>
        </p:txBody>
      </p:sp>
      <p:sp>
        <p:nvSpPr>
          <p:cNvPr id="15" name="Text 13"/>
          <p:cNvSpPr/>
          <p:nvPr/>
        </p:nvSpPr>
        <p:spPr>
          <a:xfrm>
            <a:off x="9067800" y="2735461"/>
            <a:ext cx="2158365"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448"/>
                </a:solidFill>
                <a:latin typeface="Nunito Sans" pitchFamily="34" charset="0"/>
                <a:ea typeface="Nunito Sans" pitchFamily="34" charset="-122"/>
                <a:cs typeface="Nunito Sans" pitchFamily="34" charset="-120"/>
              </a:rPr>
              <a:t>mortalité des veaux de 0 à 12 mois (11,7 % en N-1, alerte au-delà de 5 %)</a:t>
            </a:r>
            <a:endParaRPr lang="en-US" sz="13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66"/>
                </a:solidFill>
                <a:latin typeface="Nunito Sans" pitchFamily="34" charset="0"/>
                <a:ea typeface="Nunito Sans" pitchFamily="34" charset="-122"/>
                <a:cs typeface="Nunito Sans" pitchFamily="34" charset="-120"/>
              </a:rPr>
              <a:t>Source : bilan sanitaire GDS Dordogne, campagne du 01/08/2025 au 31/07/2026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2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4F12"/>
                </a:solidFill>
                <a:latin typeface="Nunito Sans" pitchFamily="34" charset="0"/>
                <a:ea typeface="Nunito Sans" pitchFamily="34" charset="-122"/>
                <a:cs typeface="Nunito Sans" pitchFamily="34" charset="-120"/>
              </a:rPr>
              <a:t>ÉTAPE 1 · COLLECTER</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E3A2F"/>
                </a:solidFill>
                <a:latin typeface="Domine" pitchFamily="34" charset="0"/>
                <a:ea typeface="Domine" pitchFamily="34" charset="-122"/>
                <a:cs typeface="Domine" pitchFamily="34" charset="-120"/>
              </a:rPr>
              <a:t>Situer l'élevage par rapport aux seuils</a:t>
            </a:r>
            <a:endParaRPr lang="en-US" sz="3200" dirty="0"/>
          </a:p>
        </p:txBody>
      </p:sp>
      <p:sp>
        <p:nvSpPr>
          <p:cNvPr id="4" name="Shape 2"/>
          <p:cNvSpPr/>
          <p:nvPr/>
        </p:nvSpPr>
        <p:spPr>
          <a:xfrm>
            <a:off x="11376025" y="1828701"/>
            <a:ext cx="0" cy="2533948"/>
          </a:xfrm>
          <a:prstGeom prst="line">
            <a:avLst/>
          </a:prstGeom>
          <a:noFill/>
          <a:ln w="6350">
            <a:solidFill>
              <a:srgbClr val="D8CEB6"/>
            </a:solidFill>
            <a:prstDash val="solid"/>
          </a:ln>
        </p:spPr>
        <p:txBody>
          <a:bodyPr/>
          <a:lstStyle/>
          <a:p>
            <a:endParaRPr lang="fr-FR"/>
          </a:p>
        </p:txBody>
      </p:sp>
      <p:sp>
        <p:nvSpPr>
          <p:cNvPr id="5" name="Shape 3"/>
          <p:cNvSpPr/>
          <p:nvPr/>
        </p:nvSpPr>
        <p:spPr>
          <a:xfrm>
            <a:off x="812800" y="4359473"/>
            <a:ext cx="10566400" cy="0"/>
          </a:xfrm>
          <a:prstGeom prst="line">
            <a:avLst/>
          </a:prstGeom>
          <a:noFill/>
          <a:ln w="6350">
            <a:solidFill>
              <a:srgbClr val="D8CEB6"/>
            </a:solidFill>
            <a:prstDash val="solid"/>
          </a:ln>
        </p:spPr>
        <p:txBody>
          <a:bodyPr/>
          <a:lstStyle/>
          <a:p>
            <a:endParaRPr lang="fr-F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841401"/>
          <a:ext cx="10547350" cy="2514897"/>
        </p:xfrm>
        <a:graphic>
          <a:graphicData uri="http://schemas.openxmlformats.org/drawingml/2006/table">
            <a:tbl>
              <a:tblPr/>
              <a:tblGrid>
                <a:gridCol w="2742311">
                  <a:extLst>
                    <a:ext uri="{9D8B030D-6E8A-4147-A177-3AD203B41FA5}">
                      <a16:colId xmlns:a16="http://schemas.microsoft.com/office/drawing/2014/main" val="20000"/>
                    </a:ext>
                  </a:extLst>
                </a:gridCol>
                <a:gridCol w="1582102">
                  <a:extLst>
                    <a:ext uri="{9D8B030D-6E8A-4147-A177-3AD203B41FA5}">
                      <a16:colId xmlns:a16="http://schemas.microsoft.com/office/drawing/2014/main" val="20001"/>
                    </a:ext>
                  </a:extLst>
                </a:gridCol>
                <a:gridCol w="2003997">
                  <a:extLst>
                    <a:ext uri="{9D8B030D-6E8A-4147-A177-3AD203B41FA5}">
                      <a16:colId xmlns:a16="http://schemas.microsoft.com/office/drawing/2014/main" val="20002"/>
                    </a:ext>
                  </a:extLst>
                </a:gridCol>
                <a:gridCol w="1793050">
                  <a:extLst>
                    <a:ext uri="{9D8B030D-6E8A-4147-A177-3AD203B41FA5}">
                      <a16:colId xmlns:a16="http://schemas.microsoft.com/office/drawing/2014/main" val="20003"/>
                    </a:ext>
                  </a:extLst>
                </a:gridCol>
                <a:gridCol w="2425890">
                  <a:extLst>
                    <a:ext uri="{9D8B030D-6E8A-4147-A177-3AD203B41FA5}">
                      <a16:colId xmlns:a16="http://schemas.microsoft.com/office/drawing/2014/main" val="20004"/>
                    </a:ext>
                  </a:extLst>
                </a:gridCol>
              </a:tblGrid>
              <a:tr h="359271">
                <a:tc>
                  <a:txBody>
                    <a:bodyPr/>
                    <a:lstStyle/>
                    <a:p>
                      <a:pPr marL="0" indent="0">
                        <a:lnSpc>
                          <a:spcPts val="1820"/>
                        </a:lnSpc>
                        <a:buNone/>
                      </a:pPr>
                      <a:r>
                        <a:rPr lang="en-US" sz="1300" b="1" dirty="0">
                          <a:solidFill>
                            <a:srgbClr val="F6F2E8"/>
                          </a:solidFill>
                          <a:latin typeface="Nunito Sans" pitchFamily="34" charset="0"/>
                          <a:ea typeface="Nunito Sans" pitchFamily="34" charset="-122"/>
                          <a:cs typeface="Nunito Sans" pitchFamily="34" charset="-120"/>
                        </a:rPr>
                        <a:t>Évènement</a:t>
                      </a:r>
                      <a:endParaRPr lang="en-US" sz="1300" dirty="0">
                        <a:latin typeface="Nunito Sans" charset="0"/>
                        <a:ea typeface="Nunito Sans" charset="0"/>
                        <a:cs typeface="Nunito Sans" charset="0"/>
                      </a:endParaRPr>
                    </a:p>
                  </a:txBody>
                  <a:tcPr marL="57785" marR="57785" marT="57785" marB="57785">
                    <a:lnL w="12700" cap="flat" cmpd="sng" algn="ctr">
                      <a:solidFill>
                        <a:srgbClr val="C4C1B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820"/>
                        </a:lnSpc>
                        <a:buNone/>
                      </a:pPr>
                      <a:r>
                        <a:rPr lang="en-US" sz="1300" b="1" dirty="0">
                          <a:solidFill>
                            <a:srgbClr val="F6F2E8"/>
                          </a:solidFill>
                          <a:latin typeface="Nunito Sans" pitchFamily="34" charset="0"/>
                          <a:ea typeface="Nunito Sans" pitchFamily="34" charset="-122"/>
                          <a:cs typeface="Nunito Sans" pitchFamily="34" charset="-120"/>
                        </a:rPr>
                        <a:t>Fréquence</a:t>
                      </a:r>
                      <a:endParaRPr lang="en-US" sz="1300" dirty="0">
                        <a:latin typeface="Nunito Sans" charset="0"/>
                        <a:ea typeface="Nunito Sans" charset="0"/>
                        <a:cs typeface="Nunito Sans" charset="0"/>
                      </a:endParaRPr>
                    </a:p>
                  </a:txBody>
                  <a:tcPr marL="57785" marR="57785" marT="57785" marB="57785">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820"/>
                        </a:lnSpc>
                        <a:buNone/>
                      </a:pPr>
                      <a:r>
                        <a:rPr lang="en-US" sz="1300" b="1" dirty="0">
                          <a:solidFill>
                            <a:srgbClr val="F6F2E8"/>
                          </a:solidFill>
                          <a:latin typeface="Nunito Sans" pitchFamily="34" charset="0"/>
                          <a:ea typeface="Nunito Sans" pitchFamily="34" charset="-122"/>
                          <a:cs typeface="Nunito Sans" pitchFamily="34" charset="-120"/>
                        </a:rPr>
                        <a:t>Taux (81 vêlages)</a:t>
                      </a:r>
                      <a:endParaRPr lang="en-US" sz="1300" dirty="0">
                        <a:latin typeface="Nunito Sans" charset="0"/>
                        <a:ea typeface="Nunito Sans" charset="0"/>
                        <a:cs typeface="Nunito Sans" charset="0"/>
                      </a:endParaRPr>
                    </a:p>
                  </a:txBody>
                  <a:tcPr marL="57785" marR="57785" marT="57785" marB="57785">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820"/>
                        </a:lnSpc>
                        <a:buNone/>
                      </a:pPr>
                      <a:r>
                        <a:rPr lang="en-US" sz="1300" b="1" dirty="0">
                          <a:solidFill>
                            <a:srgbClr val="F6F2E8"/>
                          </a:solidFill>
                          <a:latin typeface="Nunito Sans" pitchFamily="34" charset="0"/>
                          <a:ea typeface="Nunito Sans" pitchFamily="34" charset="-122"/>
                          <a:cs typeface="Nunito Sans" pitchFamily="34" charset="-120"/>
                        </a:rPr>
                        <a:t>Seuils S1 / S2</a:t>
                      </a:r>
                      <a:endParaRPr lang="en-US" sz="1300" dirty="0">
                        <a:latin typeface="Nunito Sans" charset="0"/>
                        <a:ea typeface="Nunito Sans" charset="0"/>
                        <a:cs typeface="Nunito Sans" charset="0"/>
                      </a:endParaRPr>
                    </a:p>
                  </a:txBody>
                  <a:tcPr marL="57785" marR="57785" marT="57785" marB="57785">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820"/>
                        </a:lnSpc>
                        <a:buNone/>
                      </a:pPr>
                      <a:r>
                        <a:rPr lang="en-US" sz="1300" b="1" dirty="0">
                          <a:solidFill>
                            <a:srgbClr val="F6F2E8"/>
                          </a:solidFill>
                          <a:latin typeface="Nunito Sans" pitchFamily="34" charset="0"/>
                          <a:ea typeface="Nunito Sans" pitchFamily="34" charset="-122"/>
                          <a:cs typeface="Nunito Sans" pitchFamily="34" charset="-120"/>
                        </a:rPr>
                        <a:t>Situation</a:t>
                      </a:r>
                      <a:endParaRPr lang="en-US" sz="1300" dirty="0">
                        <a:latin typeface="Nunito Sans" charset="0"/>
                        <a:ea typeface="Nunito Sans" charset="0"/>
                        <a:cs typeface="Nunito Sans" charset="0"/>
                      </a:endParaRPr>
                    </a:p>
                  </a:txBody>
                  <a:tcPr marL="57785" marR="57785" marT="57785" marB="57785">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1E3A2F"/>
                          </a:solidFill>
                          <a:latin typeface="Nunito Sans" pitchFamily="34" charset="0"/>
                          <a:ea typeface="Nunito Sans" pitchFamily="34" charset="-122"/>
                          <a:cs typeface="Nunito Sans" pitchFamily="34" charset="-120"/>
                        </a:rPr>
                        <a:t>Retournements de matrice</a:t>
                      </a:r>
                      <a:endParaRPr lang="en-US" sz="1300" dirty="0">
                        <a:latin typeface="Nunito Sans" charset="0"/>
                        <a:ea typeface="Nunito Sans" charset="0"/>
                        <a:cs typeface="Nunito Sans" charset="0"/>
                      </a:endParaRPr>
                    </a:p>
                  </a:txBody>
                  <a:tcPr marL="57785" marR="57785" marT="57785" marB="57785">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1 à 2 / an</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1,2 à 2,5 %</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0 % / 1 %</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Très dégradée</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1E3A2F"/>
                          </a:solidFill>
                          <a:latin typeface="Nunito Sans" pitchFamily="34" charset="0"/>
                          <a:ea typeface="Nunito Sans" pitchFamily="34" charset="-122"/>
                          <a:cs typeface="Nunito Sans" pitchFamily="34" charset="-120"/>
                        </a:rPr>
                        <a:t>Métrites</a:t>
                      </a:r>
                      <a:endParaRPr lang="en-US" sz="1300" dirty="0">
                        <a:latin typeface="Nunito Sans" charset="0"/>
                        <a:ea typeface="Nunito Sans" charset="0"/>
                        <a:cs typeface="Nunito Sans" charset="0"/>
                      </a:endParaRPr>
                    </a:p>
                  </a:txBody>
                  <a:tcPr marL="57785" marR="57785" marT="57785" marB="57785">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5 à 10 / an</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6 à 12 %</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5 % / 10 %</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Dégradée à très dégradée</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1E3A2F"/>
                          </a:solidFill>
                          <a:latin typeface="Nunito Sans" pitchFamily="34" charset="0"/>
                          <a:ea typeface="Nunito Sans" pitchFamily="34" charset="-122"/>
                          <a:cs typeface="Nunito Sans" pitchFamily="34" charset="-120"/>
                        </a:rPr>
                        <a:t>Non-délivrances</a:t>
                      </a:r>
                      <a:endParaRPr lang="en-US" sz="1300" dirty="0">
                        <a:latin typeface="Nunito Sans" charset="0"/>
                        <a:ea typeface="Nunito Sans" charset="0"/>
                        <a:cs typeface="Nunito Sans" charset="0"/>
                      </a:endParaRPr>
                    </a:p>
                  </a:txBody>
                  <a:tcPr marL="57785" marR="57785" marT="57785" marB="57785">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5 à 10 / an</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6 à 12 %</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8 % / 12 %</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Favorable à dégradée</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1E3A2F"/>
                          </a:solidFill>
                          <a:latin typeface="Nunito Sans" pitchFamily="34" charset="0"/>
                          <a:ea typeface="Nunito Sans" pitchFamily="34" charset="-122"/>
                          <a:cs typeface="Nunito Sans" pitchFamily="34" charset="-120"/>
                        </a:rPr>
                        <a:t>Avortements</a:t>
                      </a:r>
                      <a:endParaRPr lang="en-US" sz="1300" dirty="0">
                        <a:latin typeface="Nunito Sans" charset="0"/>
                        <a:ea typeface="Nunito Sans" charset="0"/>
                        <a:cs typeface="Nunito Sans" charset="0"/>
                      </a:endParaRPr>
                    </a:p>
                  </a:txBody>
                  <a:tcPr marL="57785" marR="57785" marT="57785" marB="57785">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1 à 2 / an</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1,2 à 2,5 %</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2 % / 3 %</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Limite</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1E3A2F"/>
                          </a:solidFill>
                          <a:latin typeface="Nunito Sans" pitchFamily="34" charset="0"/>
                          <a:ea typeface="Nunito Sans" pitchFamily="34" charset="-122"/>
                          <a:cs typeface="Nunito Sans" pitchFamily="34" charset="-120"/>
                        </a:rPr>
                        <a:t>Diarrhées adultes</a:t>
                      </a:r>
                      <a:endParaRPr lang="en-US" sz="1300" dirty="0">
                        <a:latin typeface="Nunito Sans" charset="0"/>
                        <a:ea typeface="Nunito Sans" charset="0"/>
                        <a:cs typeface="Nunito Sans" charset="0"/>
                      </a:endParaRPr>
                    </a:p>
                  </a:txBody>
                  <a:tcPr marL="57785" marR="57785" marT="57785" marB="57785">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2 à 5 / an</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2,5 à 6 %</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3 % / 5 %</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Limite</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5"/>
                  </a:ext>
                </a:extLst>
              </a:tr>
              <a:tr h="359271">
                <a:tc>
                  <a:txBody>
                    <a:bodyPr/>
                    <a:lstStyle/>
                    <a:p>
                      <a:pPr marL="0" indent="0">
                        <a:lnSpc>
                          <a:spcPts val="1820"/>
                        </a:lnSpc>
                        <a:buNone/>
                      </a:pPr>
                      <a:r>
                        <a:rPr lang="en-US" sz="1300" dirty="0">
                          <a:solidFill>
                            <a:srgbClr val="1E3A2F"/>
                          </a:solidFill>
                          <a:latin typeface="Nunito Sans" pitchFamily="34" charset="0"/>
                          <a:ea typeface="Nunito Sans" pitchFamily="34" charset="-122"/>
                          <a:cs typeface="Nunito Sans" pitchFamily="34" charset="-120"/>
                        </a:rPr>
                        <a:t>Vêlages difficiles</a:t>
                      </a:r>
                      <a:endParaRPr lang="en-US" sz="1300" dirty="0">
                        <a:latin typeface="Nunito Sans" charset="0"/>
                        <a:ea typeface="Nunito Sans" charset="0"/>
                        <a:cs typeface="Nunito Sans" charset="0"/>
                      </a:endParaRPr>
                    </a:p>
                  </a:txBody>
                  <a:tcPr marL="57785" marR="57785" marT="57785" marB="57785">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5 % / 10 %</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Favorable</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6"/>
                  </a:ext>
                </a:extLst>
              </a:tr>
            </a:tbl>
          </a:graphicData>
        </a:graphic>
      </p:graphicFrame>
      <p:sp>
        <p:nvSpPr>
          <p:cNvPr id="7" name="Text 4"/>
          <p:cNvSpPr/>
          <p:nvPr/>
        </p:nvSpPr>
        <p:spPr>
          <a:xfrm>
            <a:off x="812800" y="4616648"/>
            <a:ext cx="1088339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448"/>
                </a:solidFill>
                <a:latin typeface="Nunito Sans" pitchFamily="34" charset="0"/>
                <a:ea typeface="Nunito Sans" pitchFamily="34" charset="-122"/>
                <a:cs typeface="Nunito Sans" pitchFamily="34" charset="-120"/>
              </a:rPr>
              <a:t>Taux = nombre de cas ÷ nombre de vêlages. Au-delà du seuil 2, le trouble n'est plus un accident : il signale un problème d'élevage.</a:t>
            </a:r>
            <a:endParaRPr lang="en-US" sz="13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66"/>
                </a:solidFill>
                <a:latin typeface="Nunito Sans" pitchFamily="34" charset="0"/>
                <a:ea typeface="Nunito Sans" pitchFamily="34" charset="-122"/>
                <a:cs typeface="Nunito Sans" pitchFamily="34" charset="-120"/>
              </a:rPr>
              <a:t>EARL </a:t>
            </a:r>
            <a:r>
              <a:rPr lang="en-US" sz="1200" dirty="0" err="1">
                <a:solidFill>
                  <a:srgbClr val="6B7266"/>
                </a:solidFill>
                <a:latin typeface="Nunito Sans" pitchFamily="34" charset="0"/>
                <a:ea typeface="Nunito Sans" pitchFamily="34" charset="-122"/>
                <a:cs typeface="Nunito Sans" pitchFamily="34" charset="-120"/>
              </a:rPr>
              <a:t>Belvache</a:t>
            </a:r>
            <a:r>
              <a:rPr lang="en-US" sz="1200" dirty="0">
                <a:solidFill>
                  <a:srgbClr val="6B7266"/>
                </a:solidFill>
                <a:latin typeface="Nunito Sans" pitchFamily="34" charset="0"/>
                <a:ea typeface="Nunito Sans" pitchFamily="34" charset="-122"/>
                <a:cs typeface="Nunito Sans" pitchFamily="34" charset="-120"/>
              </a:rPr>
              <a:t> · approche globale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2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4F12"/>
                </a:solidFill>
                <a:latin typeface="Nunito Sans" pitchFamily="34" charset="0"/>
                <a:ea typeface="Nunito Sans" pitchFamily="34" charset="-122"/>
                <a:cs typeface="Nunito Sans" pitchFamily="34" charset="-120"/>
              </a:rPr>
              <a:t>ÉTAPE 2 · ANALYSER LES FOURRAGES</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E3A2F"/>
                </a:solidFill>
                <a:latin typeface="Domine" pitchFamily="34" charset="0"/>
                <a:ea typeface="Domine" pitchFamily="34" charset="-122"/>
                <a:cs typeface="Domine" pitchFamily="34" charset="-120"/>
              </a:rPr>
              <a:t>Quatre fourrages analysés au laboratoire</a:t>
            </a:r>
            <a:endParaRPr lang="en-US" sz="3200" dirty="0"/>
          </a:p>
        </p:txBody>
      </p:sp>
      <p:sp>
        <p:nvSpPr>
          <p:cNvPr id="4" name="Shape 2"/>
          <p:cNvSpPr/>
          <p:nvPr/>
        </p:nvSpPr>
        <p:spPr>
          <a:xfrm>
            <a:off x="11376025" y="1828701"/>
            <a:ext cx="0" cy="3483570"/>
          </a:xfrm>
          <a:prstGeom prst="line">
            <a:avLst/>
          </a:prstGeom>
          <a:noFill/>
          <a:ln w="6350">
            <a:solidFill>
              <a:srgbClr val="D8CEB6"/>
            </a:solidFill>
            <a:prstDash val="solid"/>
          </a:ln>
        </p:spPr>
        <p:txBody>
          <a:bodyPr/>
          <a:lstStyle/>
          <a:p>
            <a:endParaRPr lang="fr-FR"/>
          </a:p>
        </p:txBody>
      </p:sp>
      <p:sp>
        <p:nvSpPr>
          <p:cNvPr id="5" name="Shape 3"/>
          <p:cNvSpPr/>
          <p:nvPr/>
        </p:nvSpPr>
        <p:spPr>
          <a:xfrm>
            <a:off x="812800" y="5309096"/>
            <a:ext cx="10566400" cy="0"/>
          </a:xfrm>
          <a:prstGeom prst="line">
            <a:avLst/>
          </a:prstGeom>
          <a:noFill/>
          <a:ln w="6350">
            <a:solidFill>
              <a:srgbClr val="D8CEB6"/>
            </a:solidFill>
            <a:prstDash val="solid"/>
          </a:ln>
        </p:spPr>
        <p:txBody>
          <a:bodyPr/>
          <a:lstStyle/>
          <a:p>
            <a:endParaRPr lang="fr-F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841401"/>
          <a:ext cx="10547350" cy="3464520"/>
        </p:xfrm>
        <a:graphic>
          <a:graphicData uri="http://schemas.openxmlformats.org/drawingml/2006/table">
            <a:tbl>
              <a:tblPr/>
              <a:tblGrid>
                <a:gridCol w="2742311">
                  <a:extLst>
                    <a:ext uri="{9D8B030D-6E8A-4147-A177-3AD203B41FA5}">
                      <a16:colId xmlns:a16="http://schemas.microsoft.com/office/drawing/2014/main" val="20000"/>
                    </a:ext>
                  </a:extLst>
                </a:gridCol>
                <a:gridCol w="1582102">
                  <a:extLst>
                    <a:ext uri="{9D8B030D-6E8A-4147-A177-3AD203B41FA5}">
                      <a16:colId xmlns:a16="http://schemas.microsoft.com/office/drawing/2014/main" val="20001"/>
                    </a:ext>
                  </a:extLst>
                </a:gridCol>
                <a:gridCol w="1371156">
                  <a:extLst>
                    <a:ext uri="{9D8B030D-6E8A-4147-A177-3AD203B41FA5}">
                      <a16:colId xmlns:a16="http://schemas.microsoft.com/office/drawing/2014/main" val="20002"/>
                    </a:ext>
                  </a:extLst>
                </a:gridCol>
                <a:gridCol w="1371156">
                  <a:extLst>
                    <a:ext uri="{9D8B030D-6E8A-4147-A177-3AD203B41FA5}">
                      <a16:colId xmlns:a16="http://schemas.microsoft.com/office/drawing/2014/main" val="20003"/>
                    </a:ext>
                  </a:extLst>
                </a:gridCol>
                <a:gridCol w="1582102">
                  <a:extLst>
                    <a:ext uri="{9D8B030D-6E8A-4147-A177-3AD203B41FA5}">
                      <a16:colId xmlns:a16="http://schemas.microsoft.com/office/drawing/2014/main" val="20004"/>
                    </a:ext>
                  </a:extLst>
                </a:gridCol>
                <a:gridCol w="1898523">
                  <a:extLst>
                    <a:ext uri="{9D8B030D-6E8A-4147-A177-3AD203B41FA5}">
                      <a16:colId xmlns:a16="http://schemas.microsoft.com/office/drawing/2014/main" val="20005"/>
                    </a:ext>
                  </a:extLst>
                </a:gridCol>
              </a:tblGrid>
              <a:tr h="590352">
                <a:tc>
                  <a:txBody>
                    <a:bodyPr/>
                    <a:lstStyle/>
                    <a:p>
                      <a:pPr marL="0" indent="0">
                        <a:lnSpc>
                          <a:spcPts val="1820"/>
                        </a:lnSpc>
                        <a:buNone/>
                      </a:pPr>
                      <a:r>
                        <a:rPr lang="en-US" sz="1300" b="1" dirty="0">
                          <a:solidFill>
                            <a:srgbClr val="F6F2E8"/>
                          </a:solidFill>
                          <a:latin typeface="Nunito Sans" pitchFamily="34" charset="0"/>
                          <a:ea typeface="Nunito Sans" pitchFamily="34" charset="-122"/>
                          <a:cs typeface="Nunito Sans" pitchFamily="34" charset="-120"/>
                        </a:rPr>
                        <a:t>Par kg de MS</a:t>
                      </a:r>
                      <a:endParaRPr lang="en-US" sz="1300" dirty="0">
                        <a:latin typeface="Nunito Sans" charset="0"/>
                        <a:ea typeface="Nunito Sans" charset="0"/>
                        <a:cs typeface="Nunito Sans" charset="0"/>
                      </a:endParaRPr>
                    </a:p>
                  </a:txBody>
                  <a:tcPr marL="57785" marR="57785" marT="57785" marB="57785">
                    <a:lnL w="12700" cap="flat" cmpd="sng" algn="ctr">
                      <a:solidFill>
                        <a:srgbClr val="C4C1B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820"/>
                        </a:lnSpc>
                        <a:buNone/>
                      </a:pPr>
                      <a:r>
                        <a:rPr lang="en-US" sz="1300" b="1" dirty="0">
                          <a:solidFill>
                            <a:srgbClr val="F6F2E8"/>
                          </a:solidFill>
                          <a:latin typeface="Nunito Sans" pitchFamily="34" charset="0"/>
                          <a:ea typeface="Nunito Sans" pitchFamily="34" charset="-122"/>
                          <a:cs typeface="Nunito Sans" pitchFamily="34" charset="-120"/>
                        </a:rPr>
                        <a:t>Enrubannage 2026</a:t>
                      </a:r>
                      <a:endParaRPr lang="en-US" sz="1300" dirty="0">
                        <a:latin typeface="Nunito Sans" charset="0"/>
                        <a:ea typeface="Nunito Sans" charset="0"/>
                        <a:cs typeface="Nunito Sans" charset="0"/>
                      </a:endParaRPr>
                    </a:p>
                  </a:txBody>
                  <a:tcPr marL="57785" marR="57785" marT="57785" marB="57785">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820"/>
                        </a:lnSpc>
                        <a:buNone/>
                      </a:pPr>
                      <a:r>
                        <a:rPr lang="en-US" sz="1300" b="1" dirty="0">
                          <a:solidFill>
                            <a:srgbClr val="F6F2E8"/>
                          </a:solidFill>
                          <a:latin typeface="Nunito Sans" pitchFamily="34" charset="0"/>
                          <a:ea typeface="Nunito Sans" pitchFamily="34" charset="-122"/>
                          <a:cs typeface="Nunito Sans" pitchFamily="34" charset="-120"/>
                        </a:rPr>
                        <a:t>Foin 2025</a:t>
                      </a:r>
                      <a:endParaRPr lang="en-US" sz="1300" dirty="0">
                        <a:latin typeface="Nunito Sans" charset="0"/>
                        <a:ea typeface="Nunito Sans" charset="0"/>
                        <a:cs typeface="Nunito Sans" charset="0"/>
                      </a:endParaRPr>
                    </a:p>
                  </a:txBody>
                  <a:tcPr marL="57785" marR="57785" marT="57785" marB="57785">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820"/>
                        </a:lnSpc>
                        <a:buNone/>
                      </a:pPr>
                      <a:r>
                        <a:rPr lang="en-US" sz="1300" b="1" dirty="0">
                          <a:solidFill>
                            <a:srgbClr val="F6F2E8"/>
                          </a:solidFill>
                          <a:latin typeface="Nunito Sans" pitchFamily="34" charset="0"/>
                          <a:ea typeface="Nunito Sans" pitchFamily="34" charset="-122"/>
                          <a:cs typeface="Nunito Sans" pitchFamily="34" charset="-120"/>
                        </a:rPr>
                        <a:t>Foin 2026</a:t>
                      </a:r>
                      <a:endParaRPr lang="en-US" sz="1300" dirty="0">
                        <a:latin typeface="Nunito Sans" charset="0"/>
                        <a:ea typeface="Nunito Sans" charset="0"/>
                        <a:cs typeface="Nunito Sans" charset="0"/>
                      </a:endParaRPr>
                    </a:p>
                  </a:txBody>
                  <a:tcPr marL="57785" marR="57785" marT="57785" marB="57785">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820"/>
                        </a:lnSpc>
                        <a:buNone/>
                      </a:pPr>
                      <a:r>
                        <a:rPr lang="en-US" sz="1300" b="1" dirty="0">
                          <a:solidFill>
                            <a:srgbClr val="F6F2E8"/>
                          </a:solidFill>
                          <a:latin typeface="Nunito Sans" pitchFamily="34" charset="0"/>
                          <a:ea typeface="Nunito Sans" pitchFamily="34" charset="-122"/>
                          <a:cs typeface="Nunito Sans" pitchFamily="34" charset="-120"/>
                        </a:rPr>
                        <a:t>Paille triticale</a:t>
                      </a:r>
                      <a:endParaRPr lang="en-US" sz="1300" dirty="0">
                        <a:latin typeface="Nunito Sans" charset="0"/>
                        <a:ea typeface="Nunito Sans" charset="0"/>
                        <a:cs typeface="Nunito Sans" charset="0"/>
                      </a:endParaRPr>
                    </a:p>
                  </a:txBody>
                  <a:tcPr marL="57785" marR="57785" marT="57785" marB="57785">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820"/>
                        </a:lnSpc>
                        <a:buNone/>
                      </a:pPr>
                      <a:r>
                        <a:rPr lang="en-US" sz="1300" b="1" dirty="0">
                          <a:solidFill>
                            <a:srgbClr val="F6F2E8"/>
                          </a:solidFill>
                          <a:latin typeface="Nunito Sans" pitchFamily="34" charset="0"/>
                          <a:ea typeface="Nunito Sans" pitchFamily="34" charset="-122"/>
                          <a:cs typeface="Nunito Sans" pitchFamily="34" charset="-120"/>
                        </a:rPr>
                        <a:t>Repère</a:t>
                      </a:r>
                      <a:endParaRPr lang="en-US" sz="1300" dirty="0">
                        <a:latin typeface="Nunito Sans" charset="0"/>
                        <a:ea typeface="Nunito Sans" charset="0"/>
                        <a:cs typeface="Nunito Sans" charset="0"/>
                      </a:endParaRPr>
                    </a:p>
                  </a:txBody>
                  <a:tcPr marL="57785" marR="57785" marT="57785" marB="57785">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1E3A2F"/>
                          </a:solidFill>
                          <a:latin typeface="Nunito Sans" pitchFamily="34" charset="0"/>
                          <a:ea typeface="Nunito Sans" pitchFamily="34" charset="-122"/>
                          <a:cs typeface="Nunito Sans" pitchFamily="34" charset="-120"/>
                        </a:rPr>
                        <a:t>Azote, MAT (g)</a:t>
                      </a:r>
                      <a:endParaRPr lang="en-US" sz="1300" dirty="0">
                        <a:latin typeface="Nunito Sans" charset="0"/>
                        <a:ea typeface="Nunito Sans" charset="0"/>
                        <a:cs typeface="Nunito Sans" charset="0"/>
                      </a:endParaRPr>
                    </a:p>
                  </a:txBody>
                  <a:tcPr marL="57785" marR="57785" marT="57785" marB="57785">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84</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78</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61</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25</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110 à 120</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1E3A2F"/>
                          </a:solidFill>
                          <a:latin typeface="Nunito Sans" pitchFamily="34" charset="0"/>
                          <a:ea typeface="Nunito Sans" pitchFamily="34" charset="-122"/>
                          <a:cs typeface="Nunito Sans" pitchFamily="34" charset="-120"/>
                        </a:rPr>
                        <a:t>Énergie (UFL)</a:t>
                      </a:r>
                      <a:endParaRPr lang="en-US" sz="1300" dirty="0">
                        <a:latin typeface="Nunito Sans" charset="0"/>
                        <a:ea typeface="Nunito Sans" charset="0"/>
                        <a:cs typeface="Nunito Sans" charset="0"/>
                      </a:endParaRPr>
                    </a:p>
                  </a:txBody>
                  <a:tcPr marL="57785" marR="57785" marT="57785" marB="57785">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0,80</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0,67</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0,65</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0,52</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0,75 et plus</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1E3A2F"/>
                          </a:solidFill>
                          <a:latin typeface="Nunito Sans" pitchFamily="34" charset="0"/>
                          <a:ea typeface="Nunito Sans" pitchFamily="34" charset="-122"/>
                          <a:cs typeface="Nunito Sans" pitchFamily="34" charset="-120"/>
                        </a:rPr>
                        <a:t>Balance azotée du rumen (g)</a:t>
                      </a:r>
                      <a:endParaRPr lang="en-US" sz="1300" dirty="0">
                        <a:latin typeface="Nunito Sans" charset="0"/>
                        <a:ea typeface="Nunito Sans" charset="0"/>
                        <a:cs typeface="Nunito Sans" charset="0"/>
                      </a:endParaRPr>
                    </a:p>
                  </a:txBody>
                  <a:tcPr marL="57785" marR="57785" marT="57785" marB="57785">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−39</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−38</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−49</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−68</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0 ou plus</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1E3A2F"/>
                          </a:solidFill>
                          <a:latin typeface="Nunito Sans" pitchFamily="34" charset="0"/>
                          <a:ea typeface="Nunito Sans" pitchFamily="34" charset="-122"/>
                          <a:cs typeface="Nunito Sans" pitchFamily="34" charset="-120"/>
                        </a:rPr>
                        <a:t>Calcium (g)</a:t>
                      </a:r>
                      <a:endParaRPr lang="en-US" sz="1300" dirty="0">
                        <a:latin typeface="Nunito Sans" charset="0"/>
                        <a:ea typeface="Nunito Sans" charset="0"/>
                        <a:cs typeface="Nunito Sans" charset="0"/>
                      </a:endParaRPr>
                    </a:p>
                  </a:txBody>
                  <a:tcPr marL="57785" marR="57785" marT="57785" marB="57785">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9,6</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7,3</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5,3</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3,3</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6 à 6,5</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1E3A2F"/>
                          </a:solidFill>
                          <a:latin typeface="Nunito Sans" pitchFamily="34" charset="0"/>
                          <a:ea typeface="Nunito Sans" pitchFamily="34" charset="-122"/>
                          <a:cs typeface="Nunito Sans" pitchFamily="34" charset="-120"/>
                        </a:rPr>
                        <a:t>Potassium (g)</a:t>
                      </a:r>
                      <a:endParaRPr lang="en-US" sz="1300" dirty="0">
                        <a:latin typeface="Nunito Sans" charset="0"/>
                        <a:ea typeface="Nunito Sans" charset="0"/>
                        <a:cs typeface="Nunito Sans" charset="0"/>
                      </a:endParaRPr>
                    </a:p>
                  </a:txBody>
                  <a:tcPr marL="57785" marR="57785" marT="57785" marB="57785">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13,4</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19,7</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18,1</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8,8</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moins de 15</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5"/>
                  </a:ext>
                </a:extLst>
              </a:tr>
              <a:tr h="359271">
                <a:tc>
                  <a:txBody>
                    <a:bodyPr/>
                    <a:lstStyle/>
                    <a:p>
                      <a:pPr marL="0" indent="0">
                        <a:lnSpc>
                          <a:spcPts val="1820"/>
                        </a:lnSpc>
                        <a:buNone/>
                      </a:pPr>
                      <a:r>
                        <a:rPr lang="en-US" sz="1300" dirty="0">
                          <a:solidFill>
                            <a:srgbClr val="1E3A2F"/>
                          </a:solidFill>
                          <a:latin typeface="Nunito Sans" pitchFamily="34" charset="0"/>
                          <a:ea typeface="Nunito Sans" pitchFamily="34" charset="-122"/>
                          <a:cs typeface="Nunito Sans" pitchFamily="34" charset="-120"/>
                        </a:rPr>
                        <a:t>Cuivre (mg)</a:t>
                      </a:r>
                      <a:endParaRPr lang="en-US" sz="1300" dirty="0">
                        <a:latin typeface="Nunito Sans" charset="0"/>
                        <a:ea typeface="Nunito Sans" charset="0"/>
                        <a:cs typeface="Nunito Sans" charset="0"/>
                      </a:endParaRPr>
                    </a:p>
                  </a:txBody>
                  <a:tcPr marL="57785" marR="57785" marT="57785" marB="57785">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5,4</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5,1</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4,2</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2,4</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10</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6"/>
                  </a:ext>
                </a:extLst>
              </a:tr>
              <a:tr h="359271">
                <a:tc>
                  <a:txBody>
                    <a:bodyPr/>
                    <a:lstStyle/>
                    <a:p>
                      <a:pPr marL="0" indent="0">
                        <a:lnSpc>
                          <a:spcPts val="1820"/>
                        </a:lnSpc>
                        <a:buNone/>
                      </a:pPr>
                      <a:r>
                        <a:rPr lang="en-US" sz="1300" dirty="0">
                          <a:solidFill>
                            <a:srgbClr val="1E3A2F"/>
                          </a:solidFill>
                          <a:latin typeface="Nunito Sans" pitchFamily="34" charset="0"/>
                          <a:ea typeface="Nunito Sans" pitchFamily="34" charset="-122"/>
                          <a:cs typeface="Nunito Sans" pitchFamily="34" charset="-120"/>
                        </a:rPr>
                        <a:t>Cendres (g)</a:t>
                      </a:r>
                      <a:endParaRPr lang="en-US" sz="1300" dirty="0">
                        <a:latin typeface="Nunito Sans" charset="0"/>
                        <a:ea typeface="Nunito Sans" charset="0"/>
                        <a:cs typeface="Nunito Sans" charset="0"/>
                      </a:endParaRPr>
                    </a:p>
                  </a:txBody>
                  <a:tcPr marL="57785" marR="57785" marT="57785" marB="57785">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54</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92</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49</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31</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moins de 100</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7"/>
                  </a:ext>
                </a:extLst>
              </a:tr>
              <a:tr h="359271">
                <a:tc>
                  <a:txBody>
                    <a:bodyPr/>
                    <a:lstStyle/>
                    <a:p>
                      <a:pPr marL="0" indent="0">
                        <a:lnSpc>
                          <a:spcPts val="1820"/>
                        </a:lnSpc>
                        <a:buNone/>
                      </a:pPr>
                      <a:r>
                        <a:rPr lang="en-US" sz="1300" dirty="0">
                          <a:solidFill>
                            <a:srgbClr val="1E3A2F"/>
                          </a:solidFill>
                          <a:latin typeface="Nunito Sans" pitchFamily="34" charset="0"/>
                          <a:ea typeface="Nunito Sans" pitchFamily="34" charset="-122"/>
                          <a:cs typeface="Nunito Sans" pitchFamily="34" charset="-120"/>
                        </a:rPr>
                        <a:t>Fer (mg)</a:t>
                      </a:r>
                      <a:endParaRPr lang="en-US" sz="1300" dirty="0">
                        <a:latin typeface="Nunito Sans" charset="0"/>
                        <a:ea typeface="Nunito Sans" charset="0"/>
                        <a:cs typeface="Nunito Sans" charset="0"/>
                      </a:endParaRPr>
                    </a:p>
                  </a:txBody>
                  <a:tcPr marL="57785" marR="57785" marT="57785" marB="57785">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142</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978</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166</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95</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moins de 350</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8"/>
                  </a:ext>
                </a:extLst>
              </a:tr>
            </a:tbl>
          </a:graphicData>
        </a:graphic>
      </p:graphicFrame>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66"/>
                </a:solidFill>
                <a:latin typeface="Nunito Sans" pitchFamily="34" charset="0"/>
                <a:ea typeface="Nunito Sans" pitchFamily="34" charset="-122"/>
                <a:cs typeface="Nunito Sans" pitchFamily="34" charset="-120"/>
              </a:rPr>
              <a:t>Source : analyses LANO, prélèvements du 03/09/2026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2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4F12"/>
                </a:solidFill>
                <a:latin typeface="Nunito Sans" pitchFamily="34" charset="0"/>
                <a:ea typeface="Nunito Sans" pitchFamily="34" charset="-122"/>
                <a:cs typeface="Nunito Sans" pitchFamily="34" charset="-120"/>
              </a:rPr>
              <a:t>ÉTAPE 2 · ANALYSER LES FOURRAGES</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E3A2F"/>
                </a:solidFill>
                <a:latin typeface="Domine" pitchFamily="34" charset="0"/>
                <a:ea typeface="Domine" pitchFamily="34" charset="-122"/>
                <a:cs typeface="Domine" pitchFamily="34" charset="-120"/>
              </a:rPr>
              <a:t>Ce que disent les fourrages</a:t>
            </a:r>
            <a:endParaRPr lang="en-US" sz="3200" dirty="0"/>
          </a:p>
        </p:txBody>
      </p:sp>
      <p:sp>
        <p:nvSpPr>
          <p:cNvPr id="4" name="Shape 2"/>
          <p:cNvSpPr/>
          <p:nvPr/>
        </p:nvSpPr>
        <p:spPr>
          <a:xfrm>
            <a:off x="819150" y="1835051"/>
            <a:ext cx="3407767" cy="1879302"/>
          </a:xfrm>
          <a:prstGeom prst="roundRect">
            <a:avLst>
              <a:gd name="adj" fmla="val 5068"/>
            </a:avLst>
          </a:prstGeom>
          <a:solidFill>
            <a:srgbClr val="FBF9F3"/>
          </a:solidFill>
          <a:ln w="12700">
            <a:solidFill>
              <a:srgbClr val="D8CEB6"/>
            </a:solidFill>
            <a:prstDash val="solid"/>
          </a:ln>
        </p:spPr>
        <p:txBody>
          <a:bodyPr/>
          <a:lstStyle/>
          <a:p>
            <a:endParaRPr lang="fr-FR"/>
          </a:p>
        </p:txBody>
      </p:sp>
      <p:sp>
        <p:nvSpPr>
          <p:cNvPr id="5" name="Text 3"/>
          <p:cNvSpPr/>
          <p:nvPr/>
        </p:nvSpPr>
        <p:spPr>
          <a:xfrm>
            <a:off x="1028700" y="2044601"/>
            <a:ext cx="307832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3A2F"/>
                </a:solidFill>
                <a:latin typeface="Domine" pitchFamily="34" charset="0"/>
                <a:ea typeface="Domine" pitchFamily="34" charset="-122"/>
                <a:cs typeface="Domine" pitchFamily="34" charset="-120"/>
              </a:rPr>
              <a:t>Pas assez d'azote</a:t>
            </a:r>
            <a:endParaRPr lang="en-US" sz="1500" dirty="0"/>
          </a:p>
        </p:txBody>
      </p:sp>
      <p:sp>
        <p:nvSpPr>
          <p:cNvPr id="6" name="Text 4"/>
          <p:cNvSpPr/>
          <p:nvPr/>
        </p:nvSpPr>
        <p:spPr>
          <a:xfrm>
            <a:off x="1028700" y="2349401"/>
            <a:ext cx="3078327" cy="118080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448"/>
                </a:solidFill>
                <a:latin typeface="Nunito Sans" pitchFamily="34" charset="0"/>
                <a:ea typeface="Nunito Sans" pitchFamily="34" charset="-122"/>
                <a:cs typeface="Nunito Sans" pitchFamily="34" charset="-120"/>
              </a:rPr>
              <a:t>MAT de 61 à 84 g pour un repère de 110 à 120. Balance du rumen négative : les microbes manquent d'azote pour digérer l'énergie. L'enrubannage a été récolté tard (15 mai).</a:t>
            </a:r>
            <a:endParaRPr lang="en-US" sz="1300" dirty="0"/>
          </a:p>
        </p:txBody>
      </p:sp>
      <p:sp>
        <p:nvSpPr>
          <p:cNvPr id="7" name="Shape 5"/>
          <p:cNvSpPr/>
          <p:nvPr/>
        </p:nvSpPr>
        <p:spPr>
          <a:xfrm>
            <a:off x="4392017" y="1835051"/>
            <a:ext cx="3407866" cy="1879302"/>
          </a:xfrm>
          <a:prstGeom prst="roundRect">
            <a:avLst>
              <a:gd name="adj" fmla="val 5068"/>
            </a:avLst>
          </a:prstGeom>
          <a:solidFill>
            <a:srgbClr val="FBF9F3"/>
          </a:solidFill>
          <a:ln w="12700">
            <a:solidFill>
              <a:srgbClr val="D8CEB6"/>
            </a:solidFill>
            <a:prstDash val="solid"/>
          </a:ln>
        </p:spPr>
        <p:txBody>
          <a:bodyPr/>
          <a:lstStyle/>
          <a:p>
            <a:endParaRPr lang="fr-FR"/>
          </a:p>
        </p:txBody>
      </p:sp>
      <p:sp>
        <p:nvSpPr>
          <p:cNvPr id="8" name="Text 6"/>
          <p:cNvSpPr/>
          <p:nvPr/>
        </p:nvSpPr>
        <p:spPr>
          <a:xfrm>
            <a:off x="4601567" y="2044601"/>
            <a:ext cx="307842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3A2F"/>
                </a:solidFill>
                <a:latin typeface="Domine" pitchFamily="34" charset="0"/>
                <a:ea typeface="Domine" pitchFamily="34" charset="-122"/>
                <a:cs typeface="Domine" pitchFamily="34" charset="-120"/>
              </a:rPr>
              <a:t>Des minéraux déséquilibrés</a:t>
            </a:r>
            <a:endParaRPr lang="en-US" sz="1500" dirty="0"/>
          </a:p>
        </p:txBody>
      </p:sp>
      <p:sp>
        <p:nvSpPr>
          <p:cNvPr id="9" name="Text 7"/>
          <p:cNvSpPr/>
          <p:nvPr/>
        </p:nvSpPr>
        <p:spPr>
          <a:xfrm>
            <a:off x="4601567" y="2349401"/>
            <a:ext cx="3078429" cy="94972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448"/>
                </a:solidFill>
                <a:latin typeface="Nunito Sans" pitchFamily="34" charset="0"/>
                <a:ea typeface="Nunito Sans" pitchFamily="34" charset="-122"/>
                <a:cs typeface="Nunito Sans" pitchFamily="34" charset="-120"/>
              </a:rPr>
              <a:t>Riches en calcium et en potassium, très pauvres en cuivre et en zinc. Le foin 2025 (19,7 g de potassium) ne convient pas aux vaches proches du vêlage.</a:t>
            </a:r>
            <a:endParaRPr lang="en-US" sz="1300" dirty="0"/>
          </a:p>
        </p:txBody>
      </p:sp>
      <p:sp>
        <p:nvSpPr>
          <p:cNvPr id="10" name="Shape 8"/>
          <p:cNvSpPr/>
          <p:nvPr/>
        </p:nvSpPr>
        <p:spPr>
          <a:xfrm>
            <a:off x="7964984" y="1835051"/>
            <a:ext cx="3407866" cy="1879302"/>
          </a:xfrm>
          <a:prstGeom prst="roundRect">
            <a:avLst>
              <a:gd name="adj" fmla="val 5068"/>
            </a:avLst>
          </a:prstGeom>
          <a:solidFill>
            <a:srgbClr val="FBF9F3"/>
          </a:solidFill>
          <a:ln w="12700">
            <a:solidFill>
              <a:srgbClr val="D8CEB6"/>
            </a:solidFill>
            <a:prstDash val="solid"/>
          </a:ln>
        </p:spPr>
        <p:txBody>
          <a:bodyPr/>
          <a:lstStyle/>
          <a:p>
            <a:endParaRPr lang="fr-FR"/>
          </a:p>
        </p:txBody>
      </p:sp>
      <p:sp>
        <p:nvSpPr>
          <p:cNvPr id="11" name="Text 9"/>
          <p:cNvSpPr/>
          <p:nvPr/>
        </p:nvSpPr>
        <p:spPr>
          <a:xfrm>
            <a:off x="8174534" y="2044601"/>
            <a:ext cx="307842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3A2F"/>
                </a:solidFill>
                <a:latin typeface="Domine" pitchFamily="34" charset="0"/>
                <a:ea typeface="Domine" pitchFamily="34" charset="-122"/>
                <a:cs typeface="Domine" pitchFamily="34" charset="-120"/>
              </a:rPr>
              <a:t>De la terre dans le foin 2025</a:t>
            </a:r>
            <a:endParaRPr lang="en-US" sz="1500" dirty="0"/>
          </a:p>
        </p:txBody>
      </p:sp>
      <p:sp>
        <p:nvSpPr>
          <p:cNvPr id="12" name="Text 10"/>
          <p:cNvSpPr/>
          <p:nvPr/>
        </p:nvSpPr>
        <p:spPr>
          <a:xfrm>
            <a:off x="8174534" y="2349401"/>
            <a:ext cx="3078429" cy="94972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448"/>
                </a:solidFill>
                <a:latin typeface="Nunito Sans" pitchFamily="34" charset="0"/>
                <a:ea typeface="Nunito Sans" pitchFamily="34" charset="-122"/>
                <a:cs typeface="Nunito Sans" pitchFamily="34" charset="-120"/>
              </a:rPr>
              <a:t>Cendres à 92 g et fer à 978 mg par kg de MS : fauche trop basse ou taupinières. Le fer en excès gêne l'absorption du cuivre et du zinc.</a:t>
            </a:r>
            <a:endParaRPr lang="en-US" sz="1300" dirty="0"/>
          </a:p>
        </p:txBody>
      </p:sp>
      <p:sp>
        <p:nvSpPr>
          <p:cNvPr id="13" name="Shape 11"/>
          <p:cNvSpPr/>
          <p:nvPr/>
        </p:nvSpPr>
        <p:spPr>
          <a:xfrm>
            <a:off x="812800" y="3974703"/>
            <a:ext cx="10566400" cy="635000"/>
          </a:xfrm>
          <a:prstGeom prst="roundRect">
            <a:avLst>
              <a:gd name="adj" fmla="val 16000"/>
            </a:avLst>
          </a:prstGeom>
          <a:solidFill>
            <a:srgbClr val="ECE5D3"/>
          </a:solidFill>
          <a:ln/>
        </p:spPr>
        <p:txBody>
          <a:bodyPr/>
          <a:lstStyle/>
          <a:p>
            <a:endParaRPr lang="fr-FR"/>
          </a:p>
        </p:txBody>
      </p:sp>
      <p:pic>
        <p:nvPicPr>
          <p:cNvPr id="14" name="Image 0" descr="CheckCircle"/>
          <p:cNvPicPr>
            <a:picLocks noChangeAspect="1"/>
          </p:cNvPicPr>
          <p:nvPr/>
        </p:nvPicPr>
        <p:blipFill>
          <a:blip r:embed="rId3"/>
          <a:srcRect/>
          <a:stretch/>
        </p:blipFill>
        <p:spPr>
          <a:xfrm>
            <a:off x="990600" y="4152503"/>
            <a:ext cx="279400" cy="279400"/>
          </a:xfrm>
          <a:prstGeom prst="rect">
            <a:avLst/>
          </a:prstGeom>
        </p:spPr>
      </p:pic>
      <p:sp>
        <p:nvSpPr>
          <p:cNvPr id="15" name="Text 12"/>
          <p:cNvSpPr/>
          <p:nvPr/>
        </p:nvSpPr>
        <p:spPr>
          <a:xfrm>
            <a:off x="1397000" y="4176613"/>
            <a:ext cx="7902355"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E3A2F"/>
                </a:solidFill>
                <a:latin typeface="Nunito Sans" pitchFamily="34" charset="0"/>
                <a:ea typeface="Nunito Sans" pitchFamily="34" charset="-122"/>
                <a:cs typeface="Nunito Sans" pitchFamily="34" charset="-120"/>
              </a:rPr>
              <a:t>Bon point :</a:t>
            </a:r>
            <a:r>
              <a:rPr lang="en-US" sz="1300" dirty="0">
                <a:solidFill>
                  <a:srgbClr val="1E3A2F"/>
                </a:solidFill>
                <a:latin typeface="Nunito Sans" pitchFamily="34" charset="0"/>
                <a:ea typeface="Nunito Sans" pitchFamily="34" charset="-122"/>
                <a:cs typeface="Nunito Sans" pitchFamily="34" charset="-120"/>
              </a:rPr>
              <a:t> le triticale 2026 est sain. DON, zéaralénone et fumonisines sont sous les seuils de détection.</a:t>
            </a:r>
            <a:endParaRPr lang="en-US" sz="1300" dirty="0"/>
          </a:p>
        </p:txBody>
      </p:sp>
      <p:sp>
        <p:nvSpPr>
          <p:cNvPr id="16" name="Text 1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66"/>
                </a:solidFill>
                <a:latin typeface="Nunito Sans" pitchFamily="34" charset="0"/>
                <a:ea typeface="Nunito Sans" pitchFamily="34" charset="-122"/>
                <a:cs typeface="Nunito Sans" pitchFamily="34" charset="-120"/>
              </a:rPr>
              <a:t>EARL </a:t>
            </a:r>
            <a:r>
              <a:rPr lang="en-US" sz="1200" dirty="0" err="1">
                <a:solidFill>
                  <a:srgbClr val="6B7266"/>
                </a:solidFill>
                <a:latin typeface="Nunito Sans" pitchFamily="34" charset="0"/>
                <a:ea typeface="Nunito Sans" pitchFamily="34" charset="-122"/>
                <a:cs typeface="Nunito Sans" pitchFamily="34" charset="-120"/>
              </a:rPr>
              <a:t>Belvache</a:t>
            </a:r>
            <a:r>
              <a:rPr lang="en-US" sz="1200" dirty="0">
                <a:solidFill>
                  <a:srgbClr val="6B7266"/>
                </a:solidFill>
                <a:latin typeface="Nunito Sans" pitchFamily="34" charset="0"/>
                <a:ea typeface="Nunito Sans" pitchFamily="34" charset="-122"/>
                <a:cs typeface="Nunito Sans" pitchFamily="34" charset="-120"/>
              </a:rPr>
              <a:t> · approche globale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2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4F12"/>
                </a:solidFill>
                <a:latin typeface="Nunito Sans" pitchFamily="34" charset="0"/>
                <a:ea typeface="Nunito Sans" pitchFamily="34" charset="-122"/>
                <a:cs typeface="Nunito Sans" pitchFamily="34" charset="-120"/>
              </a:rPr>
              <a:t>ÉTAPE 2 · ANALYSER LES FOURRAGES</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E3A2F"/>
                </a:solidFill>
                <a:latin typeface="Domine" pitchFamily="34" charset="0"/>
                <a:ea typeface="Domine" pitchFamily="34" charset="-122"/>
                <a:cs typeface="Domine" pitchFamily="34" charset="-120"/>
              </a:rPr>
              <a:t>Le minéral et l'eau, souvent oubliés</a:t>
            </a:r>
            <a:endParaRPr lang="en-US" sz="3200" dirty="0"/>
          </a:p>
        </p:txBody>
      </p:sp>
      <p:pic>
        <p:nvPicPr>
          <p:cNvPr id="4" name="Image 0" descr="Étiquette du sac de minéral Viamin Elite SEM photographiée dans l'élevage"/>
          <p:cNvPicPr>
            <a:picLocks noChangeAspect="1"/>
          </p:cNvPicPr>
          <p:nvPr/>
        </p:nvPicPr>
        <p:blipFill>
          <a:blip r:embed="rId3"/>
          <a:srcRect t="45" b="45"/>
          <a:stretch/>
        </p:blipFill>
        <p:spPr>
          <a:xfrm>
            <a:off x="812800" y="1828701"/>
            <a:ext cx="3810000" cy="2628900"/>
          </a:xfrm>
          <a:prstGeom prst="roundRect">
            <a:avLst>
              <a:gd name="adj" fmla="val 3865"/>
            </a:avLst>
          </a:prstGeom>
        </p:spPr>
      </p:pic>
      <p:sp>
        <p:nvSpPr>
          <p:cNvPr id="5" name="Text 2"/>
          <p:cNvSpPr/>
          <p:nvPr/>
        </p:nvSpPr>
        <p:spPr>
          <a:xfrm>
            <a:off x="812800" y="4533801"/>
            <a:ext cx="3924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L'étiquette du sac, photographiée pendant la visite</a:t>
            </a:r>
            <a:endParaRPr lang="en-US" sz="1200" dirty="0"/>
          </a:p>
        </p:txBody>
      </p:sp>
      <p:sp>
        <p:nvSpPr>
          <p:cNvPr id="6" name="Shape 3"/>
          <p:cNvSpPr/>
          <p:nvPr/>
        </p:nvSpPr>
        <p:spPr>
          <a:xfrm>
            <a:off x="4883150" y="1835051"/>
            <a:ext cx="6489700" cy="1370310"/>
          </a:xfrm>
          <a:prstGeom prst="roundRect">
            <a:avLst>
              <a:gd name="adj" fmla="val 6951"/>
            </a:avLst>
          </a:prstGeom>
          <a:solidFill>
            <a:srgbClr val="FBF9F3"/>
          </a:solidFill>
          <a:ln w="12700">
            <a:solidFill>
              <a:srgbClr val="D8CEB6"/>
            </a:solidFill>
            <a:prstDash val="solid"/>
          </a:ln>
        </p:spPr>
        <p:txBody>
          <a:bodyPr/>
          <a:lstStyle/>
          <a:p>
            <a:endParaRPr lang="fr-FR"/>
          </a:p>
        </p:txBody>
      </p:sp>
      <p:sp>
        <p:nvSpPr>
          <p:cNvPr id="7" name="Text 4"/>
          <p:cNvSpPr/>
          <p:nvPr/>
        </p:nvSpPr>
        <p:spPr>
          <a:xfrm>
            <a:off x="5092700" y="2044601"/>
            <a:ext cx="6252718" cy="210245"/>
          </a:xfrm>
          <a:prstGeom prst="rect">
            <a:avLst/>
          </a:prstGeom>
          <a:noFill/>
          <a:ln/>
        </p:spPr>
        <p:txBody>
          <a:bodyPr wrap="square" lIns="0" tIns="0" rIns="0" bIns="0" rtlCol="0" anchor="t">
            <a:normAutofit/>
          </a:bodyPr>
          <a:lstStyle/>
          <a:p>
            <a:pPr marL="0" indent="0" algn="l">
              <a:lnSpc>
                <a:spcPts val="1474"/>
              </a:lnSpc>
              <a:buNone/>
            </a:pPr>
            <a:r>
              <a:rPr lang="en-US" sz="1228" b="1" dirty="0">
                <a:solidFill>
                  <a:srgbClr val="1E3A2F"/>
                </a:solidFill>
                <a:latin typeface="Domine" pitchFamily="34" charset="0"/>
                <a:ea typeface="Domine" pitchFamily="34" charset="-122"/>
                <a:cs typeface="Domine" pitchFamily="34" charset="-120"/>
              </a:rPr>
              <a:t>Viamin Elite SEM</a:t>
            </a:r>
            <a:endParaRPr lang="en-US" sz="1228" dirty="0"/>
          </a:p>
        </p:txBody>
      </p:sp>
      <p:sp>
        <p:nvSpPr>
          <p:cNvPr id="8" name="Text 5"/>
          <p:cNvSpPr/>
          <p:nvPr/>
        </p:nvSpPr>
        <p:spPr>
          <a:xfrm>
            <a:off x="5212271" y="2305645"/>
            <a:ext cx="6125528" cy="715566"/>
          </a:xfrm>
          <a:prstGeom prst="rect">
            <a:avLst/>
          </a:prstGeom>
          <a:noFill/>
          <a:ln/>
        </p:spPr>
        <p:txBody>
          <a:bodyPr wrap="square" lIns="0" tIns="0" rIns="0" bIns="0" rtlCol="0" anchor="t">
            <a:normAutofit/>
          </a:bodyPr>
          <a:lstStyle/>
          <a:p>
            <a:pPr marL="134430" indent="-134430" algn="l">
              <a:lnSpc>
                <a:spcPts val="1365"/>
              </a:lnSpc>
              <a:buSzPct val="100000"/>
              <a:buChar char="•"/>
            </a:pPr>
            <a:r>
              <a:rPr lang="en-US" sz="975" dirty="0">
                <a:solidFill>
                  <a:srgbClr val="4A5448"/>
                </a:solidFill>
                <a:latin typeface="Nunito Sans" pitchFamily="34" charset="0"/>
                <a:ea typeface="Nunito Sans" pitchFamily="34" charset="-122"/>
                <a:cs typeface="Nunito Sans" pitchFamily="34" charset="-120"/>
              </a:rPr>
              <a:t>Rapport calcium/phosphore de 3,1 : il ajoute du calcium à des fourrages déjà riches.</a:t>
            </a:r>
            <a:endParaRPr lang="en-US" sz="975" dirty="0"/>
          </a:p>
          <a:p>
            <a:pPr marL="134430" indent="-134430" algn="l">
              <a:lnSpc>
                <a:spcPts val="1365"/>
              </a:lnSpc>
              <a:buSzPct val="100000"/>
              <a:buChar char="•"/>
            </a:pPr>
            <a:r>
              <a:rPr lang="en-US" sz="975" dirty="0">
                <a:solidFill>
                  <a:srgbClr val="4A5448"/>
                </a:solidFill>
                <a:latin typeface="Nunito Sans" pitchFamily="34" charset="0"/>
                <a:ea typeface="Nunito Sans" pitchFamily="34" charset="-122"/>
                <a:cs typeface="Nunito Sans" pitchFamily="34" charset="-120"/>
              </a:rPr>
              <a:t>Date limite au 13/04/2025 sur le sac : vitamines A, D3 et E probablement dégradées.</a:t>
            </a:r>
            <a:endParaRPr lang="en-US" sz="975" dirty="0"/>
          </a:p>
          <a:p>
            <a:pPr marL="134430" indent="-134430" algn="l">
              <a:lnSpc>
                <a:spcPts val="1365"/>
              </a:lnSpc>
              <a:buSzPct val="100000"/>
              <a:buChar char="•"/>
            </a:pPr>
            <a:r>
              <a:rPr lang="en-US" sz="975" dirty="0">
                <a:solidFill>
                  <a:srgbClr val="4A5448"/>
                </a:solidFill>
                <a:latin typeface="Nunito Sans" pitchFamily="34" charset="0"/>
                <a:ea typeface="Nunito Sans" pitchFamily="34" charset="-122"/>
                <a:cs typeface="Nunito Sans" pitchFamily="34" charset="-120"/>
              </a:rPr>
              <a:t>Sur le papier, 110 g/jour couvrent sélénium et iode. La prise de sang dit le contraire : la consommation réelle est à vérifier.</a:t>
            </a:r>
            <a:endParaRPr lang="en-US" sz="975" dirty="0"/>
          </a:p>
        </p:txBody>
      </p:sp>
      <p:sp>
        <p:nvSpPr>
          <p:cNvPr id="9" name="Shape 6"/>
          <p:cNvSpPr/>
          <p:nvPr/>
        </p:nvSpPr>
        <p:spPr>
          <a:xfrm>
            <a:off x="4883150" y="3370461"/>
            <a:ext cx="6489700" cy="1370310"/>
          </a:xfrm>
          <a:prstGeom prst="roundRect">
            <a:avLst>
              <a:gd name="adj" fmla="val 6951"/>
            </a:avLst>
          </a:prstGeom>
          <a:solidFill>
            <a:srgbClr val="FBF9F3"/>
          </a:solidFill>
          <a:ln w="12700">
            <a:solidFill>
              <a:srgbClr val="D8CEB6"/>
            </a:solidFill>
            <a:prstDash val="solid"/>
          </a:ln>
        </p:spPr>
        <p:txBody>
          <a:bodyPr/>
          <a:lstStyle/>
          <a:p>
            <a:endParaRPr lang="fr-FR"/>
          </a:p>
        </p:txBody>
      </p:sp>
      <p:sp>
        <p:nvSpPr>
          <p:cNvPr id="10" name="Text 7"/>
          <p:cNvSpPr/>
          <p:nvPr/>
        </p:nvSpPr>
        <p:spPr>
          <a:xfrm>
            <a:off x="5092700" y="3580011"/>
            <a:ext cx="625271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3A2F"/>
                </a:solidFill>
                <a:latin typeface="Domine" pitchFamily="34" charset="0"/>
                <a:ea typeface="Domine" pitchFamily="34" charset="-122"/>
                <a:cs typeface="Domine" pitchFamily="34" charset="-120"/>
              </a:rPr>
              <a:t>L'eau de source</a:t>
            </a:r>
            <a:endParaRPr lang="en-US" sz="1500" dirty="0"/>
          </a:p>
        </p:txBody>
      </p:sp>
      <p:sp>
        <p:nvSpPr>
          <p:cNvPr id="11" name="Text 8"/>
          <p:cNvSpPr/>
          <p:nvPr/>
        </p:nvSpPr>
        <p:spPr>
          <a:xfrm>
            <a:off x="5191506" y="3884811"/>
            <a:ext cx="6146292" cy="452041"/>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4A5448"/>
                </a:solidFill>
                <a:latin typeface="Nunito Sans" pitchFamily="34" charset="0"/>
                <a:ea typeface="Nunito Sans" pitchFamily="34" charset="-122"/>
                <a:cs typeface="Nunito Sans" pitchFamily="34" charset="-120"/>
              </a:rPr>
              <a:t>Fer à 39 µg/l : conforme (seuil 200).</a:t>
            </a:r>
            <a:endParaRPr lang="en-US" sz="1200" dirty="0"/>
          </a:p>
          <a:p>
            <a:pPr marL="155194" indent="-155194" algn="l">
              <a:lnSpc>
                <a:spcPts val="1680"/>
              </a:lnSpc>
              <a:buSzPct val="100000"/>
              <a:buChar char="•"/>
            </a:pPr>
            <a:r>
              <a:rPr lang="en-US" sz="1200" dirty="0">
                <a:solidFill>
                  <a:srgbClr val="4A5448"/>
                </a:solidFill>
                <a:latin typeface="Nunito Sans" pitchFamily="34" charset="0"/>
                <a:ea typeface="Nunito Sans" pitchFamily="34" charset="-122"/>
                <a:cs typeface="Nunito Sans" pitchFamily="34" charset="-120"/>
              </a:rPr>
              <a:t>Reste à analyser : bactériologie, nitrates, pH, dureté, sulfates.</a:t>
            </a:r>
            <a:endParaRPr lang="en-US" sz="1200" dirty="0"/>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66"/>
                </a:solidFill>
                <a:latin typeface="Nunito Sans" pitchFamily="34" charset="0"/>
                <a:ea typeface="Nunito Sans" pitchFamily="34" charset="-122"/>
                <a:cs typeface="Nunito Sans" pitchFamily="34" charset="-120"/>
              </a:rPr>
              <a:t>EARL </a:t>
            </a:r>
            <a:r>
              <a:rPr lang="en-US" sz="1200" dirty="0" err="1">
                <a:solidFill>
                  <a:srgbClr val="6B7266"/>
                </a:solidFill>
                <a:latin typeface="Nunito Sans" pitchFamily="34" charset="0"/>
                <a:ea typeface="Nunito Sans" pitchFamily="34" charset="-122"/>
                <a:cs typeface="Nunito Sans" pitchFamily="34" charset="-120"/>
              </a:rPr>
              <a:t>Belvache</a:t>
            </a:r>
            <a:r>
              <a:rPr lang="en-US" sz="1200" dirty="0">
                <a:solidFill>
                  <a:srgbClr val="6B7266"/>
                </a:solidFill>
                <a:latin typeface="Nunito Sans" pitchFamily="34" charset="0"/>
                <a:ea typeface="Nunito Sans" pitchFamily="34" charset="-122"/>
                <a:cs typeface="Nunito Sans" pitchFamily="34" charset="-120"/>
              </a:rPr>
              <a:t> · approche globale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2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4F12"/>
                </a:solidFill>
                <a:latin typeface="Nunito Sans" pitchFamily="34" charset="0"/>
                <a:ea typeface="Nunito Sans" pitchFamily="34" charset="-122"/>
                <a:cs typeface="Nunito Sans" pitchFamily="34" charset="-120"/>
              </a:rPr>
              <a:t>ÉTAPE 3 · MESURER LES ANIMAUX</a:t>
            </a:r>
            <a:endParaRPr lang="en-US" sz="1200" dirty="0"/>
          </a:p>
        </p:txBody>
      </p:sp>
      <p:sp>
        <p:nvSpPr>
          <p:cNvPr id="3" name="Text 1"/>
          <p:cNvSpPr/>
          <p:nvPr/>
        </p:nvSpPr>
        <p:spPr>
          <a:xfrm>
            <a:off x="812800" y="1127720"/>
            <a:ext cx="10883392" cy="919361"/>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E3A2F"/>
                </a:solidFill>
                <a:latin typeface="Domine" pitchFamily="34" charset="0"/>
                <a:ea typeface="Domine" pitchFamily="34" charset="-122"/>
                <a:cs typeface="Domine" pitchFamily="34" charset="-120"/>
              </a:rPr>
              <a:t>Mesures terrain sur 5 vaches en préparation au vêlage</a:t>
            </a:r>
            <a:endParaRPr lang="en-US" sz="3200" dirty="0"/>
          </a:p>
        </p:txBody>
      </p:sp>
      <p:sp>
        <p:nvSpPr>
          <p:cNvPr id="4" name="Shape 2"/>
          <p:cNvSpPr/>
          <p:nvPr/>
        </p:nvSpPr>
        <p:spPr>
          <a:xfrm>
            <a:off x="11376025" y="2275681"/>
            <a:ext cx="0" cy="2174677"/>
          </a:xfrm>
          <a:prstGeom prst="line">
            <a:avLst/>
          </a:prstGeom>
          <a:noFill/>
          <a:ln w="6350">
            <a:solidFill>
              <a:srgbClr val="D8CEB6"/>
            </a:solidFill>
            <a:prstDash val="solid"/>
          </a:ln>
        </p:spPr>
        <p:txBody>
          <a:bodyPr/>
          <a:lstStyle/>
          <a:p>
            <a:endParaRPr lang="fr-FR"/>
          </a:p>
        </p:txBody>
      </p:sp>
      <p:sp>
        <p:nvSpPr>
          <p:cNvPr id="5" name="Shape 3"/>
          <p:cNvSpPr/>
          <p:nvPr/>
        </p:nvSpPr>
        <p:spPr>
          <a:xfrm>
            <a:off x="812800" y="4447183"/>
            <a:ext cx="10566400" cy="0"/>
          </a:xfrm>
          <a:prstGeom prst="line">
            <a:avLst/>
          </a:prstGeom>
          <a:noFill/>
          <a:ln w="6350">
            <a:solidFill>
              <a:srgbClr val="D8CEB6"/>
            </a:solidFill>
            <a:prstDash val="solid"/>
          </a:ln>
        </p:spPr>
        <p:txBody>
          <a:bodyPr/>
          <a:lstStyle/>
          <a:p>
            <a:endParaRPr lang="fr-F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288381"/>
          <a:ext cx="10547350" cy="2155626"/>
        </p:xfrm>
        <a:graphic>
          <a:graphicData uri="http://schemas.openxmlformats.org/drawingml/2006/table">
            <a:tbl>
              <a:tblPr/>
              <a:tblGrid>
                <a:gridCol w="2531364">
                  <a:extLst>
                    <a:ext uri="{9D8B030D-6E8A-4147-A177-3AD203B41FA5}">
                      <a16:colId xmlns:a16="http://schemas.microsoft.com/office/drawing/2014/main" val="20000"/>
                    </a:ext>
                  </a:extLst>
                </a:gridCol>
                <a:gridCol w="2003997">
                  <a:extLst>
                    <a:ext uri="{9D8B030D-6E8A-4147-A177-3AD203B41FA5}">
                      <a16:colId xmlns:a16="http://schemas.microsoft.com/office/drawing/2014/main" val="20001"/>
                    </a:ext>
                  </a:extLst>
                </a:gridCol>
                <a:gridCol w="1898523">
                  <a:extLst>
                    <a:ext uri="{9D8B030D-6E8A-4147-A177-3AD203B41FA5}">
                      <a16:colId xmlns:a16="http://schemas.microsoft.com/office/drawing/2014/main" val="20002"/>
                    </a:ext>
                  </a:extLst>
                </a:gridCol>
                <a:gridCol w="4113466">
                  <a:extLst>
                    <a:ext uri="{9D8B030D-6E8A-4147-A177-3AD203B41FA5}">
                      <a16:colId xmlns:a16="http://schemas.microsoft.com/office/drawing/2014/main" val="20003"/>
                    </a:ext>
                  </a:extLst>
                </a:gridCol>
              </a:tblGrid>
              <a:tr h="359271">
                <a:tc>
                  <a:txBody>
                    <a:bodyPr/>
                    <a:lstStyle/>
                    <a:p>
                      <a:pPr marL="0" indent="0">
                        <a:lnSpc>
                          <a:spcPts val="1820"/>
                        </a:lnSpc>
                        <a:buNone/>
                      </a:pPr>
                      <a:r>
                        <a:rPr lang="en-US" sz="1300" b="1" dirty="0">
                          <a:solidFill>
                            <a:srgbClr val="F6F2E8"/>
                          </a:solidFill>
                          <a:latin typeface="Nunito Sans" pitchFamily="34" charset="0"/>
                          <a:ea typeface="Nunito Sans" pitchFamily="34" charset="-122"/>
                          <a:cs typeface="Nunito Sans" pitchFamily="34" charset="-120"/>
                        </a:rPr>
                        <a:t>Mesure</a:t>
                      </a:r>
                      <a:endParaRPr lang="en-US" sz="1300" dirty="0">
                        <a:latin typeface="Nunito Sans" charset="0"/>
                        <a:ea typeface="Nunito Sans" charset="0"/>
                        <a:cs typeface="Nunito Sans" charset="0"/>
                      </a:endParaRPr>
                    </a:p>
                  </a:txBody>
                  <a:tcPr marL="57785" marR="57785" marT="57785" marB="57785">
                    <a:lnL w="12700" cap="flat" cmpd="sng" algn="ctr">
                      <a:solidFill>
                        <a:srgbClr val="C4C1B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820"/>
                        </a:lnSpc>
                        <a:buNone/>
                      </a:pPr>
                      <a:r>
                        <a:rPr lang="en-US" sz="1300" b="1" dirty="0">
                          <a:solidFill>
                            <a:srgbClr val="F6F2E8"/>
                          </a:solidFill>
                          <a:latin typeface="Nunito Sans" pitchFamily="34" charset="0"/>
                          <a:ea typeface="Nunito Sans" pitchFamily="34" charset="-122"/>
                          <a:cs typeface="Nunito Sans" pitchFamily="34" charset="-120"/>
                        </a:rPr>
                        <a:t>Relevé</a:t>
                      </a:r>
                      <a:endParaRPr lang="en-US" sz="1300" dirty="0">
                        <a:latin typeface="Nunito Sans" charset="0"/>
                        <a:ea typeface="Nunito Sans" charset="0"/>
                        <a:cs typeface="Nunito Sans" charset="0"/>
                      </a:endParaRPr>
                    </a:p>
                  </a:txBody>
                  <a:tcPr marL="57785" marR="57785" marT="57785" marB="57785">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820"/>
                        </a:lnSpc>
                        <a:buNone/>
                      </a:pPr>
                      <a:r>
                        <a:rPr lang="en-US" sz="1300" b="1" dirty="0">
                          <a:solidFill>
                            <a:srgbClr val="F6F2E8"/>
                          </a:solidFill>
                          <a:latin typeface="Nunito Sans" pitchFamily="34" charset="0"/>
                          <a:ea typeface="Nunito Sans" pitchFamily="34" charset="-122"/>
                          <a:cs typeface="Nunito Sans" pitchFamily="34" charset="-120"/>
                        </a:rPr>
                        <a:t>Référence</a:t>
                      </a:r>
                      <a:endParaRPr lang="en-US" sz="1300" dirty="0">
                        <a:latin typeface="Nunito Sans" charset="0"/>
                        <a:ea typeface="Nunito Sans" charset="0"/>
                        <a:cs typeface="Nunito Sans" charset="0"/>
                      </a:endParaRPr>
                    </a:p>
                  </a:txBody>
                  <a:tcPr marL="57785" marR="57785" marT="57785" marB="57785">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820"/>
                        </a:lnSpc>
                        <a:buNone/>
                      </a:pPr>
                      <a:r>
                        <a:rPr lang="en-US" sz="1300" b="1" dirty="0">
                          <a:solidFill>
                            <a:srgbClr val="F6F2E8"/>
                          </a:solidFill>
                          <a:latin typeface="Nunito Sans" pitchFamily="34" charset="0"/>
                          <a:ea typeface="Nunito Sans" pitchFamily="34" charset="-122"/>
                          <a:cs typeface="Nunito Sans" pitchFamily="34" charset="-120"/>
                        </a:rPr>
                        <a:t>Ce que ça indique</a:t>
                      </a:r>
                      <a:endParaRPr lang="en-US" sz="1300" dirty="0">
                        <a:latin typeface="Nunito Sans" charset="0"/>
                        <a:ea typeface="Nunito Sans" charset="0"/>
                        <a:cs typeface="Nunito Sans" charset="0"/>
                      </a:endParaRPr>
                    </a:p>
                  </a:txBody>
                  <a:tcPr marL="57785" marR="57785" marT="57785" marB="57785">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1E3A2F"/>
                          </a:solidFill>
                          <a:latin typeface="Nunito Sans" pitchFamily="34" charset="0"/>
                          <a:ea typeface="Nunito Sans" pitchFamily="34" charset="-122"/>
                          <a:cs typeface="Nunito Sans" pitchFamily="34" charset="-120"/>
                        </a:rPr>
                        <a:t>pH des bouses</a:t>
                      </a:r>
                      <a:endParaRPr lang="en-US" sz="1300" dirty="0">
                        <a:latin typeface="Nunito Sans" charset="0"/>
                        <a:ea typeface="Nunito Sans" charset="0"/>
                        <a:cs typeface="Nunito Sans" charset="0"/>
                      </a:endParaRPr>
                    </a:p>
                  </a:txBody>
                  <a:tcPr marL="57785" marR="57785" marT="57785" marB="57785">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5,69 à 5,94</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6,5 à 6,8</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Acidose digestive sur les 5 vaches</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1E3A2F"/>
                          </a:solidFill>
                          <a:latin typeface="Nunito Sans" pitchFamily="34" charset="0"/>
                          <a:ea typeface="Nunito Sans" pitchFamily="34" charset="-122"/>
                          <a:cs typeface="Nunito Sans" pitchFamily="34" charset="-120"/>
                        </a:rPr>
                        <a:t>Redox des bouses</a:t>
                      </a:r>
                      <a:endParaRPr lang="en-US" sz="1300" dirty="0">
                        <a:latin typeface="Nunito Sans" charset="0"/>
                        <a:ea typeface="Nunito Sans" charset="0"/>
                        <a:cs typeface="Nunito Sans" charset="0"/>
                      </a:endParaRPr>
                    </a:p>
                  </a:txBody>
                  <a:tcPr marL="57785" marR="57785" marT="57785" marB="57785">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−44 à −136 mV</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−185 à −220 mV</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Fermentation digestive peu réductrice</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1E3A2F"/>
                          </a:solidFill>
                          <a:latin typeface="Nunito Sans" pitchFamily="34" charset="0"/>
                          <a:ea typeface="Nunito Sans" pitchFamily="34" charset="-122"/>
                          <a:cs typeface="Nunito Sans" pitchFamily="34" charset="-120"/>
                        </a:rPr>
                        <a:t>Glycémie</a:t>
                      </a:r>
                      <a:endParaRPr lang="en-US" sz="1300" dirty="0">
                        <a:latin typeface="Nunito Sans" charset="0"/>
                        <a:ea typeface="Nunito Sans" charset="0"/>
                        <a:cs typeface="Nunito Sans" charset="0"/>
                      </a:endParaRPr>
                    </a:p>
                  </a:txBody>
                  <a:tcPr marL="57785" marR="57785" marT="57785" marB="57785">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36 à 49 mg/dl</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60 à 70</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Déficit énergétique</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1E3A2F"/>
                          </a:solidFill>
                          <a:latin typeface="Nunito Sans" pitchFamily="34" charset="0"/>
                          <a:ea typeface="Nunito Sans" pitchFamily="34" charset="-122"/>
                          <a:cs typeface="Nunito Sans" pitchFamily="34" charset="-120"/>
                        </a:rPr>
                        <a:t>BOH (corps cétoniques)</a:t>
                      </a:r>
                      <a:endParaRPr lang="en-US" sz="1300" dirty="0">
                        <a:latin typeface="Nunito Sans" charset="0"/>
                        <a:ea typeface="Nunito Sans" charset="0"/>
                        <a:cs typeface="Nunito Sans" charset="0"/>
                      </a:endParaRPr>
                    </a:p>
                  </a:txBody>
                  <a:tcPr marL="57785" marR="57785" marT="57785" marB="57785">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0,2 à 0,5</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moins de 0,4</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Mobilisation des réserves sur 1 vache</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1E3A2F"/>
                          </a:solidFill>
                          <a:latin typeface="Nunito Sans" pitchFamily="34" charset="0"/>
                          <a:ea typeface="Nunito Sans" pitchFamily="34" charset="-122"/>
                          <a:cs typeface="Nunito Sans" pitchFamily="34" charset="-120"/>
                        </a:rPr>
                        <a:t>Urée</a:t>
                      </a:r>
                      <a:endParaRPr lang="en-US" sz="1300" dirty="0">
                        <a:latin typeface="Nunito Sans" charset="0"/>
                        <a:ea typeface="Nunito Sans" charset="0"/>
                        <a:cs typeface="Nunito Sans" charset="0"/>
                      </a:endParaRPr>
                    </a:p>
                  </a:txBody>
                  <a:tcPr marL="57785" marR="57785" marT="57785" marB="57785">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 92 à 109</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150 à 250</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Manque d'azote dans le rumen</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5"/>
                  </a:ext>
                </a:extLst>
              </a:tr>
            </a:tbl>
          </a:graphicData>
        </a:graphic>
      </p:graphicFrame>
      <p:sp>
        <p:nvSpPr>
          <p:cNvPr id="7" name="Text 4"/>
          <p:cNvSpPr/>
          <p:nvPr/>
        </p:nvSpPr>
        <p:spPr>
          <a:xfrm>
            <a:off x="812800" y="4704358"/>
            <a:ext cx="10883392"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448"/>
                </a:solidFill>
                <a:latin typeface="Nunito Sans" pitchFamily="34" charset="0"/>
                <a:ea typeface="Nunito Sans" pitchFamily="34" charset="-122"/>
                <a:cs typeface="Nunito Sans" pitchFamily="34" charset="-120"/>
              </a:rPr>
              <a:t>Du matériel simple, utilisé dans la stabulation : pH-mètre, redox-mètre, lecteur de glycémie et BOH, bandelettes, réfractomètre. Le résultat est immédiat.</a:t>
            </a:r>
            <a:endParaRPr lang="en-US" sz="13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66"/>
                </a:solidFill>
                <a:latin typeface="Nunito Sans" pitchFamily="34" charset="0"/>
                <a:ea typeface="Nunito Sans" pitchFamily="34" charset="-122"/>
                <a:cs typeface="Nunito Sans" pitchFamily="34" charset="-120"/>
              </a:rPr>
              <a:t>Mesures PRITIH du 03/09/2026</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2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4F12"/>
                </a:solidFill>
                <a:latin typeface="Nunito Sans" pitchFamily="34" charset="0"/>
                <a:ea typeface="Nunito Sans" pitchFamily="34" charset="-122"/>
                <a:cs typeface="Nunito Sans" pitchFamily="34" charset="-120"/>
              </a:rPr>
              <a:t>ÉTAPE 3 · MESURER LES ANIMAUX</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E3A2F"/>
                </a:solidFill>
                <a:latin typeface="Domine" pitchFamily="34" charset="0"/>
                <a:ea typeface="Domine" pitchFamily="34" charset="-122"/>
                <a:cs typeface="Domine" pitchFamily="34" charset="-120"/>
              </a:rPr>
              <a:t>Prise de sang : les oligo-éléments</a:t>
            </a:r>
            <a:endParaRPr lang="en-US" sz="3200" dirty="0"/>
          </a:p>
        </p:txBody>
      </p:sp>
      <p:sp>
        <p:nvSpPr>
          <p:cNvPr id="4" name="Shape 2"/>
          <p:cNvSpPr/>
          <p:nvPr/>
        </p:nvSpPr>
        <p:spPr>
          <a:xfrm>
            <a:off x="11376025" y="1828701"/>
            <a:ext cx="0" cy="2174677"/>
          </a:xfrm>
          <a:prstGeom prst="line">
            <a:avLst/>
          </a:prstGeom>
          <a:noFill/>
          <a:ln w="6350">
            <a:solidFill>
              <a:srgbClr val="D8CEB6"/>
            </a:solidFill>
            <a:prstDash val="solid"/>
          </a:ln>
        </p:spPr>
        <p:txBody>
          <a:bodyPr/>
          <a:lstStyle/>
          <a:p>
            <a:endParaRPr lang="fr-FR"/>
          </a:p>
        </p:txBody>
      </p:sp>
      <p:sp>
        <p:nvSpPr>
          <p:cNvPr id="5" name="Shape 3"/>
          <p:cNvSpPr/>
          <p:nvPr/>
        </p:nvSpPr>
        <p:spPr>
          <a:xfrm>
            <a:off x="812800" y="4000202"/>
            <a:ext cx="10566400" cy="0"/>
          </a:xfrm>
          <a:prstGeom prst="line">
            <a:avLst/>
          </a:prstGeom>
          <a:noFill/>
          <a:ln w="6350">
            <a:solidFill>
              <a:srgbClr val="D8CEB6"/>
            </a:solidFill>
            <a:prstDash val="solid"/>
          </a:ln>
        </p:spPr>
        <p:txBody>
          <a:bodyPr/>
          <a:lstStyle/>
          <a:p>
            <a:endParaRPr lang="fr-F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841401"/>
          <a:ext cx="10547350" cy="2155626"/>
        </p:xfrm>
        <a:graphic>
          <a:graphicData uri="http://schemas.openxmlformats.org/drawingml/2006/table">
            <a:tbl>
              <a:tblPr/>
              <a:tblGrid>
                <a:gridCol w="2320417">
                  <a:extLst>
                    <a:ext uri="{9D8B030D-6E8A-4147-A177-3AD203B41FA5}">
                      <a16:colId xmlns:a16="http://schemas.microsoft.com/office/drawing/2014/main" val="20000"/>
                    </a:ext>
                  </a:extLst>
                </a:gridCol>
                <a:gridCol w="2742311">
                  <a:extLst>
                    <a:ext uri="{9D8B030D-6E8A-4147-A177-3AD203B41FA5}">
                      <a16:colId xmlns:a16="http://schemas.microsoft.com/office/drawing/2014/main" val="20001"/>
                    </a:ext>
                  </a:extLst>
                </a:gridCol>
                <a:gridCol w="2109470">
                  <a:extLst>
                    <a:ext uri="{9D8B030D-6E8A-4147-A177-3AD203B41FA5}">
                      <a16:colId xmlns:a16="http://schemas.microsoft.com/office/drawing/2014/main" val="20002"/>
                    </a:ext>
                  </a:extLst>
                </a:gridCol>
                <a:gridCol w="3375152">
                  <a:extLst>
                    <a:ext uri="{9D8B030D-6E8A-4147-A177-3AD203B41FA5}">
                      <a16:colId xmlns:a16="http://schemas.microsoft.com/office/drawing/2014/main" val="20003"/>
                    </a:ext>
                  </a:extLst>
                </a:gridCol>
              </a:tblGrid>
              <a:tr h="359271">
                <a:tc>
                  <a:txBody>
                    <a:bodyPr/>
                    <a:lstStyle/>
                    <a:p>
                      <a:pPr marL="0" indent="0">
                        <a:lnSpc>
                          <a:spcPts val="1820"/>
                        </a:lnSpc>
                        <a:buNone/>
                      </a:pPr>
                      <a:r>
                        <a:rPr lang="en-US" sz="1300" b="1" dirty="0">
                          <a:solidFill>
                            <a:srgbClr val="F6F2E8"/>
                          </a:solidFill>
                          <a:latin typeface="Nunito Sans" pitchFamily="34" charset="0"/>
                          <a:ea typeface="Nunito Sans" pitchFamily="34" charset="-122"/>
                          <a:cs typeface="Nunito Sans" pitchFamily="34" charset="-120"/>
                        </a:rPr>
                        <a:t>Élément (mg/l)</a:t>
                      </a:r>
                      <a:endParaRPr lang="en-US" sz="1300" dirty="0">
                        <a:latin typeface="Nunito Sans" charset="0"/>
                        <a:ea typeface="Nunito Sans" charset="0"/>
                        <a:cs typeface="Nunito Sans" charset="0"/>
                      </a:endParaRPr>
                    </a:p>
                  </a:txBody>
                  <a:tcPr marL="57785" marR="57785" marT="57785" marB="57785">
                    <a:lnL w="12700" cap="flat" cmpd="sng" algn="ctr">
                      <a:solidFill>
                        <a:srgbClr val="C4C1B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820"/>
                        </a:lnSpc>
                        <a:buNone/>
                      </a:pPr>
                      <a:r>
                        <a:rPr lang="en-US" sz="1300" b="1" dirty="0">
                          <a:solidFill>
                            <a:srgbClr val="F6F2E8"/>
                          </a:solidFill>
                          <a:latin typeface="Nunito Sans" pitchFamily="34" charset="0"/>
                          <a:ea typeface="Nunito Sans" pitchFamily="34" charset="-122"/>
                          <a:cs typeface="Nunito Sans" pitchFamily="34" charset="-120"/>
                        </a:rPr>
                        <a:t>Résultat des 5 vaches</a:t>
                      </a:r>
                      <a:endParaRPr lang="en-US" sz="1300" dirty="0">
                        <a:latin typeface="Nunito Sans" charset="0"/>
                        <a:ea typeface="Nunito Sans" charset="0"/>
                        <a:cs typeface="Nunito Sans" charset="0"/>
                      </a:endParaRPr>
                    </a:p>
                  </a:txBody>
                  <a:tcPr marL="57785" marR="57785" marT="57785" marB="57785">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820"/>
                        </a:lnSpc>
                        <a:buNone/>
                      </a:pPr>
                      <a:r>
                        <a:rPr lang="en-US" sz="1300" b="1" dirty="0">
                          <a:solidFill>
                            <a:srgbClr val="F6F2E8"/>
                          </a:solidFill>
                          <a:latin typeface="Nunito Sans" pitchFamily="34" charset="0"/>
                          <a:ea typeface="Nunito Sans" pitchFamily="34" charset="-122"/>
                          <a:cs typeface="Nunito Sans" pitchFamily="34" charset="-120"/>
                        </a:rPr>
                        <a:t>Référence</a:t>
                      </a:r>
                      <a:endParaRPr lang="en-US" sz="1300" dirty="0">
                        <a:latin typeface="Nunito Sans" charset="0"/>
                        <a:ea typeface="Nunito Sans" charset="0"/>
                        <a:cs typeface="Nunito Sans" charset="0"/>
                      </a:endParaRPr>
                    </a:p>
                  </a:txBody>
                  <a:tcPr marL="57785" marR="57785" marT="57785" marB="57785">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820"/>
                        </a:lnSpc>
                        <a:buNone/>
                      </a:pPr>
                      <a:r>
                        <a:rPr lang="en-US" sz="1300" b="1" dirty="0">
                          <a:solidFill>
                            <a:srgbClr val="F6F2E8"/>
                          </a:solidFill>
                          <a:latin typeface="Nunito Sans" pitchFamily="34" charset="0"/>
                          <a:ea typeface="Nunito Sans" pitchFamily="34" charset="-122"/>
                          <a:cs typeface="Nunito Sans" pitchFamily="34" charset="-120"/>
                        </a:rPr>
                        <a:t>Lecture</a:t>
                      </a:r>
                      <a:endParaRPr lang="en-US" sz="1300" dirty="0">
                        <a:latin typeface="Nunito Sans" charset="0"/>
                        <a:ea typeface="Nunito Sans" charset="0"/>
                        <a:cs typeface="Nunito Sans" charset="0"/>
                      </a:endParaRPr>
                    </a:p>
                  </a:txBody>
                  <a:tcPr marL="57785" marR="57785" marT="57785" marB="57785">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1E3A2F"/>
                          </a:solidFill>
                          <a:latin typeface="Nunito Sans" pitchFamily="34" charset="0"/>
                          <a:ea typeface="Nunito Sans" pitchFamily="34" charset="-122"/>
                          <a:cs typeface="Nunito Sans" pitchFamily="34" charset="-120"/>
                        </a:rPr>
                        <a:t>Sélénium</a:t>
                      </a:r>
                      <a:endParaRPr lang="en-US" sz="1300" dirty="0">
                        <a:latin typeface="Nunito Sans" charset="0"/>
                        <a:ea typeface="Nunito Sans" charset="0"/>
                        <a:cs typeface="Nunito Sans" charset="0"/>
                      </a:endParaRPr>
                    </a:p>
                  </a:txBody>
                  <a:tcPr marL="57785" marR="57785" marT="57785" marB="57785">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0,03 chez toutes</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0,06 à 0,36</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Carence sévère</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1E3A2F"/>
                          </a:solidFill>
                          <a:latin typeface="Nunito Sans" pitchFamily="34" charset="0"/>
                          <a:ea typeface="Nunito Sans" pitchFamily="34" charset="-122"/>
                          <a:cs typeface="Nunito Sans" pitchFamily="34" charset="-120"/>
                        </a:rPr>
                        <a:t>Iode</a:t>
                      </a:r>
                      <a:endParaRPr lang="en-US" sz="1300" dirty="0">
                        <a:latin typeface="Nunito Sans" charset="0"/>
                        <a:ea typeface="Nunito Sans" charset="0"/>
                        <a:cs typeface="Nunito Sans" charset="0"/>
                      </a:endParaRPr>
                    </a:p>
                  </a:txBody>
                  <a:tcPr marL="57785" marR="57785" marT="57785" marB="57785">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0,049 à 0,067</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0,1 à 1,7</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Carence</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1E3A2F"/>
                          </a:solidFill>
                          <a:latin typeface="Nunito Sans" pitchFamily="34" charset="0"/>
                          <a:ea typeface="Nunito Sans" pitchFamily="34" charset="-122"/>
                          <a:cs typeface="Nunito Sans" pitchFamily="34" charset="-120"/>
                        </a:rPr>
                        <a:t>Fer</a:t>
                      </a:r>
                      <a:endParaRPr lang="en-US" sz="1300" dirty="0">
                        <a:latin typeface="Nunito Sans" charset="0"/>
                        <a:ea typeface="Nunito Sans" charset="0"/>
                        <a:cs typeface="Nunito Sans" charset="0"/>
                      </a:endParaRPr>
                    </a:p>
                  </a:txBody>
                  <a:tcPr marL="57785" marR="57785" marT="57785" marB="57785">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2,5 à 5,7</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1,0 à 2,0</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Excès, en lien avec le foin terreux</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1E3A2F"/>
                          </a:solidFill>
                          <a:latin typeface="Nunito Sans" pitchFamily="34" charset="0"/>
                          <a:ea typeface="Nunito Sans" pitchFamily="34" charset="-122"/>
                          <a:cs typeface="Nunito Sans" pitchFamily="34" charset="-120"/>
                        </a:rPr>
                        <a:t>Cuivre</a:t>
                      </a:r>
                      <a:endParaRPr lang="en-US" sz="1300" dirty="0">
                        <a:latin typeface="Nunito Sans" charset="0"/>
                        <a:ea typeface="Nunito Sans" charset="0"/>
                        <a:cs typeface="Nunito Sans" charset="0"/>
                      </a:endParaRPr>
                    </a:p>
                  </a:txBody>
                  <a:tcPr marL="57785" marR="57785" marT="57785" marB="57785">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0,61 à 0,70</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0,43 à 1,23</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Normal, partie basse</a:t>
                      </a:r>
                      <a:endParaRPr lang="en-US" sz="1300" dirty="0">
                        <a:latin typeface="Nunito Sans" charset="0"/>
                        <a:ea typeface="Nunito Sans" charset="0"/>
                        <a:cs typeface="Nunito Sans" charset="0"/>
                      </a:endParaRPr>
                    </a:p>
                  </a:txBody>
                  <a:tcPr marL="57785" marR="57785" marT="57785" marB="57785">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1E3A2F"/>
                          </a:solidFill>
                          <a:latin typeface="Nunito Sans" pitchFamily="34" charset="0"/>
                          <a:ea typeface="Nunito Sans" pitchFamily="34" charset="-122"/>
                          <a:cs typeface="Nunito Sans" pitchFamily="34" charset="-120"/>
                        </a:rPr>
                        <a:t>Zinc</a:t>
                      </a:r>
                      <a:endParaRPr lang="en-US" sz="1300" dirty="0">
                        <a:latin typeface="Nunito Sans" charset="0"/>
                        <a:ea typeface="Nunito Sans" charset="0"/>
                        <a:cs typeface="Nunito Sans" charset="0"/>
                      </a:endParaRPr>
                    </a:p>
                  </a:txBody>
                  <a:tcPr marL="57785" marR="57785" marT="57785" marB="57785">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0,85 à 1,07</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0,78 à 1,58</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820"/>
                        </a:lnSpc>
                        <a:buNone/>
                      </a:pPr>
                      <a:r>
                        <a:rPr lang="en-US" sz="1300" dirty="0">
                          <a:solidFill>
                            <a:srgbClr val="4A5448"/>
                          </a:solidFill>
                          <a:latin typeface="Nunito Sans" pitchFamily="34" charset="0"/>
                          <a:ea typeface="Nunito Sans" pitchFamily="34" charset="-122"/>
                          <a:cs typeface="Nunito Sans" pitchFamily="34" charset="-120"/>
                        </a:rPr>
                        <a:t>Normal, partie basse</a:t>
                      </a:r>
                      <a:endParaRPr lang="en-US" sz="1300" dirty="0">
                        <a:latin typeface="Nunito Sans" charset="0"/>
                        <a:ea typeface="Nunito Sans" charset="0"/>
                        <a:cs typeface="Nunito Sans" charset="0"/>
                      </a:endParaRPr>
                    </a:p>
                  </a:txBody>
                  <a:tcPr marL="57785" marR="57785" marT="57785" marB="57785">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5"/>
                  </a:ext>
                </a:extLst>
              </a:tr>
            </a:tbl>
          </a:graphicData>
        </a:graphic>
      </p:graphicFrame>
      <p:sp>
        <p:nvSpPr>
          <p:cNvPr id="7" name="Text 4"/>
          <p:cNvSpPr/>
          <p:nvPr/>
        </p:nvSpPr>
        <p:spPr>
          <a:xfrm>
            <a:off x="812800" y="4257377"/>
            <a:ext cx="10883392"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448"/>
                </a:solidFill>
                <a:latin typeface="Nunito Sans" pitchFamily="34" charset="0"/>
                <a:ea typeface="Nunito Sans" pitchFamily="34" charset="-122"/>
                <a:cs typeface="Nunito Sans" pitchFamily="34" charset="-120"/>
              </a:rPr>
              <a:t>Sélénium et iode interviennent dans la délivrance, l'immunité, la vigueur des veaux et la qualité du poil. Un sérum hémolysé (vache 7912) : sa valeur de fer n'est pas interprétable.</a:t>
            </a:r>
            <a:endParaRPr lang="en-US" sz="13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66"/>
                </a:solidFill>
                <a:latin typeface="Nunito Sans" pitchFamily="34" charset="0"/>
                <a:ea typeface="Nunito Sans" pitchFamily="34" charset="-122"/>
                <a:cs typeface="Nunito Sans" pitchFamily="34" charset="-120"/>
              </a:rPr>
              <a:t>Profil métabolique LDAR 24, prélèvements du 03/09/2026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2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4F12"/>
                </a:solidFill>
                <a:latin typeface="Nunito Sans" pitchFamily="34" charset="0"/>
                <a:ea typeface="Nunito Sans" pitchFamily="34" charset="-122"/>
                <a:cs typeface="Nunito Sans" pitchFamily="34" charset="-120"/>
              </a:rPr>
              <a:t>ÉTAPE 3 · MESURER LES ANIMAUX</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E3A2F"/>
                </a:solidFill>
                <a:latin typeface="Domine" pitchFamily="34" charset="0"/>
                <a:ea typeface="Domine" pitchFamily="34" charset="-122"/>
                <a:cs typeface="Domine" pitchFamily="34" charset="-120"/>
              </a:rPr>
              <a:t>Comment faire les mesures terrain</a:t>
            </a:r>
            <a:endParaRPr lang="en-US" sz="3200" dirty="0"/>
          </a:p>
        </p:txBody>
      </p:sp>
      <p:sp>
        <p:nvSpPr>
          <p:cNvPr id="4" name="Shape 2"/>
          <p:cNvSpPr/>
          <p:nvPr/>
        </p:nvSpPr>
        <p:spPr>
          <a:xfrm>
            <a:off x="11376025" y="1828701"/>
            <a:ext cx="0" cy="2679700"/>
          </a:xfrm>
          <a:prstGeom prst="line">
            <a:avLst/>
          </a:prstGeom>
          <a:noFill/>
          <a:ln w="6350">
            <a:solidFill>
              <a:srgbClr val="D8CEB6"/>
            </a:solidFill>
            <a:prstDash val="solid"/>
          </a:ln>
        </p:spPr>
        <p:txBody>
          <a:bodyPr/>
          <a:lstStyle/>
          <a:p>
            <a:endParaRPr lang="fr-FR"/>
          </a:p>
        </p:txBody>
      </p:sp>
      <p:sp>
        <p:nvSpPr>
          <p:cNvPr id="5" name="Shape 3"/>
          <p:cNvSpPr/>
          <p:nvPr/>
        </p:nvSpPr>
        <p:spPr>
          <a:xfrm>
            <a:off x="812800" y="4505226"/>
            <a:ext cx="10566400" cy="0"/>
          </a:xfrm>
          <a:prstGeom prst="line">
            <a:avLst/>
          </a:prstGeom>
          <a:noFill/>
          <a:ln w="6350">
            <a:solidFill>
              <a:srgbClr val="D8CEB6"/>
            </a:solidFill>
            <a:prstDash val="solid"/>
          </a:ln>
        </p:spPr>
        <p:txBody>
          <a:bodyPr/>
          <a:lstStyle/>
          <a:p>
            <a:endParaRPr lang="fr-F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841401"/>
          <a:ext cx="10547350" cy="2660648"/>
        </p:xfrm>
        <a:graphic>
          <a:graphicData uri="http://schemas.openxmlformats.org/drawingml/2006/table">
            <a:tbl>
              <a:tblPr/>
              <a:tblGrid>
                <a:gridCol w="2953258">
                  <a:extLst>
                    <a:ext uri="{9D8B030D-6E8A-4147-A177-3AD203B41FA5}">
                      <a16:colId xmlns:a16="http://schemas.microsoft.com/office/drawing/2014/main" val="20000"/>
                    </a:ext>
                  </a:extLst>
                </a:gridCol>
                <a:gridCol w="3586099">
                  <a:extLst>
                    <a:ext uri="{9D8B030D-6E8A-4147-A177-3AD203B41FA5}">
                      <a16:colId xmlns:a16="http://schemas.microsoft.com/office/drawing/2014/main" val="20001"/>
                    </a:ext>
                  </a:extLst>
                </a:gridCol>
                <a:gridCol w="4007993">
                  <a:extLst>
                    <a:ext uri="{9D8B030D-6E8A-4147-A177-3AD203B41FA5}">
                      <a16:colId xmlns:a16="http://schemas.microsoft.com/office/drawing/2014/main" val="20002"/>
                    </a:ext>
                  </a:extLst>
                </a:gridCol>
              </a:tblGrid>
              <a:tr h="332581">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Mesure</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Prélèvement</a:t>
                      </a:r>
                      <a:endParaRPr lang="en-US" sz="1200" dirty="0">
                        <a:latin typeface="Nunito Sans" charset="0"/>
                        <a:ea typeface="Nunito Sans" charset="0"/>
                        <a:cs typeface="Nunito Sans" charset="0"/>
                      </a:endParaRPr>
                    </a:p>
                  </a:txBody>
                  <a:tcPr marL="53340" marR="53340" marT="53340" marB="53340">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Outil</a:t>
                      </a:r>
                      <a:endParaRPr lang="en-US" sz="1200" dirty="0">
                        <a:latin typeface="Nunito Sans" charset="0"/>
                        <a:ea typeface="Nunito Sans" charset="0"/>
                        <a:cs typeface="Nunito Sans" charset="0"/>
                      </a:endParaRPr>
                    </a:p>
                  </a:txBody>
                  <a:tcPr marL="53340" marR="53340" marT="53340" marB="53340">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pH et redox des bouses</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Bouse fraîche</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pH-mètre Exstick, redox-mètre RE300</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Tamisage des bouses</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500 g de bouse, lavage doux au jet</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Tamis, noter le % retenu sur le 1er tamis</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Urine : pH, Brix, densité</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Urine fraîche</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pH-mètre, réfractomètres Brix et densité</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Glycémie et BOH</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Une goutte de sang</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Lecteur Freestyle Optium Neo</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Urée</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Sang</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Bandelette LYSUN (0,1 g/l = 100 mg/dl)</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5"/>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État corporel et rumen</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Observation, flanc gauche</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Grilles de notation NEC et remplissage</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6"/>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Colostrum et veaux</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Colostrum ; sérum des veaux de 2 à 7 jours</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Réfractomètres Brix et RHC 200</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7"/>
                  </a:ext>
                </a:extLst>
              </a:tr>
            </a:tbl>
          </a:graphicData>
        </a:graphic>
      </p:graphicFrame>
      <p:sp>
        <p:nvSpPr>
          <p:cNvPr id="7" name="Shape 4"/>
          <p:cNvSpPr/>
          <p:nvPr/>
        </p:nvSpPr>
        <p:spPr>
          <a:xfrm>
            <a:off x="812800" y="4762401"/>
            <a:ext cx="10566400" cy="635000"/>
          </a:xfrm>
          <a:prstGeom prst="roundRect">
            <a:avLst>
              <a:gd name="adj" fmla="val 16000"/>
            </a:avLst>
          </a:prstGeom>
          <a:solidFill>
            <a:srgbClr val="ECE5D3"/>
          </a:solidFill>
          <a:ln/>
        </p:spPr>
        <p:txBody>
          <a:bodyPr/>
          <a:lstStyle/>
          <a:p>
            <a:endParaRPr lang="fr-FR"/>
          </a:p>
        </p:txBody>
      </p:sp>
      <p:pic>
        <p:nvPicPr>
          <p:cNvPr id="8" name="Image 0" descr="Users"/>
          <p:cNvPicPr>
            <a:picLocks noChangeAspect="1"/>
          </p:cNvPicPr>
          <p:nvPr/>
        </p:nvPicPr>
        <p:blipFill>
          <a:blip r:embed="rId3"/>
          <a:srcRect/>
          <a:stretch/>
        </p:blipFill>
        <p:spPr>
          <a:xfrm>
            <a:off x="990600" y="4940201"/>
            <a:ext cx="279400" cy="279400"/>
          </a:xfrm>
          <a:prstGeom prst="rect">
            <a:avLst/>
          </a:prstGeom>
        </p:spPr>
      </p:pic>
      <p:sp>
        <p:nvSpPr>
          <p:cNvPr id="9" name="Text 5"/>
          <p:cNvSpPr/>
          <p:nvPr/>
        </p:nvSpPr>
        <p:spPr>
          <a:xfrm>
            <a:off x="1397000" y="4964311"/>
            <a:ext cx="9482396"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E3A2F"/>
                </a:solidFill>
                <a:latin typeface="Nunito Sans" pitchFamily="34" charset="0"/>
                <a:ea typeface="Nunito Sans" pitchFamily="34" charset="-122"/>
                <a:cs typeface="Nunito Sans" pitchFamily="34" charset="-120"/>
              </a:rPr>
              <a:t>5 vaches par lot</a:t>
            </a:r>
            <a:r>
              <a:rPr lang="en-US" sz="1300" dirty="0">
                <a:solidFill>
                  <a:srgbClr val="1E3A2F"/>
                </a:solidFill>
                <a:latin typeface="Nunito Sans" pitchFamily="34" charset="0"/>
                <a:ea typeface="Nunito Sans" pitchFamily="34" charset="-122"/>
                <a:cs typeface="Nunito Sans" pitchFamily="34" charset="-120"/>
              </a:rPr>
              <a:t>, le même jour : taries, préparation au vêlage, lactation. On compare les lots entre eux et aux valeurs repères.</a:t>
            </a:r>
            <a:endParaRPr lang="en-US" sz="1300" dirty="0"/>
          </a:p>
        </p:txBody>
      </p:sp>
      <p:sp>
        <p:nvSpPr>
          <p:cNvPr id="10" name="Text 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66"/>
                </a:solidFill>
                <a:latin typeface="Nunito Sans" pitchFamily="34" charset="0"/>
                <a:ea typeface="Nunito Sans" pitchFamily="34" charset="-122"/>
                <a:cs typeface="Nunito Sans" pitchFamily="34" charset="-120"/>
              </a:rPr>
              <a:t>EARL </a:t>
            </a:r>
            <a:r>
              <a:rPr lang="en-US" sz="1200" dirty="0" err="1">
                <a:solidFill>
                  <a:srgbClr val="6B7266"/>
                </a:solidFill>
                <a:latin typeface="Nunito Sans" pitchFamily="34" charset="0"/>
                <a:ea typeface="Nunito Sans" pitchFamily="34" charset="-122"/>
                <a:cs typeface="Nunito Sans" pitchFamily="34" charset="-120"/>
              </a:rPr>
              <a:t>Belvache</a:t>
            </a:r>
            <a:r>
              <a:rPr lang="en-US" sz="1200" dirty="0">
                <a:solidFill>
                  <a:srgbClr val="6B7266"/>
                </a:solidFill>
                <a:latin typeface="Nunito Sans" pitchFamily="34" charset="0"/>
                <a:ea typeface="Nunito Sans" pitchFamily="34" charset="-122"/>
                <a:cs typeface="Nunito Sans" pitchFamily="34" charset="-120"/>
              </a:rPr>
              <a:t> · approche globale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2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4F12"/>
                </a:solidFill>
                <a:latin typeface="Nunito Sans" pitchFamily="34" charset="0"/>
                <a:ea typeface="Nunito Sans" pitchFamily="34" charset="-122"/>
                <a:cs typeface="Nunito Sans" pitchFamily="34" charset="-120"/>
              </a:rPr>
              <a:t>ÉTAPE 3 · MESURER LES ANIMAUX</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E3A2F"/>
                </a:solidFill>
                <a:latin typeface="Domine" pitchFamily="34" charset="0"/>
                <a:ea typeface="Domine" pitchFamily="34" charset="-122"/>
                <a:cs typeface="Domine" pitchFamily="34" charset="-120"/>
              </a:rPr>
              <a:t>Les valeurs repères selon le stade</a:t>
            </a:r>
            <a:endParaRPr lang="en-US" sz="3200" dirty="0"/>
          </a:p>
        </p:txBody>
      </p:sp>
      <p:sp>
        <p:nvSpPr>
          <p:cNvPr id="4" name="Shape 2"/>
          <p:cNvSpPr/>
          <p:nvPr/>
        </p:nvSpPr>
        <p:spPr>
          <a:xfrm>
            <a:off x="11376025" y="1828701"/>
            <a:ext cx="0" cy="3344863"/>
          </a:xfrm>
          <a:prstGeom prst="line">
            <a:avLst/>
          </a:prstGeom>
          <a:noFill/>
          <a:ln w="6350">
            <a:solidFill>
              <a:srgbClr val="D8CEB6"/>
            </a:solidFill>
            <a:prstDash val="solid"/>
          </a:ln>
        </p:spPr>
        <p:txBody>
          <a:bodyPr/>
          <a:lstStyle/>
          <a:p>
            <a:endParaRPr lang="fr-FR"/>
          </a:p>
        </p:txBody>
      </p:sp>
      <p:sp>
        <p:nvSpPr>
          <p:cNvPr id="5" name="Shape 3"/>
          <p:cNvSpPr/>
          <p:nvPr/>
        </p:nvSpPr>
        <p:spPr>
          <a:xfrm>
            <a:off x="812800" y="5170388"/>
            <a:ext cx="10566400" cy="0"/>
          </a:xfrm>
          <a:prstGeom prst="line">
            <a:avLst/>
          </a:prstGeom>
          <a:noFill/>
          <a:ln w="6350">
            <a:solidFill>
              <a:srgbClr val="D8CEB6"/>
            </a:solidFill>
            <a:prstDash val="solid"/>
          </a:ln>
        </p:spPr>
        <p:txBody>
          <a:bodyPr/>
          <a:lstStyle/>
          <a:p>
            <a:endParaRPr lang="fr-F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841401"/>
          <a:ext cx="10547351" cy="3325810"/>
        </p:xfrm>
        <a:graphic>
          <a:graphicData uri="http://schemas.openxmlformats.org/drawingml/2006/table">
            <a:tbl>
              <a:tblPr/>
              <a:tblGrid>
                <a:gridCol w="2531364">
                  <a:extLst>
                    <a:ext uri="{9D8B030D-6E8A-4147-A177-3AD203B41FA5}">
                      <a16:colId xmlns:a16="http://schemas.microsoft.com/office/drawing/2014/main" val="20000"/>
                    </a:ext>
                  </a:extLst>
                </a:gridCol>
                <a:gridCol w="1793050">
                  <a:extLst>
                    <a:ext uri="{9D8B030D-6E8A-4147-A177-3AD203B41FA5}">
                      <a16:colId xmlns:a16="http://schemas.microsoft.com/office/drawing/2014/main" val="20001"/>
                    </a:ext>
                  </a:extLst>
                </a:gridCol>
                <a:gridCol w="1793050">
                  <a:extLst>
                    <a:ext uri="{9D8B030D-6E8A-4147-A177-3AD203B41FA5}">
                      <a16:colId xmlns:a16="http://schemas.microsoft.com/office/drawing/2014/main" val="20002"/>
                    </a:ext>
                  </a:extLst>
                </a:gridCol>
                <a:gridCol w="2531364">
                  <a:extLst>
                    <a:ext uri="{9D8B030D-6E8A-4147-A177-3AD203B41FA5}">
                      <a16:colId xmlns:a16="http://schemas.microsoft.com/office/drawing/2014/main" val="20003"/>
                    </a:ext>
                  </a:extLst>
                </a:gridCol>
                <a:gridCol w="1898523">
                  <a:extLst>
                    <a:ext uri="{9D8B030D-6E8A-4147-A177-3AD203B41FA5}">
                      <a16:colId xmlns:a16="http://schemas.microsoft.com/office/drawing/2014/main" val="20004"/>
                    </a:ext>
                  </a:extLst>
                </a:gridCol>
              </a:tblGrid>
              <a:tr h="332581">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Mesure</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Taries</a:t>
                      </a:r>
                      <a:endParaRPr lang="en-US" sz="1200" dirty="0">
                        <a:latin typeface="Nunito Sans" charset="0"/>
                        <a:ea typeface="Nunito Sans" charset="0"/>
                        <a:cs typeface="Nunito Sans" charset="0"/>
                      </a:endParaRPr>
                    </a:p>
                  </a:txBody>
                  <a:tcPr marL="53340" marR="53340" marT="53340" marB="53340">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Prépa vêlage</a:t>
                      </a:r>
                      <a:endParaRPr lang="en-US" sz="1200" dirty="0">
                        <a:latin typeface="Nunito Sans" charset="0"/>
                        <a:ea typeface="Nunito Sans" charset="0"/>
                        <a:cs typeface="Nunito Sans" charset="0"/>
                      </a:endParaRPr>
                    </a:p>
                  </a:txBody>
                  <a:tcPr marL="53340" marR="53340" marT="53340" marB="53340">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Lactation</a:t>
                      </a:r>
                      <a:endParaRPr lang="en-US" sz="1200" dirty="0">
                        <a:latin typeface="Nunito Sans" charset="0"/>
                        <a:ea typeface="Nunito Sans" charset="0"/>
                        <a:cs typeface="Nunito Sans" charset="0"/>
                      </a:endParaRPr>
                    </a:p>
                  </a:txBody>
                  <a:tcPr marL="53340" marR="53340" marT="53340" marB="53340">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Veaux &lt; 4 sem.</a:t>
                      </a:r>
                      <a:endParaRPr lang="en-US" sz="1200" dirty="0">
                        <a:latin typeface="Nunito Sans" charset="0"/>
                        <a:ea typeface="Nunito Sans" charset="0"/>
                        <a:cs typeface="Nunito Sans" charset="0"/>
                      </a:endParaRPr>
                    </a:p>
                  </a:txBody>
                  <a:tcPr marL="53340" marR="53340" marT="53340" marB="53340">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pH urinaire</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7,8 à 8,3</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7,0 à 7,5</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7,8 à 8,25</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6,0 à 6,5</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Brix urinaire (%)</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4 à 6</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4 à 6</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4 à 6</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1 à 2</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Densité urinaire</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1015 à 1030</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1015 à 1030</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1015 à 1025</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1015 à 1025</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pH des bouses</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6,5 à 7,0</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6,5 à 6,8</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6,5 à 6,8</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6,5 à 7,0</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Redox des bouses (mV)</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−185 à −220</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−185 à −220</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−185 à −220</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−200 à −250</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5"/>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Glycémie (mg/dl)</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55 à 65</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60 à 70</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50 à 60</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80 à 120</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6"/>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BOH</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moins de 0,4</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moins de 0,4</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moins de 0,9</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7"/>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Urée</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100 à 200</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150 à 250</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200 à 250 (150 à 200 en fin)</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8"/>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NEC</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2,75 à 3,0</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2,75 à 3,0</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2,5 à 2,75 (début)</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9"/>
                  </a:ext>
                </a:extLst>
              </a:tr>
            </a:tbl>
          </a:graphicData>
        </a:graphic>
      </p:graphicFrame>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66"/>
                </a:solidFill>
                <a:latin typeface="Nunito Sans" pitchFamily="34" charset="0"/>
                <a:ea typeface="Nunito Sans" pitchFamily="34" charset="-122"/>
                <a:cs typeface="Nunito Sans" pitchFamily="34" charset="-120"/>
              </a:rPr>
              <a:t>Repères PRITIH (P.-E. Radigue) · tableaux de mesure bovins allaitants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2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4F12"/>
                </a:solidFill>
                <a:latin typeface="Nunito Sans" pitchFamily="34" charset="0"/>
                <a:ea typeface="Nunito Sans" pitchFamily="34" charset="-122"/>
                <a:cs typeface="Nunito Sans" pitchFamily="34" charset="-120"/>
              </a:rPr>
              <a:t>ÉTAPE 3 · MESURER LES ANIMAUX</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E3A2F"/>
                </a:solidFill>
                <a:latin typeface="Domine" pitchFamily="34" charset="0"/>
                <a:ea typeface="Domine" pitchFamily="34" charset="-122"/>
                <a:cs typeface="Domine" pitchFamily="34" charset="-120"/>
              </a:rPr>
              <a:t>Lire les mesures : quatre situations types</a:t>
            </a:r>
            <a:endParaRPr lang="en-US" sz="3200" dirty="0"/>
          </a:p>
        </p:txBody>
      </p:sp>
      <p:sp>
        <p:nvSpPr>
          <p:cNvPr id="4" name="Shape 2"/>
          <p:cNvSpPr/>
          <p:nvPr/>
        </p:nvSpPr>
        <p:spPr>
          <a:xfrm>
            <a:off x="819150" y="1835051"/>
            <a:ext cx="5194300" cy="1150541"/>
          </a:xfrm>
          <a:prstGeom prst="roundRect">
            <a:avLst>
              <a:gd name="adj" fmla="val 8279"/>
            </a:avLst>
          </a:prstGeom>
          <a:solidFill>
            <a:srgbClr val="FBF9F3"/>
          </a:solidFill>
          <a:ln w="12700">
            <a:solidFill>
              <a:srgbClr val="D8CEB6"/>
            </a:solidFill>
            <a:prstDash val="solid"/>
          </a:ln>
        </p:spPr>
        <p:txBody>
          <a:bodyPr/>
          <a:lstStyle/>
          <a:p>
            <a:endParaRPr lang="fr-FR"/>
          </a:p>
        </p:txBody>
      </p:sp>
      <p:sp>
        <p:nvSpPr>
          <p:cNvPr id="5" name="Text 3"/>
          <p:cNvSpPr/>
          <p:nvPr/>
        </p:nvSpPr>
        <p:spPr>
          <a:xfrm>
            <a:off x="1028700" y="2044601"/>
            <a:ext cx="491845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3A2F"/>
                </a:solidFill>
                <a:latin typeface="Domine" pitchFamily="34" charset="0"/>
                <a:ea typeface="Domine" pitchFamily="34" charset="-122"/>
                <a:cs typeface="Domine" pitchFamily="34" charset="-120"/>
              </a:rPr>
              <a:t>Glycémie basse (moins de 45) et BOH élevé</a:t>
            </a:r>
            <a:endParaRPr lang="en-US" sz="1500" dirty="0"/>
          </a:p>
        </p:txBody>
      </p:sp>
      <p:sp>
        <p:nvSpPr>
          <p:cNvPr id="6" name="Text 4"/>
          <p:cNvSpPr/>
          <p:nvPr/>
        </p:nvSpPr>
        <p:spPr>
          <a:xfrm>
            <a:off x="1028700" y="2349401"/>
            <a:ext cx="491845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Déficit énergétique. Si l'urée est basse : il manque aussi de l'azote ; si elle est haute : excès de protéines.</a:t>
            </a:r>
            <a:endParaRPr lang="en-US" sz="1200" dirty="0"/>
          </a:p>
        </p:txBody>
      </p:sp>
      <p:sp>
        <p:nvSpPr>
          <p:cNvPr id="7" name="Shape 5"/>
          <p:cNvSpPr/>
          <p:nvPr/>
        </p:nvSpPr>
        <p:spPr>
          <a:xfrm>
            <a:off x="6178550" y="1835051"/>
            <a:ext cx="5194300" cy="1150541"/>
          </a:xfrm>
          <a:prstGeom prst="roundRect">
            <a:avLst>
              <a:gd name="adj" fmla="val 8279"/>
            </a:avLst>
          </a:prstGeom>
          <a:solidFill>
            <a:srgbClr val="FBF9F3"/>
          </a:solidFill>
          <a:ln w="12700">
            <a:solidFill>
              <a:srgbClr val="D8CEB6"/>
            </a:solidFill>
            <a:prstDash val="solid"/>
          </a:ln>
        </p:spPr>
        <p:txBody>
          <a:bodyPr/>
          <a:lstStyle/>
          <a:p>
            <a:endParaRPr lang="fr-FR"/>
          </a:p>
        </p:txBody>
      </p:sp>
      <p:sp>
        <p:nvSpPr>
          <p:cNvPr id="8" name="Text 6"/>
          <p:cNvSpPr/>
          <p:nvPr/>
        </p:nvSpPr>
        <p:spPr>
          <a:xfrm>
            <a:off x="6388100" y="2044601"/>
            <a:ext cx="491845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3A2F"/>
                </a:solidFill>
                <a:latin typeface="Domine" pitchFamily="34" charset="0"/>
                <a:ea typeface="Domine" pitchFamily="34" charset="-122"/>
                <a:cs typeface="Domine" pitchFamily="34" charset="-120"/>
              </a:rPr>
              <a:t>Glycémie haute (plus de 65) et BOH élevé</a:t>
            </a:r>
            <a:endParaRPr lang="en-US" sz="1500" dirty="0"/>
          </a:p>
        </p:txBody>
      </p:sp>
      <p:sp>
        <p:nvSpPr>
          <p:cNvPr id="9" name="Text 7"/>
          <p:cNvSpPr/>
          <p:nvPr/>
        </p:nvSpPr>
        <p:spPr>
          <a:xfrm>
            <a:off x="6388100" y="2349401"/>
            <a:ext cx="491845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Carence minérale (sodium, potassium, calcium, magnésium) ou manque d'eau. Urée basse : manque de protéines.</a:t>
            </a:r>
            <a:endParaRPr lang="en-US" sz="1200" dirty="0"/>
          </a:p>
        </p:txBody>
      </p:sp>
      <p:sp>
        <p:nvSpPr>
          <p:cNvPr id="10" name="Shape 8"/>
          <p:cNvSpPr/>
          <p:nvPr/>
        </p:nvSpPr>
        <p:spPr>
          <a:xfrm>
            <a:off x="819150" y="3150691"/>
            <a:ext cx="5194300" cy="1150541"/>
          </a:xfrm>
          <a:prstGeom prst="roundRect">
            <a:avLst>
              <a:gd name="adj" fmla="val 8279"/>
            </a:avLst>
          </a:prstGeom>
          <a:solidFill>
            <a:srgbClr val="FBF9F3"/>
          </a:solidFill>
          <a:ln w="12700">
            <a:solidFill>
              <a:srgbClr val="D8CEB6"/>
            </a:solidFill>
            <a:prstDash val="solid"/>
          </a:ln>
        </p:spPr>
        <p:txBody>
          <a:bodyPr/>
          <a:lstStyle/>
          <a:p>
            <a:endParaRPr lang="fr-FR"/>
          </a:p>
        </p:txBody>
      </p:sp>
      <p:sp>
        <p:nvSpPr>
          <p:cNvPr id="11" name="Text 9"/>
          <p:cNvSpPr/>
          <p:nvPr/>
        </p:nvSpPr>
        <p:spPr>
          <a:xfrm>
            <a:off x="1028700" y="3360241"/>
            <a:ext cx="491845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3A2F"/>
                </a:solidFill>
                <a:latin typeface="Domine" pitchFamily="34" charset="0"/>
                <a:ea typeface="Domine" pitchFamily="34" charset="-122"/>
                <a:cs typeface="Domine" pitchFamily="34" charset="-120"/>
              </a:rPr>
              <a:t>Brix urinaire au-dessus de 6 %</a:t>
            </a:r>
            <a:endParaRPr lang="en-US" sz="1500" dirty="0"/>
          </a:p>
        </p:txBody>
      </p:sp>
      <p:sp>
        <p:nvSpPr>
          <p:cNvPr id="12" name="Text 10"/>
          <p:cNvSpPr/>
          <p:nvPr/>
        </p:nvSpPr>
        <p:spPr>
          <a:xfrm>
            <a:off x="1028700" y="3665041"/>
            <a:ext cx="491845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Mauvaise digestion, excès d'énergie. Avec une urée basse : carence protéique, manque de tampons et de minéraux.</a:t>
            </a:r>
            <a:endParaRPr lang="en-US" sz="1200" dirty="0"/>
          </a:p>
        </p:txBody>
      </p:sp>
      <p:sp>
        <p:nvSpPr>
          <p:cNvPr id="13" name="Shape 11"/>
          <p:cNvSpPr/>
          <p:nvPr/>
        </p:nvSpPr>
        <p:spPr>
          <a:xfrm>
            <a:off x="6178550" y="3150691"/>
            <a:ext cx="5194300" cy="1150541"/>
          </a:xfrm>
          <a:prstGeom prst="roundRect">
            <a:avLst>
              <a:gd name="adj" fmla="val 8279"/>
            </a:avLst>
          </a:prstGeom>
          <a:solidFill>
            <a:srgbClr val="FBF9F3"/>
          </a:solidFill>
          <a:ln w="12700">
            <a:solidFill>
              <a:srgbClr val="D8CEB6"/>
            </a:solidFill>
            <a:prstDash val="solid"/>
          </a:ln>
        </p:spPr>
        <p:txBody>
          <a:bodyPr/>
          <a:lstStyle/>
          <a:p>
            <a:endParaRPr lang="fr-FR"/>
          </a:p>
        </p:txBody>
      </p:sp>
      <p:sp>
        <p:nvSpPr>
          <p:cNvPr id="14" name="Text 12"/>
          <p:cNvSpPr/>
          <p:nvPr/>
        </p:nvSpPr>
        <p:spPr>
          <a:xfrm>
            <a:off x="6388100" y="3360241"/>
            <a:ext cx="491845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3A2F"/>
                </a:solidFill>
                <a:latin typeface="Domine" pitchFamily="34" charset="0"/>
                <a:ea typeface="Domine" pitchFamily="34" charset="-122"/>
                <a:cs typeface="Domine" pitchFamily="34" charset="-120"/>
              </a:rPr>
              <a:t>Tamisage des bouses</a:t>
            </a:r>
            <a:endParaRPr lang="en-US" sz="1500" dirty="0"/>
          </a:p>
        </p:txBody>
      </p:sp>
      <p:sp>
        <p:nvSpPr>
          <p:cNvPr id="15" name="Text 13"/>
          <p:cNvSpPr/>
          <p:nvPr/>
        </p:nvSpPr>
        <p:spPr>
          <a:xfrm>
            <a:off x="6388100" y="3665041"/>
            <a:ext cx="491845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1er tamis sous 10 % : bonne digestion. 10 à 15 % : moyen. Plus de 20 % : ration mal digérée, fibres ou grains qui passent.</a:t>
            </a:r>
            <a:endParaRPr lang="en-US" sz="12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66"/>
                </a:solidFill>
                <a:latin typeface="Nunito Sans" pitchFamily="34" charset="0"/>
                <a:ea typeface="Nunito Sans" pitchFamily="34" charset="-122"/>
                <a:cs typeface="Nunito Sans" pitchFamily="34" charset="-120"/>
              </a:rPr>
              <a:t>Grille de lecture PRITIH · chez Forgeneuf : glycémie 36 à 49, urée basse, bouses acides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2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4F12"/>
                </a:solidFill>
                <a:latin typeface="Nunito Sans" pitchFamily="34" charset="0"/>
                <a:ea typeface="Nunito Sans" pitchFamily="34" charset="-122"/>
                <a:cs typeface="Nunito Sans" pitchFamily="34" charset="-120"/>
              </a:rPr>
              <a:t>ÉTAPE 4 · CROISER</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E3A2F"/>
                </a:solidFill>
                <a:latin typeface="Domine" pitchFamily="34" charset="0"/>
                <a:ea typeface="Domine" pitchFamily="34" charset="-122"/>
                <a:cs typeface="Domine" pitchFamily="34" charset="-120"/>
              </a:rPr>
              <a:t>Trois causes qui relient les troubles</a:t>
            </a:r>
            <a:endParaRPr lang="en-US" sz="3200" dirty="0"/>
          </a:p>
        </p:txBody>
      </p:sp>
      <p:sp>
        <p:nvSpPr>
          <p:cNvPr id="4" name="Shape 2"/>
          <p:cNvSpPr/>
          <p:nvPr/>
        </p:nvSpPr>
        <p:spPr>
          <a:xfrm>
            <a:off x="812800" y="1828701"/>
            <a:ext cx="3420467" cy="1137841"/>
          </a:xfrm>
          <a:prstGeom prst="roundRect">
            <a:avLst>
              <a:gd name="adj" fmla="val 8929"/>
            </a:avLst>
          </a:prstGeom>
          <a:solidFill>
            <a:srgbClr val="1E3A2F"/>
          </a:solidFill>
          <a:ln/>
        </p:spPr>
        <p:txBody>
          <a:bodyPr/>
          <a:lstStyle/>
          <a:p>
            <a:endParaRPr lang="fr-FR"/>
          </a:p>
        </p:txBody>
      </p:sp>
      <p:sp>
        <p:nvSpPr>
          <p:cNvPr id="5" name="Text 3"/>
          <p:cNvSpPr/>
          <p:nvPr/>
        </p:nvSpPr>
        <p:spPr>
          <a:xfrm>
            <a:off x="1016000" y="2031901"/>
            <a:ext cx="310448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6F2E8"/>
                </a:solidFill>
                <a:latin typeface="Domine" pitchFamily="34" charset="0"/>
                <a:ea typeface="Domine" pitchFamily="34" charset="-122"/>
                <a:cs typeface="Domine" pitchFamily="34" charset="-120"/>
              </a:rPr>
              <a:t>Manque d'azote dans le rumen</a:t>
            </a:r>
            <a:endParaRPr lang="en-US" sz="1500" dirty="0"/>
          </a:p>
        </p:txBody>
      </p:sp>
      <p:sp>
        <p:nvSpPr>
          <p:cNvPr id="6" name="Text 4"/>
          <p:cNvSpPr/>
          <p:nvPr/>
        </p:nvSpPr>
        <p:spPr>
          <a:xfrm>
            <a:off x="1016000" y="2336701"/>
            <a:ext cx="310448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DCD3"/>
                </a:solidFill>
                <a:latin typeface="Nunito Sans" pitchFamily="34" charset="0"/>
                <a:ea typeface="Nunito Sans" pitchFamily="34" charset="-122"/>
                <a:cs typeface="Nunito Sans" pitchFamily="34" charset="-120"/>
              </a:rPr>
              <a:t>Preuves : fourrages à 61–84 g de MAT, urée et glycémie basses, bouses acides.</a:t>
            </a:r>
            <a:endParaRPr lang="en-US" sz="1200" dirty="0"/>
          </a:p>
        </p:txBody>
      </p:sp>
      <p:pic>
        <p:nvPicPr>
          <p:cNvPr id="7" name="Image 0" descr="arrow-down"/>
          <p:cNvPicPr>
            <a:picLocks noChangeAspect="1"/>
          </p:cNvPicPr>
          <p:nvPr/>
        </p:nvPicPr>
        <p:blipFill>
          <a:blip r:embed="rId3"/>
          <a:srcRect/>
          <a:stretch/>
        </p:blipFill>
        <p:spPr>
          <a:xfrm>
            <a:off x="2421434" y="3068141"/>
            <a:ext cx="203200" cy="355600"/>
          </a:xfrm>
          <a:prstGeom prst="rect">
            <a:avLst/>
          </a:prstGeom>
        </p:spPr>
      </p:pic>
      <p:sp>
        <p:nvSpPr>
          <p:cNvPr id="8" name="Shape 5"/>
          <p:cNvSpPr/>
          <p:nvPr/>
        </p:nvSpPr>
        <p:spPr>
          <a:xfrm>
            <a:off x="819150" y="3531691"/>
            <a:ext cx="3407767" cy="1109861"/>
          </a:xfrm>
          <a:prstGeom prst="roundRect">
            <a:avLst>
              <a:gd name="adj" fmla="val 8582"/>
            </a:avLst>
          </a:prstGeom>
          <a:solidFill>
            <a:srgbClr val="FBF9F3"/>
          </a:solidFill>
          <a:ln w="12700">
            <a:solidFill>
              <a:srgbClr val="D8CEB6"/>
            </a:solidFill>
            <a:prstDash val="solid"/>
          </a:ln>
        </p:spPr>
        <p:txBody>
          <a:bodyPr/>
          <a:lstStyle/>
          <a:p>
            <a:endParaRPr lang="fr-FR"/>
          </a:p>
        </p:txBody>
      </p:sp>
      <p:sp>
        <p:nvSpPr>
          <p:cNvPr id="9" name="Text 6"/>
          <p:cNvSpPr/>
          <p:nvPr/>
        </p:nvSpPr>
        <p:spPr>
          <a:xfrm>
            <a:off x="1028700" y="3741241"/>
            <a:ext cx="307832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A4F12"/>
                </a:solidFill>
                <a:latin typeface="Nunito Sans" pitchFamily="34" charset="0"/>
                <a:ea typeface="Nunito Sans" pitchFamily="34" charset="-122"/>
                <a:cs typeface="Nunito Sans" pitchFamily="34" charset="-120"/>
              </a:rPr>
              <a:t>CONSÉQUENCES</a:t>
            </a:r>
            <a:endParaRPr lang="en-US" sz="1200" dirty="0"/>
          </a:p>
        </p:txBody>
      </p:sp>
      <p:sp>
        <p:nvSpPr>
          <p:cNvPr id="10" name="Text 7"/>
          <p:cNvSpPr/>
          <p:nvPr/>
        </p:nvSpPr>
        <p:spPr>
          <a:xfrm>
            <a:off x="1028700" y="4005362"/>
            <a:ext cx="307832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E3A2F"/>
                </a:solidFill>
                <a:latin typeface="Nunito Sans" pitchFamily="34" charset="0"/>
                <a:ea typeface="Nunito Sans" pitchFamily="34" charset="-122"/>
                <a:cs typeface="Nunito Sans" pitchFamily="34" charset="-120"/>
              </a:rPr>
              <a:t>Acidose, ration mal valorisée, fertilité en baisse, colostrum moins riche.</a:t>
            </a:r>
            <a:endParaRPr lang="en-US" sz="1200" dirty="0"/>
          </a:p>
        </p:txBody>
      </p:sp>
      <p:sp>
        <p:nvSpPr>
          <p:cNvPr id="11" name="Shape 8"/>
          <p:cNvSpPr/>
          <p:nvPr/>
        </p:nvSpPr>
        <p:spPr>
          <a:xfrm>
            <a:off x="4385667" y="1828701"/>
            <a:ext cx="3420566" cy="1137841"/>
          </a:xfrm>
          <a:prstGeom prst="roundRect">
            <a:avLst>
              <a:gd name="adj" fmla="val 8929"/>
            </a:avLst>
          </a:prstGeom>
          <a:solidFill>
            <a:srgbClr val="1E3A2F"/>
          </a:solidFill>
          <a:ln/>
        </p:spPr>
        <p:txBody>
          <a:bodyPr/>
          <a:lstStyle/>
          <a:p>
            <a:endParaRPr lang="fr-FR"/>
          </a:p>
        </p:txBody>
      </p:sp>
      <p:sp>
        <p:nvSpPr>
          <p:cNvPr id="12" name="Text 9"/>
          <p:cNvSpPr/>
          <p:nvPr/>
        </p:nvSpPr>
        <p:spPr>
          <a:xfrm>
            <a:off x="4588867" y="2031901"/>
            <a:ext cx="310459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6F2E8"/>
                </a:solidFill>
                <a:latin typeface="Domine" pitchFamily="34" charset="0"/>
                <a:ea typeface="Domine" pitchFamily="34" charset="-122"/>
                <a:cs typeface="Domine" pitchFamily="34" charset="-120"/>
              </a:rPr>
              <a:t>Carence en sélénium et en iode</a:t>
            </a:r>
            <a:endParaRPr lang="en-US" sz="1500" dirty="0"/>
          </a:p>
        </p:txBody>
      </p:sp>
      <p:sp>
        <p:nvSpPr>
          <p:cNvPr id="13" name="Text 10"/>
          <p:cNvSpPr/>
          <p:nvPr/>
        </p:nvSpPr>
        <p:spPr>
          <a:xfrm>
            <a:off x="4588867" y="2336701"/>
            <a:ext cx="310459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DCD3"/>
                </a:solidFill>
                <a:latin typeface="Nunito Sans" pitchFamily="34" charset="0"/>
                <a:ea typeface="Nunito Sans" pitchFamily="34" charset="-122"/>
                <a:cs typeface="Nunito Sans" pitchFamily="34" charset="-120"/>
              </a:rPr>
              <a:t>Preuves : prise de sang, minéral périmé, consommation incertaine.</a:t>
            </a:r>
            <a:endParaRPr lang="en-US" sz="1200" dirty="0"/>
          </a:p>
        </p:txBody>
      </p:sp>
      <p:pic>
        <p:nvPicPr>
          <p:cNvPr id="14" name="Image 1" descr="arrow-down"/>
          <p:cNvPicPr>
            <a:picLocks noChangeAspect="1"/>
          </p:cNvPicPr>
          <p:nvPr/>
        </p:nvPicPr>
        <p:blipFill>
          <a:blip r:embed="rId3"/>
          <a:srcRect/>
          <a:stretch/>
        </p:blipFill>
        <p:spPr>
          <a:xfrm>
            <a:off x="5994301" y="3068141"/>
            <a:ext cx="203200" cy="355600"/>
          </a:xfrm>
          <a:prstGeom prst="rect">
            <a:avLst/>
          </a:prstGeom>
        </p:spPr>
      </p:pic>
      <p:sp>
        <p:nvSpPr>
          <p:cNvPr id="15" name="Shape 11"/>
          <p:cNvSpPr/>
          <p:nvPr/>
        </p:nvSpPr>
        <p:spPr>
          <a:xfrm>
            <a:off x="4392017" y="3531691"/>
            <a:ext cx="3407866" cy="1109861"/>
          </a:xfrm>
          <a:prstGeom prst="roundRect">
            <a:avLst>
              <a:gd name="adj" fmla="val 8582"/>
            </a:avLst>
          </a:prstGeom>
          <a:solidFill>
            <a:srgbClr val="FBF9F3"/>
          </a:solidFill>
          <a:ln w="12700">
            <a:solidFill>
              <a:srgbClr val="D8CEB6"/>
            </a:solidFill>
            <a:prstDash val="solid"/>
          </a:ln>
        </p:spPr>
        <p:txBody>
          <a:bodyPr/>
          <a:lstStyle/>
          <a:p>
            <a:endParaRPr lang="fr-FR"/>
          </a:p>
        </p:txBody>
      </p:sp>
      <p:sp>
        <p:nvSpPr>
          <p:cNvPr id="16" name="Text 12"/>
          <p:cNvSpPr/>
          <p:nvPr/>
        </p:nvSpPr>
        <p:spPr>
          <a:xfrm>
            <a:off x="4601567" y="3741241"/>
            <a:ext cx="307842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A4F12"/>
                </a:solidFill>
                <a:latin typeface="Nunito Sans" pitchFamily="34" charset="0"/>
                <a:ea typeface="Nunito Sans" pitchFamily="34" charset="-122"/>
                <a:cs typeface="Nunito Sans" pitchFamily="34" charset="-120"/>
              </a:rPr>
              <a:t>CONSÉQUENCES</a:t>
            </a:r>
            <a:endParaRPr lang="en-US" sz="1200" dirty="0"/>
          </a:p>
        </p:txBody>
      </p:sp>
      <p:sp>
        <p:nvSpPr>
          <p:cNvPr id="17" name="Text 13"/>
          <p:cNvSpPr/>
          <p:nvPr/>
        </p:nvSpPr>
        <p:spPr>
          <a:xfrm>
            <a:off x="4601567" y="4005362"/>
            <a:ext cx="307842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E3A2F"/>
                </a:solidFill>
                <a:latin typeface="Nunito Sans" pitchFamily="34" charset="0"/>
                <a:ea typeface="Nunito Sans" pitchFamily="34" charset="-122"/>
                <a:cs typeface="Nunito Sans" pitchFamily="34" charset="-120"/>
              </a:rPr>
              <a:t>Non-délivrances, métrites, avortements précoces, veaux fragiles, poil terne.</a:t>
            </a:r>
            <a:endParaRPr lang="en-US" sz="1200" dirty="0"/>
          </a:p>
        </p:txBody>
      </p:sp>
      <p:sp>
        <p:nvSpPr>
          <p:cNvPr id="18" name="Shape 14"/>
          <p:cNvSpPr/>
          <p:nvPr/>
        </p:nvSpPr>
        <p:spPr>
          <a:xfrm>
            <a:off x="7958634" y="1828701"/>
            <a:ext cx="3420566" cy="1366441"/>
          </a:xfrm>
          <a:prstGeom prst="roundRect">
            <a:avLst>
              <a:gd name="adj" fmla="val 7435"/>
            </a:avLst>
          </a:prstGeom>
          <a:solidFill>
            <a:srgbClr val="1E3A2F"/>
          </a:solidFill>
          <a:ln/>
        </p:spPr>
        <p:txBody>
          <a:bodyPr/>
          <a:lstStyle/>
          <a:p>
            <a:endParaRPr lang="fr-FR"/>
          </a:p>
        </p:txBody>
      </p:sp>
      <p:sp>
        <p:nvSpPr>
          <p:cNvPr id="19" name="Text 15"/>
          <p:cNvSpPr/>
          <p:nvPr/>
        </p:nvSpPr>
        <p:spPr>
          <a:xfrm>
            <a:off x="8161834" y="2031901"/>
            <a:ext cx="3104591"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6F2E8"/>
                </a:solidFill>
                <a:latin typeface="Domine" pitchFamily="34" charset="0"/>
                <a:ea typeface="Domine" pitchFamily="34" charset="-122"/>
                <a:cs typeface="Domine" pitchFamily="34" charset="-120"/>
              </a:rPr>
              <a:t>Trop de calcium et de potassium avant vêlage</a:t>
            </a:r>
            <a:endParaRPr lang="en-US" sz="1500" dirty="0"/>
          </a:p>
        </p:txBody>
      </p:sp>
      <p:sp>
        <p:nvSpPr>
          <p:cNvPr id="20" name="Text 16"/>
          <p:cNvSpPr/>
          <p:nvPr/>
        </p:nvSpPr>
        <p:spPr>
          <a:xfrm>
            <a:off x="8161834" y="2565301"/>
            <a:ext cx="310459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DCD3"/>
                </a:solidFill>
                <a:latin typeface="Nunito Sans" pitchFamily="34" charset="0"/>
                <a:ea typeface="Nunito Sans" pitchFamily="34" charset="-122"/>
                <a:cs typeface="Nunito Sans" pitchFamily="34" charset="-120"/>
              </a:rPr>
              <a:t>Preuves : Ca/P de la ration ≈ 3,8 ; potassium 14 g/kg MS.</a:t>
            </a:r>
            <a:endParaRPr lang="en-US" sz="1200" dirty="0"/>
          </a:p>
        </p:txBody>
      </p:sp>
      <p:pic>
        <p:nvPicPr>
          <p:cNvPr id="21" name="Image 2" descr="arrow-down"/>
          <p:cNvPicPr>
            <a:picLocks noChangeAspect="1"/>
          </p:cNvPicPr>
          <p:nvPr/>
        </p:nvPicPr>
        <p:blipFill>
          <a:blip r:embed="rId3"/>
          <a:srcRect/>
          <a:stretch/>
        </p:blipFill>
        <p:spPr>
          <a:xfrm>
            <a:off x="9567267" y="3296741"/>
            <a:ext cx="203200" cy="355600"/>
          </a:xfrm>
          <a:prstGeom prst="rect">
            <a:avLst/>
          </a:prstGeom>
        </p:spPr>
      </p:pic>
      <p:sp>
        <p:nvSpPr>
          <p:cNvPr id="22" name="Shape 17"/>
          <p:cNvSpPr/>
          <p:nvPr/>
        </p:nvSpPr>
        <p:spPr>
          <a:xfrm>
            <a:off x="7964984" y="3760291"/>
            <a:ext cx="3407866" cy="1109861"/>
          </a:xfrm>
          <a:prstGeom prst="roundRect">
            <a:avLst>
              <a:gd name="adj" fmla="val 8582"/>
            </a:avLst>
          </a:prstGeom>
          <a:solidFill>
            <a:srgbClr val="FBF9F3"/>
          </a:solidFill>
          <a:ln w="12700">
            <a:solidFill>
              <a:srgbClr val="D8CEB6"/>
            </a:solidFill>
            <a:prstDash val="solid"/>
          </a:ln>
        </p:spPr>
        <p:txBody>
          <a:bodyPr/>
          <a:lstStyle/>
          <a:p>
            <a:endParaRPr lang="fr-FR"/>
          </a:p>
        </p:txBody>
      </p:sp>
      <p:sp>
        <p:nvSpPr>
          <p:cNvPr id="23" name="Text 18"/>
          <p:cNvSpPr/>
          <p:nvPr/>
        </p:nvSpPr>
        <p:spPr>
          <a:xfrm>
            <a:off x="8174534" y="3969841"/>
            <a:ext cx="307842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A4F12"/>
                </a:solidFill>
                <a:latin typeface="Nunito Sans" pitchFamily="34" charset="0"/>
                <a:ea typeface="Nunito Sans" pitchFamily="34" charset="-122"/>
                <a:cs typeface="Nunito Sans" pitchFamily="34" charset="-120"/>
              </a:rPr>
              <a:t>CONSÉQUENCES</a:t>
            </a:r>
            <a:endParaRPr lang="en-US" sz="1200" dirty="0"/>
          </a:p>
        </p:txBody>
      </p:sp>
      <p:sp>
        <p:nvSpPr>
          <p:cNvPr id="24" name="Text 19"/>
          <p:cNvSpPr/>
          <p:nvPr/>
        </p:nvSpPr>
        <p:spPr>
          <a:xfrm>
            <a:off x="8174534" y="4233962"/>
            <a:ext cx="307842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E3A2F"/>
                </a:solidFill>
                <a:latin typeface="Nunito Sans" pitchFamily="34" charset="0"/>
                <a:ea typeface="Nunito Sans" pitchFamily="34" charset="-122"/>
                <a:cs typeface="Nunito Sans" pitchFamily="34" charset="-120"/>
              </a:rPr>
              <a:t>Hypocalcémie discrète au vêlage : retournements, non-délivrances, métrites.</a:t>
            </a:r>
            <a:endParaRPr lang="en-US" sz="1200" dirty="0"/>
          </a:p>
        </p:txBody>
      </p:sp>
      <p:sp>
        <p:nvSpPr>
          <p:cNvPr id="25"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66"/>
                </a:solidFill>
                <a:latin typeface="Nunito Sans" pitchFamily="34" charset="0"/>
                <a:ea typeface="Nunito Sans" pitchFamily="34" charset="-122"/>
                <a:cs typeface="Nunito Sans" pitchFamily="34" charset="-120"/>
              </a:rPr>
              <a:t>EARL </a:t>
            </a:r>
            <a:r>
              <a:rPr lang="en-US" sz="1200" dirty="0" err="1">
                <a:solidFill>
                  <a:srgbClr val="6B7266"/>
                </a:solidFill>
                <a:latin typeface="Nunito Sans" pitchFamily="34" charset="0"/>
                <a:ea typeface="Nunito Sans" pitchFamily="34" charset="-122"/>
                <a:cs typeface="Nunito Sans" pitchFamily="34" charset="-120"/>
              </a:rPr>
              <a:t>Belvache</a:t>
            </a:r>
            <a:r>
              <a:rPr lang="en-US" sz="1200" dirty="0">
                <a:solidFill>
                  <a:srgbClr val="6B7266"/>
                </a:solidFill>
                <a:latin typeface="Nunito Sans" pitchFamily="34" charset="0"/>
                <a:ea typeface="Nunito Sans" pitchFamily="34" charset="-122"/>
                <a:cs typeface="Nunito Sans" pitchFamily="34" charset="-120"/>
              </a:rPr>
              <a:t> · approche globale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2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4F12"/>
                </a:solidFill>
                <a:latin typeface="Nunito Sans" pitchFamily="34" charset="0"/>
                <a:ea typeface="Nunito Sans" pitchFamily="34" charset="-122"/>
                <a:cs typeface="Nunito Sans" pitchFamily="34" charset="-120"/>
              </a:rPr>
              <a:t>ÉTAPE 4 · CROISER</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E3A2F"/>
                </a:solidFill>
                <a:latin typeface="Domine" pitchFamily="34" charset="0"/>
                <a:ea typeface="Domine" pitchFamily="34" charset="-122"/>
                <a:cs typeface="Domine" pitchFamily="34" charset="-120"/>
              </a:rPr>
              <a:t>Une grille pour orienter la recherche</a:t>
            </a:r>
            <a:endParaRPr lang="en-US" sz="3200" dirty="0"/>
          </a:p>
        </p:txBody>
      </p:sp>
      <p:sp>
        <p:nvSpPr>
          <p:cNvPr id="4" name="Shape 2"/>
          <p:cNvSpPr/>
          <p:nvPr/>
        </p:nvSpPr>
        <p:spPr>
          <a:xfrm>
            <a:off x="11376025" y="1828701"/>
            <a:ext cx="0" cy="2560439"/>
          </a:xfrm>
          <a:prstGeom prst="line">
            <a:avLst/>
          </a:prstGeom>
          <a:noFill/>
          <a:ln w="6350">
            <a:solidFill>
              <a:srgbClr val="D8CEB6"/>
            </a:solidFill>
            <a:prstDash val="solid"/>
          </a:ln>
        </p:spPr>
        <p:txBody>
          <a:bodyPr/>
          <a:lstStyle/>
          <a:p>
            <a:endParaRPr lang="fr-FR"/>
          </a:p>
        </p:txBody>
      </p:sp>
      <p:sp>
        <p:nvSpPr>
          <p:cNvPr id="5" name="Shape 3"/>
          <p:cNvSpPr/>
          <p:nvPr/>
        </p:nvSpPr>
        <p:spPr>
          <a:xfrm>
            <a:off x="812800" y="4385965"/>
            <a:ext cx="10566400" cy="0"/>
          </a:xfrm>
          <a:prstGeom prst="line">
            <a:avLst/>
          </a:prstGeom>
          <a:noFill/>
          <a:ln w="6350">
            <a:solidFill>
              <a:srgbClr val="D8CEB6"/>
            </a:solidFill>
            <a:prstDash val="solid"/>
          </a:ln>
        </p:spPr>
        <p:txBody>
          <a:bodyPr/>
          <a:lstStyle/>
          <a:p>
            <a:endParaRPr lang="fr-F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841401"/>
          <a:ext cx="10547351" cy="2541388"/>
        </p:xfrm>
        <a:graphic>
          <a:graphicData uri="http://schemas.openxmlformats.org/drawingml/2006/table">
            <a:tbl>
              <a:tblPr/>
              <a:tblGrid>
                <a:gridCol w="2636838">
                  <a:extLst>
                    <a:ext uri="{9D8B030D-6E8A-4147-A177-3AD203B41FA5}">
                      <a16:colId xmlns:a16="http://schemas.microsoft.com/office/drawing/2014/main" val="20000"/>
                    </a:ext>
                  </a:extLst>
                </a:gridCol>
                <a:gridCol w="1793050">
                  <a:extLst>
                    <a:ext uri="{9D8B030D-6E8A-4147-A177-3AD203B41FA5}">
                      <a16:colId xmlns:a16="http://schemas.microsoft.com/office/drawing/2014/main" val="20001"/>
                    </a:ext>
                  </a:extLst>
                </a:gridCol>
                <a:gridCol w="1582102">
                  <a:extLst>
                    <a:ext uri="{9D8B030D-6E8A-4147-A177-3AD203B41FA5}">
                      <a16:colId xmlns:a16="http://schemas.microsoft.com/office/drawing/2014/main" val="20002"/>
                    </a:ext>
                  </a:extLst>
                </a:gridCol>
                <a:gridCol w="1793050">
                  <a:extLst>
                    <a:ext uri="{9D8B030D-6E8A-4147-A177-3AD203B41FA5}">
                      <a16:colId xmlns:a16="http://schemas.microsoft.com/office/drawing/2014/main" val="20003"/>
                    </a:ext>
                  </a:extLst>
                </a:gridCol>
                <a:gridCol w="1265682">
                  <a:extLst>
                    <a:ext uri="{9D8B030D-6E8A-4147-A177-3AD203B41FA5}">
                      <a16:colId xmlns:a16="http://schemas.microsoft.com/office/drawing/2014/main" val="20004"/>
                    </a:ext>
                  </a:extLst>
                </a:gridCol>
                <a:gridCol w="1476629">
                  <a:extLst>
                    <a:ext uri="{9D8B030D-6E8A-4147-A177-3AD203B41FA5}">
                      <a16:colId xmlns:a16="http://schemas.microsoft.com/office/drawing/2014/main" val="20005"/>
                    </a:ext>
                  </a:extLst>
                </a:gridCol>
              </a:tblGrid>
              <a:tr h="545902">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Trouble</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Immunité, vitamines, oligo</a:t>
                      </a:r>
                      <a:endParaRPr lang="en-US" sz="1200" dirty="0">
                        <a:latin typeface="Nunito Sans" charset="0"/>
                        <a:ea typeface="Nunito Sans" charset="0"/>
                        <a:cs typeface="Nunito Sans" charset="0"/>
                      </a:endParaRPr>
                    </a:p>
                  </a:txBody>
                  <a:tcPr marL="53340" marR="53340" marT="53340" marB="53340">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Métabolisme minéral</a:t>
                      </a:r>
                      <a:endParaRPr lang="en-US" sz="1200" dirty="0">
                        <a:latin typeface="Nunito Sans" charset="0"/>
                        <a:ea typeface="Nunito Sans" charset="0"/>
                        <a:cs typeface="Nunito Sans" charset="0"/>
                      </a:endParaRPr>
                    </a:p>
                  </a:txBody>
                  <a:tcPr marL="53340" marR="53340" marT="53340" marB="53340">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Métabolisme énergétique</a:t>
                      </a:r>
                      <a:endParaRPr lang="en-US" sz="1200" dirty="0">
                        <a:latin typeface="Nunito Sans" charset="0"/>
                        <a:ea typeface="Nunito Sans" charset="0"/>
                        <a:cs typeface="Nunito Sans" charset="0"/>
                      </a:endParaRPr>
                    </a:p>
                  </a:txBody>
                  <a:tcPr marL="53340" marR="53340" marT="53340" marB="53340">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Confort</a:t>
                      </a:r>
                      <a:endParaRPr lang="en-US" sz="1200" dirty="0">
                        <a:latin typeface="Nunito Sans" charset="0"/>
                        <a:ea typeface="Nunito Sans" charset="0"/>
                        <a:cs typeface="Nunito Sans" charset="0"/>
                      </a:endParaRPr>
                    </a:p>
                  </a:txBody>
                  <a:tcPr marL="53340" marR="53340" marT="53340" marB="53340">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Infectieux</a:t>
                      </a:r>
                      <a:endParaRPr lang="en-US" sz="1200" dirty="0">
                        <a:latin typeface="Nunito Sans" charset="0"/>
                        <a:ea typeface="Nunito Sans" charset="0"/>
                        <a:cs typeface="Nunito Sans" charset="0"/>
                      </a:endParaRPr>
                    </a:p>
                  </a:txBody>
                  <a:tcPr marL="53340" marR="53340" marT="53340" marB="53340">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Non-délivrance</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XXX</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XXX</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X</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Métrite</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XX</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XX</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XX</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X</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XXX</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Troubles de reproduction</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XX</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XX</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XXX</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X</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X</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Avortement</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XX</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X</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XXX</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Veaux : mortalité, maladies</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XXX</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X</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X</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X</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XXX</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5"/>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Boiterie</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X</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XXX</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XX</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XXX</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6"/>
                  </a:ext>
                </a:extLst>
              </a:tr>
            </a:tbl>
          </a:graphicData>
        </a:graphic>
      </p:graphicFrame>
      <p:sp>
        <p:nvSpPr>
          <p:cNvPr id="7" name="Text 4"/>
          <p:cNvSpPr/>
          <p:nvPr/>
        </p:nvSpPr>
        <p:spPr>
          <a:xfrm>
            <a:off x="812800" y="4643140"/>
            <a:ext cx="10883392"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448"/>
                </a:solidFill>
                <a:latin typeface="Nunito Sans" pitchFamily="34" charset="0"/>
                <a:ea typeface="Nunito Sans" pitchFamily="34" charset="-122"/>
                <a:cs typeface="Nunito Sans" pitchFamily="34" charset="-120"/>
              </a:rPr>
              <a:t>Chez Forgeneuf, les colonnes « oligo-éléments » et « métabolisme minéral » ressortent sur presque tous les troubles : c'était la première piste à creuser.</a:t>
            </a:r>
            <a:endParaRPr lang="en-US" sz="13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66"/>
                </a:solidFill>
                <a:latin typeface="Nunito Sans" pitchFamily="34" charset="0"/>
                <a:ea typeface="Nunito Sans" pitchFamily="34" charset="-122"/>
                <a:cs typeface="Nunito Sans" pitchFamily="34" charset="-120"/>
              </a:rPr>
              <a:t>XXX = lien fort, X = lien faible · grille NBVC, bilan de santé élevage allaitant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2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4F12"/>
                </a:solidFill>
                <a:latin typeface="Nunito Sans" pitchFamily="34" charset="0"/>
                <a:ea typeface="Nunito Sans" pitchFamily="34" charset="-122"/>
                <a:cs typeface="Nunito Sans" pitchFamily="34" charset="-120"/>
              </a:rPr>
              <a:t>ÉTAPE 5 · AGIR</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E3A2F"/>
                </a:solidFill>
                <a:latin typeface="Domine" pitchFamily="34" charset="0"/>
                <a:ea typeface="Domine" pitchFamily="34" charset="-122"/>
                <a:cs typeface="Domine" pitchFamily="34" charset="-120"/>
              </a:rPr>
              <a:t>Un plan d'action priorisé</a:t>
            </a:r>
            <a:endParaRPr lang="en-US" sz="3200" dirty="0"/>
          </a:p>
        </p:txBody>
      </p:sp>
      <p:sp>
        <p:nvSpPr>
          <p:cNvPr id="4" name="Shape 2"/>
          <p:cNvSpPr/>
          <p:nvPr/>
        </p:nvSpPr>
        <p:spPr>
          <a:xfrm>
            <a:off x="819150" y="1835051"/>
            <a:ext cx="3407767" cy="2719983"/>
          </a:xfrm>
          <a:prstGeom prst="roundRect">
            <a:avLst>
              <a:gd name="adj" fmla="val 3502"/>
            </a:avLst>
          </a:prstGeom>
          <a:solidFill>
            <a:srgbClr val="FBF9F3"/>
          </a:solidFill>
          <a:ln w="12700">
            <a:solidFill>
              <a:srgbClr val="D8CEB6"/>
            </a:solidFill>
            <a:prstDash val="solid"/>
          </a:ln>
        </p:spPr>
        <p:txBody>
          <a:bodyPr/>
          <a:lstStyle/>
          <a:p>
            <a:endParaRPr lang="fr-FR"/>
          </a:p>
        </p:txBody>
      </p:sp>
      <p:sp>
        <p:nvSpPr>
          <p:cNvPr id="5" name="Text 3"/>
          <p:cNvSpPr/>
          <p:nvPr/>
        </p:nvSpPr>
        <p:spPr>
          <a:xfrm>
            <a:off x="1028700" y="2044601"/>
            <a:ext cx="307832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A4F12"/>
                </a:solidFill>
                <a:latin typeface="Nunito Sans" pitchFamily="34" charset="0"/>
                <a:ea typeface="Nunito Sans" pitchFamily="34" charset="-122"/>
                <a:cs typeface="Nunito Sans" pitchFamily="34" charset="-120"/>
              </a:rPr>
              <a:t>PRIORITÉ 1</a:t>
            </a:r>
            <a:endParaRPr lang="en-US" sz="1200" dirty="0"/>
          </a:p>
        </p:txBody>
      </p:sp>
      <p:sp>
        <p:nvSpPr>
          <p:cNvPr id="6" name="Text 4"/>
          <p:cNvSpPr/>
          <p:nvPr/>
        </p:nvSpPr>
        <p:spPr>
          <a:xfrm>
            <a:off x="1028700" y="2334121"/>
            <a:ext cx="307832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3A2F"/>
                </a:solidFill>
                <a:latin typeface="Domine" pitchFamily="34" charset="0"/>
                <a:ea typeface="Domine" pitchFamily="34" charset="-122"/>
                <a:cs typeface="Domine" pitchFamily="34" charset="-120"/>
              </a:rPr>
              <a:t>Tout de suite, avant les vêlages</a:t>
            </a:r>
            <a:endParaRPr lang="en-US" sz="1500" dirty="0"/>
          </a:p>
        </p:txBody>
      </p:sp>
      <p:sp>
        <p:nvSpPr>
          <p:cNvPr id="7" name="Text 5"/>
          <p:cNvSpPr/>
          <p:nvPr/>
        </p:nvSpPr>
        <p:spPr>
          <a:xfrm>
            <a:off x="1127506" y="2638921"/>
            <a:ext cx="2971901" cy="1731963"/>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4A5448"/>
                </a:solidFill>
                <a:latin typeface="Nunito Sans" pitchFamily="34" charset="0"/>
                <a:ea typeface="Nunito Sans" pitchFamily="34" charset="-122"/>
                <a:cs typeface="Nunito Sans" pitchFamily="34" charset="-120"/>
              </a:rPr>
              <a:t>Retirer le minéral périmé, vérifier ce que les vaches consomment vraiment, y compris au pâturage.</a:t>
            </a:r>
            <a:endParaRPr lang="en-US" sz="1200" dirty="0"/>
          </a:p>
          <a:p>
            <a:pPr marL="155194" indent="-155194" algn="l">
              <a:lnSpc>
                <a:spcPts val="1680"/>
              </a:lnSpc>
              <a:buSzPct val="100000"/>
              <a:buChar char="•"/>
            </a:pPr>
            <a:r>
              <a:rPr lang="en-US" sz="1200" dirty="0">
                <a:solidFill>
                  <a:srgbClr val="4A5448"/>
                </a:solidFill>
                <a:latin typeface="Nunito Sans" pitchFamily="34" charset="0"/>
                <a:ea typeface="Nunito Sans" pitchFamily="34" charset="-122"/>
                <a:cs typeface="Nunito Sans" pitchFamily="34" charset="-120"/>
              </a:rPr>
              <a:t>Sélénium et iode avec le vétérinaire : bolus ou injection au tarissement, 6 à 8 semaines avant vêlage.</a:t>
            </a:r>
            <a:endParaRPr lang="en-US" sz="1200" dirty="0"/>
          </a:p>
          <a:p>
            <a:pPr marL="155194" indent="-155194" algn="l">
              <a:lnSpc>
                <a:spcPts val="1680"/>
              </a:lnSpc>
              <a:buSzPct val="100000"/>
              <a:buChar char="•"/>
            </a:pPr>
            <a:r>
              <a:rPr lang="en-US" sz="1200" dirty="0">
                <a:solidFill>
                  <a:srgbClr val="4A5448"/>
                </a:solidFill>
                <a:latin typeface="Nunito Sans" pitchFamily="34" charset="0"/>
                <a:ea typeface="Nunito Sans" pitchFamily="34" charset="-122"/>
                <a:cs typeface="Nunito Sans" pitchFamily="34" charset="-120"/>
              </a:rPr>
              <a:t>Blocs de sel iodé à volonté toute l'année.</a:t>
            </a:r>
            <a:endParaRPr lang="en-US" sz="1200" dirty="0"/>
          </a:p>
        </p:txBody>
      </p:sp>
      <p:sp>
        <p:nvSpPr>
          <p:cNvPr id="8" name="Shape 6"/>
          <p:cNvSpPr/>
          <p:nvPr/>
        </p:nvSpPr>
        <p:spPr>
          <a:xfrm>
            <a:off x="4392017" y="1835051"/>
            <a:ext cx="3407866" cy="2719983"/>
          </a:xfrm>
          <a:prstGeom prst="roundRect">
            <a:avLst>
              <a:gd name="adj" fmla="val 3502"/>
            </a:avLst>
          </a:prstGeom>
          <a:solidFill>
            <a:srgbClr val="FBF9F3"/>
          </a:solidFill>
          <a:ln w="12700">
            <a:solidFill>
              <a:srgbClr val="D8CEB6"/>
            </a:solidFill>
            <a:prstDash val="solid"/>
          </a:ln>
        </p:spPr>
        <p:txBody>
          <a:bodyPr/>
          <a:lstStyle/>
          <a:p>
            <a:endParaRPr lang="fr-FR"/>
          </a:p>
        </p:txBody>
      </p:sp>
      <p:sp>
        <p:nvSpPr>
          <p:cNvPr id="9" name="Text 7"/>
          <p:cNvSpPr/>
          <p:nvPr/>
        </p:nvSpPr>
        <p:spPr>
          <a:xfrm>
            <a:off x="4601567" y="2044601"/>
            <a:ext cx="307842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A4F12"/>
                </a:solidFill>
                <a:latin typeface="Nunito Sans" pitchFamily="34" charset="0"/>
                <a:ea typeface="Nunito Sans" pitchFamily="34" charset="-122"/>
                <a:cs typeface="Nunito Sans" pitchFamily="34" charset="-120"/>
              </a:rPr>
              <a:t>PRIORITÉ 2</a:t>
            </a:r>
            <a:endParaRPr lang="en-US" sz="1200" dirty="0"/>
          </a:p>
        </p:txBody>
      </p:sp>
      <p:sp>
        <p:nvSpPr>
          <p:cNvPr id="10" name="Text 8"/>
          <p:cNvSpPr/>
          <p:nvPr/>
        </p:nvSpPr>
        <p:spPr>
          <a:xfrm>
            <a:off x="4601567" y="2334121"/>
            <a:ext cx="307842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3A2F"/>
                </a:solidFill>
                <a:latin typeface="Domine" pitchFamily="34" charset="0"/>
                <a:ea typeface="Domine" pitchFamily="34" charset="-122"/>
                <a:cs typeface="Domine" pitchFamily="34" charset="-120"/>
              </a:rPr>
              <a:t>Dès l'hivernage</a:t>
            </a:r>
            <a:endParaRPr lang="en-US" sz="1500" dirty="0"/>
          </a:p>
        </p:txBody>
      </p:sp>
      <p:sp>
        <p:nvSpPr>
          <p:cNvPr id="11" name="Text 9"/>
          <p:cNvSpPr/>
          <p:nvPr/>
        </p:nvSpPr>
        <p:spPr>
          <a:xfrm>
            <a:off x="4700373" y="2638921"/>
            <a:ext cx="2972003" cy="1731963"/>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4A5448"/>
                </a:solidFill>
                <a:latin typeface="Nunito Sans" pitchFamily="34" charset="0"/>
                <a:ea typeface="Nunito Sans" pitchFamily="34" charset="-122"/>
                <a:cs typeface="Nunito Sans" pitchFamily="34" charset="-120"/>
              </a:rPr>
              <a:t>Lot prépa vêlage : minéral « spécial tarie » pauvre en calcium, chlorure de magnésium les 3 dernières semaines.</a:t>
            </a:r>
            <a:endParaRPr lang="en-US" sz="1200" dirty="0"/>
          </a:p>
          <a:p>
            <a:pPr marL="155194" indent="-155194" algn="l">
              <a:lnSpc>
                <a:spcPts val="1680"/>
              </a:lnSpc>
              <a:buSzPct val="100000"/>
              <a:buChar char="•"/>
            </a:pPr>
            <a:r>
              <a:rPr lang="en-US" sz="1200" dirty="0">
                <a:solidFill>
                  <a:srgbClr val="4A5448"/>
                </a:solidFill>
                <a:latin typeface="Nunito Sans" pitchFamily="34" charset="0"/>
                <a:ea typeface="Nunito Sans" pitchFamily="34" charset="-122"/>
                <a:cs typeface="Nunito Sans" pitchFamily="34" charset="-120"/>
              </a:rPr>
              <a:t>Correcteur azoté 1 kg/jour aussi pour les vaches en lactation.</a:t>
            </a:r>
            <a:endParaRPr lang="en-US" sz="1200" dirty="0"/>
          </a:p>
          <a:p>
            <a:pPr marL="155194" indent="-155194" algn="l">
              <a:lnSpc>
                <a:spcPts val="1680"/>
              </a:lnSpc>
              <a:buSzPct val="100000"/>
              <a:buChar char="•"/>
            </a:pPr>
            <a:r>
              <a:rPr lang="en-US" sz="1200" dirty="0">
                <a:solidFill>
                  <a:srgbClr val="4A5448"/>
                </a:solidFill>
                <a:latin typeface="Nunito Sans" pitchFamily="34" charset="0"/>
                <a:ea typeface="Nunito Sans" pitchFamily="34" charset="-122"/>
                <a:cs typeface="Nunito Sans" pitchFamily="34" charset="-120"/>
              </a:rPr>
              <a:t>Transitions sur 2 à 3 semaines ; colostrum contrôlé au Brix, cordon désinfecté.</a:t>
            </a:r>
            <a:endParaRPr lang="en-US" sz="1200" dirty="0"/>
          </a:p>
        </p:txBody>
      </p:sp>
      <p:sp>
        <p:nvSpPr>
          <p:cNvPr id="12" name="Shape 10"/>
          <p:cNvSpPr/>
          <p:nvPr/>
        </p:nvSpPr>
        <p:spPr>
          <a:xfrm>
            <a:off x="7964984" y="1835051"/>
            <a:ext cx="3407866" cy="2719983"/>
          </a:xfrm>
          <a:prstGeom prst="roundRect">
            <a:avLst>
              <a:gd name="adj" fmla="val 3502"/>
            </a:avLst>
          </a:prstGeom>
          <a:solidFill>
            <a:srgbClr val="FBF9F3"/>
          </a:solidFill>
          <a:ln w="12700">
            <a:solidFill>
              <a:srgbClr val="D8CEB6"/>
            </a:solidFill>
            <a:prstDash val="solid"/>
          </a:ln>
        </p:spPr>
        <p:txBody>
          <a:bodyPr/>
          <a:lstStyle/>
          <a:p>
            <a:endParaRPr lang="fr-FR"/>
          </a:p>
        </p:txBody>
      </p:sp>
      <p:sp>
        <p:nvSpPr>
          <p:cNvPr id="13" name="Text 11"/>
          <p:cNvSpPr/>
          <p:nvPr/>
        </p:nvSpPr>
        <p:spPr>
          <a:xfrm>
            <a:off x="8174534" y="2044601"/>
            <a:ext cx="307842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A4F12"/>
                </a:solidFill>
                <a:latin typeface="Nunito Sans" pitchFamily="34" charset="0"/>
                <a:ea typeface="Nunito Sans" pitchFamily="34" charset="-122"/>
                <a:cs typeface="Nunito Sans" pitchFamily="34" charset="-120"/>
              </a:rPr>
              <a:t>PRIORITÉ 3</a:t>
            </a:r>
            <a:endParaRPr lang="en-US" sz="1200" dirty="0"/>
          </a:p>
        </p:txBody>
      </p:sp>
      <p:sp>
        <p:nvSpPr>
          <p:cNvPr id="14" name="Text 12"/>
          <p:cNvSpPr/>
          <p:nvPr/>
        </p:nvSpPr>
        <p:spPr>
          <a:xfrm>
            <a:off x="8174534" y="2334121"/>
            <a:ext cx="307842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3A2F"/>
                </a:solidFill>
                <a:latin typeface="Domine" pitchFamily="34" charset="0"/>
                <a:ea typeface="Domine" pitchFamily="34" charset="-122"/>
                <a:cs typeface="Domine" pitchFamily="34" charset="-120"/>
              </a:rPr>
              <a:t>Campagne 2027</a:t>
            </a:r>
            <a:endParaRPr lang="en-US" sz="1500" dirty="0"/>
          </a:p>
        </p:txBody>
      </p:sp>
      <p:sp>
        <p:nvSpPr>
          <p:cNvPr id="15" name="Text 13"/>
          <p:cNvSpPr/>
          <p:nvPr/>
        </p:nvSpPr>
        <p:spPr>
          <a:xfrm>
            <a:off x="8273340" y="2638921"/>
            <a:ext cx="2972003" cy="1518642"/>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4A5448"/>
                </a:solidFill>
                <a:latin typeface="Nunito Sans" pitchFamily="34" charset="0"/>
                <a:ea typeface="Nunito Sans" pitchFamily="34" charset="-122"/>
                <a:cs typeface="Nunito Sans" pitchFamily="34" charset="-120"/>
              </a:rPr>
              <a:t>Faucher l'enrubannage plus tôt (début épiaison) et sursemer des trèfles.</a:t>
            </a:r>
            <a:endParaRPr lang="en-US" sz="1200" dirty="0"/>
          </a:p>
          <a:p>
            <a:pPr marL="155194" indent="-155194" algn="l">
              <a:lnSpc>
                <a:spcPts val="1680"/>
              </a:lnSpc>
              <a:buSzPct val="100000"/>
              <a:buChar char="•"/>
            </a:pPr>
            <a:r>
              <a:rPr lang="en-US" sz="1200" dirty="0">
                <a:solidFill>
                  <a:srgbClr val="4A5448"/>
                </a:solidFill>
                <a:latin typeface="Nunito Sans" pitchFamily="34" charset="0"/>
                <a:ea typeface="Nunito Sans" pitchFamily="34" charset="-122"/>
                <a:cs typeface="Nunito Sans" pitchFamily="34" charset="-120"/>
              </a:rPr>
              <a:t>Fauche et fanage à 7–8 cm, gestion des taupinières.</a:t>
            </a:r>
            <a:endParaRPr lang="en-US" sz="1200" dirty="0"/>
          </a:p>
          <a:p>
            <a:pPr marL="155194" indent="-155194" algn="l">
              <a:lnSpc>
                <a:spcPts val="1680"/>
              </a:lnSpc>
              <a:buSzPct val="100000"/>
              <a:buChar char="•"/>
            </a:pPr>
            <a:r>
              <a:rPr lang="en-US" sz="1200" dirty="0">
                <a:solidFill>
                  <a:srgbClr val="4A5448"/>
                </a:solidFill>
                <a:latin typeface="Nunito Sans" pitchFamily="34" charset="0"/>
                <a:ea typeface="Nunito Sans" pitchFamily="34" charset="-122"/>
                <a:cs typeface="Nunito Sans" pitchFamily="34" charset="-120"/>
              </a:rPr>
              <a:t>Analyse d'eau complète, traitement de l'eau si besoin après avis d'un technicien.</a:t>
            </a:r>
            <a:endParaRPr lang="en-US" sz="12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66"/>
                </a:solidFill>
                <a:latin typeface="Nunito Sans" pitchFamily="34" charset="0"/>
                <a:ea typeface="Nunito Sans" pitchFamily="34" charset="-122"/>
                <a:cs typeface="Nunito Sans" pitchFamily="34" charset="-120"/>
              </a:rPr>
              <a:t>EARL </a:t>
            </a:r>
            <a:r>
              <a:rPr lang="en-US" sz="1200" dirty="0" err="1">
                <a:solidFill>
                  <a:srgbClr val="6B7266"/>
                </a:solidFill>
                <a:latin typeface="Nunito Sans" pitchFamily="34" charset="0"/>
                <a:ea typeface="Nunito Sans" pitchFamily="34" charset="-122"/>
                <a:cs typeface="Nunito Sans" pitchFamily="34" charset="-120"/>
              </a:rPr>
              <a:t>Belvache</a:t>
            </a:r>
            <a:r>
              <a:rPr lang="en-US" sz="1200" dirty="0">
                <a:solidFill>
                  <a:srgbClr val="6B7266"/>
                </a:solidFill>
                <a:latin typeface="Nunito Sans" pitchFamily="34" charset="0"/>
                <a:ea typeface="Nunito Sans" pitchFamily="34" charset="-122"/>
                <a:cs typeface="Nunito Sans" pitchFamily="34" charset="-120"/>
              </a:rPr>
              <a:t> · approche globale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2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4F12"/>
                </a:solidFill>
                <a:latin typeface="Nunito Sans" pitchFamily="34" charset="0"/>
                <a:ea typeface="Nunito Sans" pitchFamily="34" charset="-122"/>
                <a:cs typeface="Nunito Sans" pitchFamily="34" charset="-120"/>
              </a:rPr>
              <a:t>ÉTAPE 5 · FICHE ACTION 1</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E3A2F"/>
                </a:solidFill>
                <a:latin typeface="Domine" pitchFamily="34" charset="0"/>
                <a:ea typeface="Domine" pitchFamily="34" charset="-122"/>
                <a:cs typeface="Domine" pitchFamily="34" charset="-120"/>
              </a:rPr>
              <a:t>Minéral, sélénium et iode</a:t>
            </a:r>
            <a:endParaRPr lang="en-US" sz="3200" dirty="0"/>
          </a:p>
        </p:txBody>
      </p:sp>
      <p:sp>
        <p:nvSpPr>
          <p:cNvPr id="4" name="Shape 2"/>
          <p:cNvSpPr/>
          <p:nvPr/>
        </p:nvSpPr>
        <p:spPr>
          <a:xfrm>
            <a:off x="812800" y="1828701"/>
            <a:ext cx="3175000" cy="3022104"/>
          </a:xfrm>
          <a:prstGeom prst="roundRect">
            <a:avLst>
              <a:gd name="adj" fmla="val 3362"/>
            </a:avLst>
          </a:prstGeom>
          <a:solidFill>
            <a:srgbClr val="1E3A2F"/>
          </a:solidFill>
          <a:ln/>
        </p:spPr>
        <p:txBody>
          <a:bodyPr/>
          <a:lstStyle/>
          <a:p>
            <a:endParaRPr lang="fr-FR"/>
          </a:p>
        </p:txBody>
      </p:sp>
      <p:sp>
        <p:nvSpPr>
          <p:cNvPr id="5" name="Text 3"/>
          <p:cNvSpPr/>
          <p:nvPr/>
        </p:nvSpPr>
        <p:spPr>
          <a:xfrm>
            <a:off x="1041400" y="2057301"/>
            <a:ext cx="279933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3A566"/>
                </a:solidFill>
                <a:latin typeface="Nunito Sans" pitchFamily="34" charset="0"/>
                <a:ea typeface="Nunito Sans" pitchFamily="34" charset="-122"/>
                <a:cs typeface="Nunito Sans" pitchFamily="34" charset="-120"/>
              </a:rPr>
              <a:t>LE CONSTAT</a:t>
            </a:r>
            <a:endParaRPr lang="en-US" sz="1200" dirty="0"/>
          </a:p>
        </p:txBody>
      </p:sp>
      <p:sp>
        <p:nvSpPr>
          <p:cNvPr id="6" name="Text 4"/>
          <p:cNvSpPr/>
          <p:nvPr/>
        </p:nvSpPr>
        <p:spPr>
          <a:xfrm>
            <a:off x="1041400" y="2397621"/>
            <a:ext cx="2799334" cy="94972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6F2E8"/>
                </a:solidFill>
                <a:latin typeface="Nunito Sans" pitchFamily="34" charset="0"/>
                <a:ea typeface="Nunito Sans" pitchFamily="34" charset="-122"/>
                <a:cs typeface="Nunito Sans" pitchFamily="34" charset="-120"/>
              </a:rPr>
              <a:t>Sélénium et iode très bas chez les 5 vaches ; minéral périmé depuis 17 mois ; consommation réelle inconnue.</a:t>
            </a:r>
            <a:endParaRPr lang="en-US" sz="1300" dirty="0"/>
          </a:p>
        </p:txBody>
      </p:sp>
      <p:sp>
        <p:nvSpPr>
          <p:cNvPr id="7" name="Shape 5"/>
          <p:cNvSpPr/>
          <p:nvPr/>
        </p:nvSpPr>
        <p:spPr>
          <a:xfrm>
            <a:off x="1041400" y="3448943"/>
            <a:ext cx="2717800" cy="12700"/>
          </a:xfrm>
          <a:prstGeom prst="rect">
            <a:avLst/>
          </a:prstGeom>
          <a:solidFill>
            <a:srgbClr val="3F5C50"/>
          </a:solidFill>
          <a:ln/>
        </p:spPr>
        <p:txBody>
          <a:bodyPr/>
          <a:lstStyle/>
          <a:p>
            <a:endParaRPr lang="fr-FR"/>
          </a:p>
        </p:txBody>
      </p:sp>
      <p:sp>
        <p:nvSpPr>
          <p:cNvPr id="8" name="Text 6"/>
          <p:cNvSpPr/>
          <p:nvPr/>
        </p:nvSpPr>
        <p:spPr>
          <a:xfrm>
            <a:off x="1041400" y="3588643"/>
            <a:ext cx="279933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3A566"/>
                </a:solidFill>
                <a:latin typeface="Nunito Sans" pitchFamily="34" charset="0"/>
                <a:ea typeface="Nunito Sans" pitchFamily="34" charset="-122"/>
                <a:cs typeface="Nunito Sans" pitchFamily="34" charset="-120"/>
              </a:rPr>
              <a:t>LE CONTRÔLE</a:t>
            </a:r>
            <a:endParaRPr lang="en-US" sz="1200" dirty="0"/>
          </a:p>
        </p:txBody>
      </p:sp>
      <p:sp>
        <p:nvSpPr>
          <p:cNvPr id="9" name="Text 7"/>
          <p:cNvSpPr/>
          <p:nvPr/>
        </p:nvSpPr>
        <p:spPr>
          <a:xfrm>
            <a:off x="1041400" y="3928963"/>
            <a:ext cx="2799334"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6F2E8"/>
                </a:solidFill>
                <a:latin typeface="Nunito Sans" pitchFamily="34" charset="0"/>
                <a:ea typeface="Nunito Sans" pitchFamily="34" charset="-122"/>
                <a:cs typeface="Nunito Sans" pitchFamily="34" charset="-120"/>
              </a:rPr>
              <a:t>Prise de sang Se, I, Cu, Zn sur 5 à 6 vaches, 2 à 3 mois après la mise en place.</a:t>
            </a:r>
            <a:endParaRPr lang="en-US" sz="1300" dirty="0"/>
          </a:p>
        </p:txBody>
      </p:sp>
      <p:sp>
        <p:nvSpPr>
          <p:cNvPr id="10" name="Shape 8"/>
          <p:cNvSpPr/>
          <p:nvPr/>
        </p:nvSpPr>
        <p:spPr>
          <a:xfrm>
            <a:off x="11376025" y="1828701"/>
            <a:ext cx="0" cy="2321917"/>
          </a:xfrm>
          <a:prstGeom prst="line">
            <a:avLst/>
          </a:prstGeom>
          <a:noFill/>
          <a:ln w="6350">
            <a:solidFill>
              <a:srgbClr val="D8CEB6"/>
            </a:solidFill>
            <a:prstDash val="solid"/>
          </a:ln>
        </p:spPr>
        <p:txBody>
          <a:bodyPr/>
          <a:lstStyle/>
          <a:p>
            <a:endParaRPr lang="fr-FR"/>
          </a:p>
        </p:txBody>
      </p:sp>
      <p:sp>
        <p:nvSpPr>
          <p:cNvPr id="11" name="Shape 9"/>
          <p:cNvSpPr/>
          <p:nvPr/>
        </p:nvSpPr>
        <p:spPr>
          <a:xfrm>
            <a:off x="4140200" y="4147443"/>
            <a:ext cx="7239000" cy="0"/>
          </a:xfrm>
          <a:prstGeom prst="line">
            <a:avLst/>
          </a:prstGeom>
          <a:noFill/>
          <a:ln w="6350">
            <a:solidFill>
              <a:srgbClr val="D8CEB6"/>
            </a:solidFill>
            <a:prstDash val="solid"/>
          </a:ln>
        </p:spPr>
        <p:txBody>
          <a:bodyPr/>
          <a:lstStyle/>
          <a:p>
            <a:endParaRPr lang="fr-FR"/>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52900" y="1841401"/>
          <a:ext cx="7219950" cy="2302868"/>
        </p:xfrm>
        <a:graphic>
          <a:graphicData uri="http://schemas.openxmlformats.org/drawingml/2006/table">
            <a:tbl>
              <a:tblPr/>
              <a:tblGrid>
                <a:gridCol w="1877187">
                  <a:extLst>
                    <a:ext uri="{9D8B030D-6E8A-4147-A177-3AD203B41FA5}">
                      <a16:colId xmlns:a16="http://schemas.microsoft.com/office/drawing/2014/main" val="20000"/>
                    </a:ext>
                  </a:extLst>
                </a:gridCol>
                <a:gridCol w="3754374">
                  <a:extLst>
                    <a:ext uri="{9D8B030D-6E8A-4147-A177-3AD203B41FA5}">
                      <a16:colId xmlns:a16="http://schemas.microsoft.com/office/drawing/2014/main" val="20001"/>
                    </a:ext>
                  </a:extLst>
                </a:gridCol>
                <a:gridCol w="1588389">
                  <a:extLst>
                    <a:ext uri="{9D8B030D-6E8A-4147-A177-3AD203B41FA5}">
                      <a16:colId xmlns:a16="http://schemas.microsoft.com/office/drawing/2014/main" val="20002"/>
                    </a:ext>
                  </a:extLst>
                </a:gridCol>
              </a:tblGrid>
              <a:tr h="332581">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Action</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Comment</a:t>
                      </a:r>
                      <a:endParaRPr lang="en-US" sz="1200" dirty="0">
                        <a:latin typeface="Nunito Sans" charset="0"/>
                        <a:ea typeface="Nunito Sans" charset="0"/>
                        <a:cs typeface="Nunito Sans" charset="0"/>
                      </a:endParaRPr>
                    </a:p>
                  </a:txBody>
                  <a:tcPr marL="53340" marR="53340" marT="53340" marB="53340">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Quand</a:t>
                      </a:r>
                      <a:endParaRPr lang="en-US" sz="1200" dirty="0">
                        <a:latin typeface="Nunito Sans" charset="0"/>
                        <a:ea typeface="Nunito Sans" charset="0"/>
                        <a:cs typeface="Nunito Sans" charset="0"/>
                      </a:endParaRPr>
                    </a:p>
                  </a:txBody>
                  <a:tcPr marL="53340" marR="53340" marT="53340" marB="53340">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extLst>
                  <a:ext uri="{0D108BD9-81ED-4DB2-BD59-A6C34878D82A}">
                    <a16:rowId xmlns:a16="http://schemas.microsoft.com/office/drawing/2014/main" val="10000"/>
                  </a:ext>
                </a:extLst>
              </a:tr>
              <a:tr h="545902">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Retirer le stock périmé</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Vérifier les dates de tous les sacs ; un sac ouvert se consomme dans le mois</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Immédiat</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1"/>
                  </a:ext>
                </a:extLst>
              </a:tr>
              <a:tr h="545902">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Distribuer le minéral sur la ration</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Plutôt qu'en libre-service, pour que chaque vache ait sa dose, y compris au pâturage</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Immédiat</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2"/>
                  </a:ext>
                </a:extLst>
              </a:tr>
              <a:tr h="545902">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Bolus ou injection Se + vitamine E</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Avec le vétérinaire, par exemple un bolus Se, I, Co, Cu, Zn</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Tarissement, 6 à 8 sem. avant vêlage</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Sel iodé</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Blocs à volonté, environ 30 g/jour pour une tarie</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Toute l'année</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4"/>
                  </a:ext>
                </a:extLst>
              </a:tr>
            </a:tbl>
          </a:graphicData>
        </a:graphic>
      </p:graphicFrame>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66"/>
                </a:solidFill>
                <a:latin typeface="Nunito Sans" pitchFamily="34" charset="0"/>
                <a:ea typeface="Nunito Sans" pitchFamily="34" charset="-122"/>
                <a:cs typeface="Nunito Sans" pitchFamily="34" charset="-120"/>
              </a:rPr>
              <a:t>EARL </a:t>
            </a:r>
            <a:r>
              <a:rPr lang="en-US" sz="1200" dirty="0" err="1">
                <a:solidFill>
                  <a:srgbClr val="6B7266"/>
                </a:solidFill>
                <a:latin typeface="Nunito Sans" pitchFamily="34" charset="0"/>
                <a:ea typeface="Nunito Sans" pitchFamily="34" charset="-122"/>
                <a:cs typeface="Nunito Sans" pitchFamily="34" charset="-120"/>
              </a:rPr>
              <a:t>Belvache</a:t>
            </a:r>
            <a:r>
              <a:rPr lang="en-US" sz="1200" dirty="0">
                <a:solidFill>
                  <a:srgbClr val="6B7266"/>
                </a:solidFill>
                <a:latin typeface="Nunito Sans" pitchFamily="34" charset="0"/>
                <a:ea typeface="Nunito Sans" pitchFamily="34" charset="-122"/>
                <a:cs typeface="Nunito Sans" pitchFamily="34" charset="-120"/>
              </a:rPr>
              <a:t> · exemple de fiche action</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2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4F12"/>
                </a:solidFill>
                <a:latin typeface="Nunito Sans" pitchFamily="34" charset="0"/>
                <a:ea typeface="Nunito Sans" pitchFamily="34" charset="-122"/>
                <a:cs typeface="Nunito Sans" pitchFamily="34" charset="-120"/>
              </a:rPr>
              <a:t>ÉTAPE 5 · FICHE ACTION 1</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E3A2F"/>
                </a:solidFill>
                <a:latin typeface="Domine" pitchFamily="34" charset="0"/>
                <a:ea typeface="Domine" pitchFamily="34" charset="-122"/>
                <a:cs typeface="Domine" pitchFamily="34" charset="-120"/>
              </a:rPr>
              <a:t>Vérifier un minéral ou un bolus sur l'étiquette</a:t>
            </a:r>
            <a:endParaRPr lang="en-US" sz="3200" dirty="0"/>
          </a:p>
        </p:txBody>
      </p:sp>
      <p:sp>
        <p:nvSpPr>
          <p:cNvPr id="4" name="Shape 2"/>
          <p:cNvSpPr/>
          <p:nvPr/>
        </p:nvSpPr>
        <p:spPr>
          <a:xfrm>
            <a:off x="11376025" y="1828701"/>
            <a:ext cx="0" cy="2679700"/>
          </a:xfrm>
          <a:prstGeom prst="line">
            <a:avLst/>
          </a:prstGeom>
          <a:noFill/>
          <a:ln w="6350">
            <a:solidFill>
              <a:srgbClr val="D8CEB6"/>
            </a:solidFill>
            <a:prstDash val="solid"/>
          </a:ln>
        </p:spPr>
        <p:txBody>
          <a:bodyPr/>
          <a:lstStyle/>
          <a:p>
            <a:endParaRPr lang="fr-FR"/>
          </a:p>
        </p:txBody>
      </p:sp>
      <p:sp>
        <p:nvSpPr>
          <p:cNvPr id="5" name="Shape 3"/>
          <p:cNvSpPr/>
          <p:nvPr/>
        </p:nvSpPr>
        <p:spPr>
          <a:xfrm>
            <a:off x="812800" y="4505226"/>
            <a:ext cx="10566400" cy="0"/>
          </a:xfrm>
          <a:prstGeom prst="line">
            <a:avLst/>
          </a:prstGeom>
          <a:noFill/>
          <a:ln w="6350">
            <a:solidFill>
              <a:srgbClr val="D8CEB6"/>
            </a:solidFill>
            <a:prstDash val="solid"/>
          </a:ln>
        </p:spPr>
        <p:txBody>
          <a:bodyPr/>
          <a:lstStyle/>
          <a:p>
            <a:endParaRPr lang="fr-F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841401"/>
          <a:ext cx="10547350" cy="2660648"/>
        </p:xfrm>
        <a:graphic>
          <a:graphicData uri="http://schemas.openxmlformats.org/drawingml/2006/table">
            <a:tbl>
              <a:tblPr/>
              <a:tblGrid>
                <a:gridCol w="1687576">
                  <a:extLst>
                    <a:ext uri="{9D8B030D-6E8A-4147-A177-3AD203B41FA5}">
                      <a16:colId xmlns:a16="http://schemas.microsoft.com/office/drawing/2014/main" val="20000"/>
                    </a:ext>
                  </a:extLst>
                </a:gridCol>
                <a:gridCol w="2109470">
                  <a:extLst>
                    <a:ext uri="{9D8B030D-6E8A-4147-A177-3AD203B41FA5}">
                      <a16:colId xmlns:a16="http://schemas.microsoft.com/office/drawing/2014/main" val="20001"/>
                    </a:ext>
                  </a:extLst>
                </a:gridCol>
                <a:gridCol w="2531364">
                  <a:extLst>
                    <a:ext uri="{9D8B030D-6E8A-4147-A177-3AD203B41FA5}">
                      <a16:colId xmlns:a16="http://schemas.microsoft.com/office/drawing/2014/main" val="20002"/>
                    </a:ext>
                  </a:extLst>
                </a:gridCol>
                <a:gridCol w="2320417">
                  <a:extLst>
                    <a:ext uri="{9D8B030D-6E8A-4147-A177-3AD203B41FA5}">
                      <a16:colId xmlns:a16="http://schemas.microsoft.com/office/drawing/2014/main" val="20003"/>
                    </a:ext>
                  </a:extLst>
                </a:gridCol>
                <a:gridCol w="1898523">
                  <a:extLst>
                    <a:ext uri="{9D8B030D-6E8A-4147-A177-3AD203B41FA5}">
                      <a16:colId xmlns:a16="http://schemas.microsoft.com/office/drawing/2014/main" val="20004"/>
                    </a:ext>
                  </a:extLst>
                </a:gridCol>
              </a:tblGrid>
              <a:tr h="332581">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Élément</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Besoin par jour</a:t>
                      </a:r>
                      <a:endParaRPr lang="en-US" sz="1200" dirty="0">
                        <a:latin typeface="Nunito Sans" charset="0"/>
                        <a:ea typeface="Nunito Sans" charset="0"/>
                        <a:cs typeface="Nunito Sans" charset="0"/>
                      </a:endParaRPr>
                    </a:p>
                  </a:txBody>
                  <a:tcPr marL="53340" marR="53340" marT="53340" marB="53340">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Requis à 100 g/j (par kg)</a:t>
                      </a:r>
                      <a:endParaRPr lang="en-US" sz="1200" dirty="0">
                        <a:latin typeface="Nunito Sans" charset="0"/>
                        <a:ea typeface="Nunito Sans" charset="0"/>
                        <a:cs typeface="Nunito Sans" charset="0"/>
                      </a:endParaRPr>
                    </a:p>
                  </a:txBody>
                  <a:tcPr marL="53340" marR="53340" marT="53340" marB="53340">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Viamin Elite SEM (par kg)</a:t>
                      </a:r>
                      <a:endParaRPr lang="en-US" sz="1200" dirty="0">
                        <a:latin typeface="Nunito Sans" charset="0"/>
                        <a:ea typeface="Nunito Sans" charset="0"/>
                        <a:cs typeface="Nunito Sans" charset="0"/>
                      </a:endParaRPr>
                    </a:p>
                  </a:txBody>
                  <a:tcPr marL="53340" marR="53340" marT="53340" marB="53340">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1 bolus viandées</a:t>
                      </a:r>
                      <a:endParaRPr lang="en-US" sz="1200" dirty="0">
                        <a:latin typeface="Nunito Sans" charset="0"/>
                        <a:ea typeface="Nunito Sans" charset="0"/>
                        <a:cs typeface="Nunito Sans" charset="0"/>
                      </a:endParaRPr>
                    </a:p>
                  </a:txBody>
                  <a:tcPr marL="53340" marR="53340" marT="53340" marB="53340">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Sélénium</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3 à 5 mg</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50 mg</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40 mg</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500 mg</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Iode</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10 mg</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100 mg</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200 mg</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2 g</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Cuivre</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200 mg</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1 500 mg</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2 000 mg</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10 g</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Zinc</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700 mg</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5 000 mg</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8 000 mg</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20 g</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Cobalt</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5 mg</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50 mg</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80 mg</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50 mg</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5"/>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Vitamine A</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80 000 UI</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800 000 UI</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700 000 UI</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2 millions UI</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6"/>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Vitamine E</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200 mg</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2 000 mg</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3 500 mg</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10 000 mg</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7"/>
                  </a:ext>
                </a:extLst>
              </a:tr>
            </a:tbl>
          </a:graphicData>
        </a:graphic>
      </p:graphicFrame>
      <p:sp>
        <p:nvSpPr>
          <p:cNvPr id="7" name="Text 4"/>
          <p:cNvSpPr/>
          <p:nvPr/>
        </p:nvSpPr>
        <p:spPr>
          <a:xfrm>
            <a:off x="812800" y="4762401"/>
            <a:ext cx="10883392"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448"/>
                </a:solidFill>
                <a:latin typeface="Nunito Sans" pitchFamily="34" charset="0"/>
                <a:ea typeface="Nunito Sans" pitchFamily="34" charset="-122"/>
                <a:cs typeface="Nunito Sans" pitchFamily="34" charset="-120"/>
              </a:rPr>
              <a:t>Lecture : sur l'étiquette, le Viamin est proche des besoins (un peu juste en sélénium et vitamine A). Les carences viennent donc surtout de la consommation et du stock périmé.</a:t>
            </a:r>
            <a:endParaRPr lang="en-US" sz="13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66"/>
                </a:solidFill>
                <a:latin typeface="Nunito Sans" pitchFamily="34" charset="0"/>
                <a:ea typeface="Nunito Sans" pitchFamily="34" charset="-122"/>
                <a:cs typeface="Nunito Sans" pitchFamily="34" charset="-120"/>
              </a:rPr>
              <a:t>Repères : grille de choix du minéral pour vaches taries (P.-E. Radigue)</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2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4F12"/>
                </a:solidFill>
                <a:latin typeface="Nunito Sans" pitchFamily="34" charset="0"/>
                <a:ea typeface="Nunito Sans" pitchFamily="34" charset="-122"/>
                <a:cs typeface="Nunito Sans" pitchFamily="34" charset="-120"/>
              </a:rPr>
              <a:t>ÉTAPE 5 · FICHE ACTION 2</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E3A2F"/>
                </a:solidFill>
                <a:latin typeface="Domine" pitchFamily="34" charset="0"/>
                <a:ea typeface="Domine" pitchFamily="34" charset="-122"/>
                <a:cs typeface="Domine" pitchFamily="34" charset="-120"/>
              </a:rPr>
              <a:t>Préparation au vêlage</a:t>
            </a:r>
            <a:endParaRPr lang="en-US" sz="3200" dirty="0"/>
          </a:p>
        </p:txBody>
      </p:sp>
      <p:sp>
        <p:nvSpPr>
          <p:cNvPr id="4" name="Shape 2"/>
          <p:cNvSpPr/>
          <p:nvPr/>
        </p:nvSpPr>
        <p:spPr>
          <a:xfrm>
            <a:off x="812800" y="1828701"/>
            <a:ext cx="3175000" cy="3253184"/>
          </a:xfrm>
          <a:prstGeom prst="roundRect">
            <a:avLst>
              <a:gd name="adj" fmla="val 3200"/>
            </a:avLst>
          </a:prstGeom>
          <a:solidFill>
            <a:srgbClr val="1E3A2F"/>
          </a:solidFill>
          <a:ln/>
        </p:spPr>
        <p:txBody>
          <a:bodyPr/>
          <a:lstStyle/>
          <a:p>
            <a:endParaRPr lang="fr-FR"/>
          </a:p>
        </p:txBody>
      </p:sp>
      <p:sp>
        <p:nvSpPr>
          <p:cNvPr id="5" name="Text 3"/>
          <p:cNvSpPr/>
          <p:nvPr/>
        </p:nvSpPr>
        <p:spPr>
          <a:xfrm>
            <a:off x="1041400" y="2057301"/>
            <a:ext cx="279933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3A566"/>
                </a:solidFill>
                <a:latin typeface="Nunito Sans" pitchFamily="34" charset="0"/>
                <a:ea typeface="Nunito Sans" pitchFamily="34" charset="-122"/>
                <a:cs typeface="Nunito Sans" pitchFamily="34" charset="-120"/>
              </a:rPr>
              <a:t>LE CONSTAT</a:t>
            </a:r>
            <a:endParaRPr lang="en-US" sz="1200" dirty="0"/>
          </a:p>
        </p:txBody>
      </p:sp>
      <p:sp>
        <p:nvSpPr>
          <p:cNvPr id="6" name="Text 4"/>
          <p:cNvSpPr/>
          <p:nvPr/>
        </p:nvSpPr>
        <p:spPr>
          <a:xfrm>
            <a:off x="1041400" y="2397621"/>
            <a:ext cx="2799334" cy="118080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6F2E8"/>
                </a:solidFill>
                <a:latin typeface="Nunito Sans" pitchFamily="34" charset="0"/>
                <a:ea typeface="Nunito Sans" pitchFamily="34" charset="-122"/>
                <a:cs typeface="Nunito Sans" pitchFamily="34" charset="-120"/>
              </a:rPr>
              <a:t>Retournements de matrice, non-délivrances et métrites au-dessus des seuils ; ration trop riche en calcium (Ca/P ≈ 3,8) et en potassium.</a:t>
            </a:r>
            <a:endParaRPr lang="en-US" sz="1300" dirty="0"/>
          </a:p>
        </p:txBody>
      </p:sp>
      <p:sp>
        <p:nvSpPr>
          <p:cNvPr id="7" name="Shape 5"/>
          <p:cNvSpPr/>
          <p:nvPr/>
        </p:nvSpPr>
        <p:spPr>
          <a:xfrm>
            <a:off x="1041400" y="3680023"/>
            <a:ext cx="2717800" cy="12700"/>
          </a:xfrm>
          <a:prstGeom prst="rect">
            <a:avLst/>
          </a:prstGeom>
          <a:solidFill>
            <a:srgbClr val="3F5C50"/>
          </a:solidFill>
          <a:ln/>
        </p:spPr>
        <p:txBody>
          <a:bodyPr/>
          <a:lstStyle/>
          <a:p>
            <a:endParaRPr lang="fr-FR"/>
          </a:p>
        </p:txBody>
      </p:sp>
      <p:sp>
        <p:nvSpPr>
          <p:cNvPr id="8" name="Text 6"/>
          <p:cNvSpPr/>
          <p:nvPr/>
        </p:nvSpPr>
        <p:spPr>
          <a:xfrm>
            <a:off x="1041400" y="3819723"/>
            <a:ext cx="279933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3A566"/>
                </a:solidFill>
                <a:latin typeface="Nunito Sans" pitchFamily="34" charset="0"/>
                <a:ea typeface="Nunito Sans" pitchFamily="34" charset="-122"/>
                <a:cs typeface="Nunito Sans" pitchFamily="34" charset="-120"/>
              </a:rPr>
              <a:t>LE CONTRÔLE</a:t>
            </a:r>
            <a:endParaRPr lang="en-US" sz="1200" dirty="0"/>
          </a:p>
        </p:txBody>
      </p:sp>
      <p:sp>
        <p:nvSpPr>
          <p:cNvPr id="9" name="Text 7"/>
          <p:cNvSpPr/>
          <p:nvPr/>
        </p:nvSpPr>
        <p:spPr>
          <a:xfrm>
            <a:off x="1041400" y="4160044"/>
            <a:ext cx="2799334"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6F2E8"/>
                </a:solidFill>
                <a:latin typeface="Nunito Sans" pitchFamily="34" charset="0"/>
                <a:ea typeface="Nunito Sans" pitchFamily="34" charset="-122"/>
                <a:cs typeface="Nunito Sans" pitchFamily="34" charset="-120"/>
              </a:rPr>
              <a:t>pH urinaire chaque semaine les 3 dernières semaines, cible 7,0 à 7,5 ; NEC 2,75 à 3 et rumen noté 4.</a:t>
            </a:r>
            <a:endParaRPr lang="en-US" sz="1300" dirty="0"/>
          </a:p>
        </p:txBody>
      </p:sp>
      <p:sp>
        <p:nvSpPr>
          <p:cNvPr id="10" name="Shape 8"/>
          <p:cNvSpPr/>
          <p:nvPr/>
        </p:nvSpPr>
        <p:spPr>
          <a:xfrm>
            <a:off x="11376025" y="1828701"/>
            <a:ext cx="0" cy="2748558"/>
          </a:xfrm>
          <a:prstGeom prst="line">
            <a:avLst/>
          </a:prstGeom>
          <a:noFill/>
          <a:ln w="6350">
            <a:solidFill>
              <a:srgbClr val="D8CEB6"/>
            </a:solidFill>
            <a:prstDash val="solid"/>
          </a:ln>
        </p:spPr>
        <p:txBody>
          <a:bodyPr/>
          <a:lstStyle/>
          <a:p>
            <a:endParaRPr lang="fr-FR"/>
          </a:p>
        </p:txBody>
      </p:sp>
      <p:sp>
        <p:nvSpPr>
          <p:cNvPr id="11" name="Shape 9"/>
          <p:cNvSpPr/>
          <p:nvPr/>
        </p:nvSpPr>
        <p:spPr>
          <a:xfrm>
            <a:off x="4140200" y="4574084"/>
            <a:ext cx="7239000" cy="0"/>
          </a:xfrm>
          <a:prstGeom prst="line">
            <a:avLst/>
          </a:prstGeom>
          <a:noFill/>
          <a:ln w="6350">
            <a:solidFill>
              <a:srgbClr val="D8CEB6"/>
            </a:solidFill>
            <a:prstDash val="solid"/>
          </a:ln>
        </p:spPr>
        <p:txBody>
          <a:bodyPr/>
          <a:lstStyle/>
          <a:p>
            <a:endParaRPr lang="fr-FR"/>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52900" y="1841401"/>
          <a:ext cx="7219950" cy="2729509"/>
        </p:xfrm>
        <a:graphic>
          <a:graphicData uri="http://schemas.openxmlformats.org/drawingml/2006/table">
            <a:tbl>
              <a:tblPr/>
              <a:tblGrid>
                <a:gridCol w="1877187">
                  <a:extLst>
                    <a:ext uri="{9D8B030D-6E8A-4147-A177-3AD203B41FA5}">
                      <a16:colId xmlns:a16="http://schemas.microsoft.com/office/drawing/2014/main" val="20000"/>
                    </a:ext>
                  </a:extLst>
                </a:gridCol>
                <a:gridCol w="3754374">
                  <a:extLst>
                    <a:ext uri="{9D8B030D-6E8A-4147-A177-3AD203B41FA5}">
                      <a16:colId xmlns:a16="http://schemas.microsoft.com/office/drawing/2014/main" val="20001"/>
                    </a:ext>
                  </a:extLst>
                </a:gridCol>
                <a:gridCol w="1588389">
                  <a:extLst>
                    <a:ext uri="{9D8B030D-6E8A-4147-A177-3AD203B41FA5}">
                      <a16:colId xmlns:a16="http://schemas.microsoft.com/office/drawing/2014/main" val="20002"/>
                    </a:ext>
                  </a:extLst>
                </a:gridCol>
              </a:tblGrid>
              <a:tr h="332581">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Action</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Comment</a:t>
                      </a:r>
                      <a:endParaRPr lang="en-US" sz="1200" dirty="0">
                        <a:latin typeface="Nunito Sans" charset="0"/>
                        <a:ea typeface="Nunito Sans" charset="0"/>
                        <a:cs typeface="Nunito Sans" charset="0"/>
                      </a:endParaRPr>
                    </a:p>
                  </a:txBody>
                  <a:tcPr marL="53340" marR="53340" marT="53340" marB="53340">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Quand</a:t>
                      </a:r>
                      <a:endParaRPr lang="en-US" sz="1200" dirty="0">
                        <a:latin typeface="Nunito Sans" charset="0"/>
                        <a:ea typeface="Nunito Sans" charset="0"/>
                        <a:cs typeface="Nunito Sans" charset="0"/>
                      </a:endParaRPr>
                    </a:p>
                  </a:txBody>
                  <a:tcPr marL="53340" marR="53340" marT="53340" marB="53340">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extLst>
                  <a:ext uri="{0D108BD9-81ED-4DB2-BD59-A6C34878D82A}">
                    <a16:rowId xmlns:a16="http://schemas.microsoft.com/office/drawing/2014/main" val="10000"/>
                  </a:ext>
                </a:extLst>
              </a:tr>
              <a:tr h="545902">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Faire un lot prépa vêlage</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Vaches à moins de 6 semaines du vêlage, séparées des vaches en lactation</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6 sem. avant vêlage</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1"/>
                  </a:ext>
                </a:extLst>
              </a:tr>
              <a:tr h="759222">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Ration diluée</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Enrubannage 7 kg, foin 2026 1,5 kg, paille 4,5 kg, correcteur 1 kg ; pas de foin 2025 (trop de potassium)</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6 sem. avant vêlage</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2"/>
                  </a:ext>
                </a:extLst>
              </a:tr>
              <a:tr h="545902">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Minéral « spécial tarie »</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100 g d'un minéral pauvre en calcium (≤ 3 %), riche en magnésium et vitamines</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6 sem. avant vêlage</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3"/>
                  </a:ext>
                </a:extLst>
              </a:tr>
              <a:tr h="545902">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Chlorure de magnésium</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Pour abaisser le BACA et relever le magnésium, à valider avec le vétérinaire</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3 sem. avant vêlage</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4"/>
                  </a:ext>
                </a:extLst>
              </a:tr>
            </a:tbl>
          </a:graphicData>
        </a:graphic>
      </p:graphicFrame>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66"/>
                </a:solidFill>
                <a:latin typeface="Nunito Sans" pitchFamily="34" charset="0"/>
                <a:ea typeface="Nunito Sans" pitchFamily="34" charset="-122"/>
                <a:cs typeface="Nunito Sans" pitchFamily="34" charset="-120"/>
              </a:rPr>
              <a:t>EARL </a:t>
            </a:r>
            <a:r>
              <a:rPr lang="en-US" sz="1200" dirty="0" err="1">
                <a:solidFill>
                  <a:srgbClr val="6B7266"/>
                </a:solidFill>
                <a:latin typeface="Nunito Sans" pitchFamily="34" charset="0"/>
                <a:ea typeface="Nunito Sans" pitchFamily="34" charset="-122"/>
                <a:cs typeface="Nunito Sans" pitchFamily="34" charset="-120"/>
              </a:rPr>
              <a:t>Belvache</a:t>
            </a:r>
            <a:r>
              <a:rPr lang="en-US" sz="1200" dirty="0">
                <a:solidFill>
                  <a:srgbClr val="6B7266"/>
                </a:solidFill>
                <a:latin typeface="Nunito Sans" pitchFamily="34" charset="0"/>
                <a:ea typeface="Nunito Sans" pitchFamily="34" charset="-122"/>
                <a:cs typeface="Nunito Sans" pitchFamily="34" charset="-120"/>
              </a:rPr>
              <a:t> · exemple de fiche action</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2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4F12"/>
                </a:solidFill>
                <a:latin typeface="Nunito Sans" pitchFamily="34" charset="0"/>
                <a:ea typeface="Nunito Sans" pitchFamily="34" charset="-122"/>
                <a:cs typeface="Nunito Sans" pitchFamily="34" charset="-120"/>
              </a:rPr>
              <a:t>ÉTAPE 5 · FICHE ACTION 3</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E3A2F"/>
                </a:solidFill>
                <a:latin typeface="Domine" pitchFamily="34" charset="0"/>
                <a:ea typeface="Domine" pitchFamily="34" charset="-122"/>
                <a:cs typeface="Domine" pitchFamily="34" charset="-120"/>
              </a:rPr>
              <a:t>Azote et acidose</a:t>
            </a:r>
            <a:endParaRPr lang="en-US" sz="3200" dirty="0"/>
          </a:p>
        </p:txBody>
      </p:sp>
      <p:sp>
        <p:nvSpPr>
          <p:cNvPr id="4" name="Shape 2"/>
          <p:cNvSpPr/>
          <p:nvPr/>
        </p:nvSpPr>
        <p:spPr>
          <a:xfrm>
            <a:off x="812800" y="1828701"/>
            <a:ext cx="3175000" cy="3022104"/>
          </a:xfrm>
          <a:prstGeom prst="roundRect">
            <a:avLst>
              <a:gd name="adj" fmla="val 3362"/>
            </a:avLst>
          </a:prstGeom>
          <a:solidFill>
            <a:srgbClr val="1E3A2F"/>
          </a:solidFill>
          <a:ln/>
        </p:spPr>
        <p:txBody>
          <a:bodyPr/>
          <a:lstStyle/>
          <a:p>
            <a:endParaRPr lang="fr-FR"/>
          </a:p>
        </p:txBody>
      </p:sp>
      <p:sp>
        <p:nvSpPr>
          <p:cNvPr id="5" name="Text 3"/>
          <p:cNvSpPr/>
          <p:nvPr/>
        </p:nvSpPr>
        <p:spPr>
          <a:xfrm>
            <a:off x="1041400" y="2057301"/>
            <a:ext cx="279933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3A566"/>
                </a:solidFill>
                <a:latin typeface="Nunito Sans" pitchFamily="34" charset="0"/>
                <a:ea typeface="Nunito Sans" pitchFamily="34" charset="-122"/>
                <a:cs typeface="Nunito Sans" pitchFamily="34" charset="-120"/>
              </a:rPr>
              <a:t>LE CONSTAT</a:t>
            </a:r>
            <a:endParaRPr lang="en-US" sz="1200" dirty="0"/>
          </a:p>
        </p:txBody>
      </p:sp>
      <p:sp>
        <p:nvSpPr>
          <p:cNvPr id="6" name="Text 4"/>
          <p:cNvSpPr/>
          <p:nvPr/>
        </p:nvSpPr>
        <p:spPr>
          <a:xfrm>
            <a:off x="1041400" y="2397621"/>
            <a:ext cx="2799334"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6F2E8"/>
                </a:solidFill>
                <a:latin typeface="Nunito Sans" pitchFamily="34" charset="0"/>
                <a:ea typeface="Nunito Sans" pitchFamily="34" charset="-122"/>
                <a:cs typeface="Nunito Sans" pitchFamily="34" charset="-120"/>
              </a:rPr>
              <a:t>Fourrages à 61–84 g de MAT ; urée et glycémie basses ; pH des bouses entre 5,7 et 5,9 sur les 5 vaches.</a:t>
            </a:r>
            <a:endParaRPr lang="en-US" sz="1300" dirty="0"/>
          </a:p>
        </p:txBody>
      </p:sp>
      <p:sp>
        <p:nvSpPr>
          <p:cNvPr id="7" name="Shape 5"/>
          <p:cNvSpPr/>
          <p:nvPr/>
        </p:nvSpPr>
        <p:spPr>
          <a:xfrm>
            <a:off x="1041400" y="3217863"/>
            <a:ext cx="2717800" cy="12700"/>
          </a:xfrm>
          <a:prstGeom prst="rect">
            <a:avLst/>
          </a:prstGeom>
          <a:solidFill>
            <a:srgbClr val="3F5C50"/>
          </a:solidFill>
          <a:ln/>
        </p:spPr>
        <p:txBody>
          <a:bodyPr/>
          <a:lstStyle/>
          <a:p>
            <a:endParaRPr lang="fr-FR"/>
          </a:p>
        </p:txBody>
      </p:sp>
      <p:sp>
        <p:nvSpPr>
          <p:cNvPr id="8" name="Text 6"/>
          <p:cNvSpPr/>
          <p:nvPr/>
        </p:nvSpPr>
        <p:spPr>
          <a:xfrm>
            <a:off x="1041400" y="3357563"/>
            <a:ext cx="279933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3A566"/>
                </a:solidFill>
                <a:latin typeface="Nunito Sans" pitchFamily="34" charset="0"/>
                <a:ea typeface="Nunito Sans" pitchFamily="34" charset="-122"/>
                <a:cs typeface="Nunito Sans" pitchFamily="34" charset="-120"/>
              </a:rPr>
              <a:t>LE CONTRÔLE</a:t>
            </a:r>
            <a:endParaRPr lang="en-US" sz="1200" dirty="0"/>
          </a:p>
        </p:txBody>
      </p:sp>
      <p:sp>
        <p:nvSpPr>
          <p:cNvPr id="9" name="Text 7"/>
          <p:cNvSpPr/>
          <p:nvPr/>
        </p:nvSpPr>
        <p:spPr>
          <a:xfrm>
            <a:off x="1041400" y="3697883"/>
            <a:ext cx="2799334" cy="94972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6F2E8"/>
                </a:solidFill>
                <a:latin typeface="Nunito Sans" pitchFamily="34" charset="0"/>
                <a:ea typeface="Nunito Sans" pitchFamily="34" charset="-122"/>
                <a:cs typeface="Nunito Sans" pitchFamily="34" charset="-120"/>
              </a:rPr>
              <a:t>Glycémie, urée, BOH, pH et redox des bouses 1 mois après le changement ; tamisage des bouses chaque mois.</a:t>
            </a:r>
            <a:endParaRPr lang="en-US" sz="1300" dirty="0"/>
          </a:p>
        </p:txBody>
      </p:sp>
      <p:sp>
        <p:nvSpPr>
          <p:cNvPr id="10" name="Shape 8"/>
          <p:cNvSpPr/>
          <p:nvPr/>
        </p:nvSpPr>
        <p:spPr>
          <a:xfrm>
            <a:off x="11376025" y="1828701"/>
            <a:ext cx="0" cy="2748558"/>
          </a:xfrm>
          <a:prstGeom prst="line">
            <a:avLst/>
          </a:prstGeom>
          <a:noFill/>
          <a:ln w="6350">
            <a:solidFill>
              <a:srgbClr val="D8CEB6"/>
            </a:solidFill>
            <a:prstDash val="solid"/>
          </a:ln>
        </p:spPr>
        <p:txBody>
          <a:bodyPr/>
          <a:lstStyle/>
          <a:p>
            <a:endParaRPr lang="fr-FR"/>
          </a:p>
        </p:txBody>
      </p:sp>
      <p:sp>
        <p:nvSpPr>
          <p:cNvPr id="11" name="Shape 9"/>
          <p:cNvSpPr/>
          <p:nvPr/>
        </p:nvSpPr>
        <p:spPr>
          <a:xfrm>
            <a:off x="4140200" y="4574084"/>
            <a:ext cx="7239000" cy="0"/>
          </a:xfrm>
          <a:prstGeom prst="line">
            <a:avLst/>
          </a:prstGeom>
          <a:noFill/>
          <a:ln w="6350">
            <a:solidFill>
              <a:srgbClr val="D8CEB6"/>
            </a:solidFill>
            <a:prstDash val="solid"/>
          </a:ln>
        </p:spPr>
        <p:txBody>
          <a:bodyPr/>
          <a:lstStyle/>
          <a:p>
            <a:endParaRPr lang="fr-FR"/>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52900" y="1841401"/>
          <a:ext cx="7219950" cy="2729509"/>
        </p:xfrm>
        <a:graphic>
          <a:graphicData uri="http://schemas.openxmlformats.org/drawingml/2006/table">
            <a:tbl>
              <a:tblPr/>
              <a:tblGrid>
                <a:gridCol w="1877187">
                  <a:extLst>
                    <a:ext uri="{9D8B030D-6E8A-4147-A177-3AD203B41FA5}">
                      <a16:colId xmlns:a16="http://schemas.microsoft.com/office/drawing/2014/main" val="20000"/>
                    </a:ext>
                  </a:extLst>
                </a:gridCol>
                <a:gridCol w="3754374">
                  <a:extLst>
                    <a:ext uri="{9D8B030D-6E8A-4147-A177-3AD203B41FA5}">
                      <a16:colId xmlns:a16="http://schemas.microsoft.com/office/drawing/2014/main" val="20001"/>
                    </a:ext>
                  </a:extLst>
                </a:gridCol>
                <a:gridCol w="1588389">
                  <a:extLst>
                    <a:ext uri="{9D8B030D-6E8A-4147-A177-3AD203B41FA5}">
                      <a16:colId xmlns:a16="http://schemas.microsoft.com/office/drawing/2014/main" val="20002"/>
                    </a:ext>
                  </a:extLst>
                </a:gridCol>
              </a:tblGrid>
              <a:tr h="332581">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Action</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Comment</a:t>
                      </a:r>
                      <a:endParaRPr lang="en-US" sz="1200" dirty="0">
                        <a:latin typeface="Nunito Sans" charset="0"/>
                        <a:ea typeface="Nunito Sans" charset="0"/>
                        <a:cs typeface="Nunito Sans" charset="0"/>
                      </a:endParaRPr>
                    </a:p>
                  </a:txBody>
                  <a:tcPr marL="53340" marR="53340" marT="53340" marB="53340">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Quand</a:t>
                      </a:r>
                      <a:endParaRPr lang="en-US" sz="1200" dirty="0">
                        <a:latin typeface="Nunito Sans" charset="0"/>
                        <a:ea typeface="Nunito Sans" charset="0"/>
                        <a:cs typeface="Nunito Sans" charset="0"/>
                      </a:endParaRPr>
                    </a:p>
                  </a:txBody>
                  <a:tcPr marL="53340" marR="53340" marT="53340" marB="53340">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extLst>
                  <a:ext uri="{0D108BD9-81ED-4DB2-BD59-A6C34878D82A}">
                    <a16:rowId xmlns:a16="http://schemas.microsoft.com/office/drawing/2014/main" val="10000"/>
                  </a:ext>
                </a:extLst>
              </a:tr>
              <a:tr h="759222">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Correcteur azoté</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1 kg/jour de correcteur 25 MAT aussi pour les vaches en lactation ; 0,5 à 1 kg pour gestantes et génisses</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Entrée en hivernage</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1"/>
                  </a:ext>
                </a:extLst>
              </a:tr>
              <a:tr h="545902">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Peser les fourrages</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Recaler les quantités après pesée de ce qui est réellement distribué</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Entrée en hivernage</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2"/>
                  </a:ext>
                </a:extLst>
              </a:tr>
              <a:tr h="545902">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Céréales mieux réparties</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Triticale aplati, en 2 repas pour les génisses (2 kg) ; amidon des céréales à moins de 15 % de la ration</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Continu</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3"/>
                  </a:ext>
                </a:extLst>
              </a:tr>
              <a:tr h="545902">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Transitions progressives</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Tout changement de ration sur 2 à 3 semaines ; pas de mélasse tant que l'azote n'est pas corrigé</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Continu</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4"/>
                  </a:ext>
                </a:extLst>
              </a:tr>
            </a:tbl>
          </a:graphicData>
        </a:graphic>
      </p:graphicFrame>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66"/>
                </a:solidFill>
                <a:latin typeface="Nunito Sans" pitchFamily="34" charset="0"/>
                <a:ea typeface="Nunito Sans" pitchFamily="34" charset="-122"/>
                <a:cs typeface="Nunito Sans" pitchFamily="34" charset="-120"/>
              </a:rPr>
              <a:t>EARL </a:t>
            </a:r>
            <a:r>
              <a:rPr lang="en-US" sz="1200" dirty="0" err="1">
                <a:solidFill>
                  <a:srgbClr val="6B7266"/>
                </a:solidFill>
                <a:latin typeface="Nunito Sans" pitchFamily="34" charset="0"/>
                <a:ea typeface="Nunito Sans" pitchFamily="34" charset="-122"/>
                <a:cs typeface="Nunito Sans" pitchFamily="34" charset="-120"/>
              </a:rPr>
              <a:t>Belvache</a:t>
            </a:r>
            <a:r>
              <a:rPr lang="en-US" sz="1200" dirty="0">
                <a:solidFill>
                  <a:srgbClr val="6B7266"/>
                </a:solidFill>
                <a:latin typeface="Nunito Sans" pitchFamily="34" charset="0"/>
                <a:ea typeface="Nunito Sans" pitchFamily="34" charset="-122"/>
                <a:cs typeface="Nunito Sans" pitchFamily="34" charset="-120"/>
              </a:rPr>
              <a:t> · exemple de fiche action</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2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4F12"/>
                </a:solidFill>
                <a:latin typeface="Nunito Sans" pitchFamily="34" charset="0"/>
                <a:ea typeface="Nunito Sans" pitchFamily="34" charset="-122"/>
                <a:cs typeface="Nunito Sans" pitchFamily="34" charset="-120"/>
              </a:rPr>
              <a:t>ÉTAPE 5 · FICHE ACTION 4</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E3A2F"/>
                </a:solidFill>
                <a:latin typeface="Domine" pitchFamily="34" charset="0"/>
                <a:ea typeface="Domine" pitchFamily="34" charset="-122"/>
                <a:cs typeface="Domine" pitchFamily="34" charset="-120"/>
              </a:rPr>
              <a:t>Protéger les veaux</a:t>
            </a:r>
            <a:endParaRPr lang="en-US" sz="3200" dirty="0"/>
          </a:p>
        </p:txBody>
      </p:sp>
      <p:sp>
        <p:nvSpPr>
          <p:cNvPr id="4" name="Shape 2"/>
          <p:cNvSpPr/>
          <p:nvPr/>
        </p:nvSpPr>
        <p:spPr>
          <a:xfrm>
            <a:off x="812800" y="1828701"/>
            <a:ext cx="3175000" cy="3022104"/>
          </a:xfrm>
          <a:prstGeom prst="roundRect">
            <a:avLst>
              <a:gd name="adj" fmla="val 3362"/>
            </a:avLst>
          </a:prstGeom>
          <a:solidFill>
            <a:srgbClr val="1E3A2F"/>
          </a:solidFill>
          <a:ln/>
        </p:spPr>
        <p:txBody>
          <a:bodyPr/>
          <a:lstStyle/>
          <a:p>
            <a:endParaRPr lang="fr-FR"/>
          </a:p>
        </p:txBody>
      </p:sp>
      <p:sp>
        <p:nvSpPr>
          <p:cNvPr id="5" name="Text 3"/>
          <p:cNvSpPr/>
          <p:nvPr/>
        </p:nvSpPr>
        <p:spPr>
          <a:xfrm>
            <a:off x="1041400" y="2057301"/>
            <a:ext cx="279933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3A566"/>
                </a:solidFill>
                <a:latin typeface="Nunito Sans" pitchFamily="34" charset="0"/>
                <a:ea typeface="Nunito Sans" pitchFamily="34" charset="-122"/>
                <a:cs typeface="Nunito Sans" pitchFamily="34" charset="-120"/>
              </a:rPr>
              <a:t>LE CONSTAT</a:t>
            </a:r>
            <a:endParaRPr lang="en-US" sz="1200" dirty="0"/>
          </a:p>
        </p:txBody>
      </p:sp>
      <p:sp>
        <p:nvSpPr>
          <p:cNvPr id="6" name="Text 4"/>
          <p:cNvSpPr/>
          <p:nvPr/>
        </p:nvSpPr>
        <p:spPr>
          <a:xfrm>
            <a:off x="1041400" y="2397621"/>
            <a:ext cx="2799334" cy="94972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6F2E8"/>
                </a:solidFill>
                <a:latin typeface="Nunito Sans" pitchFamily="34" charset="0"/>
                <a:ea typeface="Nunito Sans" pitchFamily="34" charset="-122"/>
                <a:cs typeface="Nunito Sans" pitchFamily="34" charset="-120"/>
              </a:rPr>
              <a:t>Cryptosporidiose, première cause de mortalité de 2 jours à 1 mois ; gros nombrils récurrents ; poil terne après sevrage.</a:t>
            </a:r>
            <a:endParaRPr lang="en-US" sz="1300" dirty="0"/>
          </a:p>
        </p:txBody>
      </p:sp>
      <p:sp>
        <p:nvSpPr>
          <p:cNvPr id="7" name="Shape 5"/>
          <p:cNvSpPr/>
          <p:nvPr/>
        </p:nvSpPr>
        <p:spPr>
          <a:xfrm>
            <a:off x="1041400" y="3448943"/>
            <a:ext cx="2717800" cy="12700"/>
          </a:xfrm>
          <a:prstGeom prst="rect">
            <a:avLst/>
          </a:prstGeom>
          <a:solidFill>
            <a:srgbClr val="3F5C50"/>
          </a:solidFill>
          <a:ln/>
        </p:spPr>
        <p:txBody>
          <a:bodyPr/>
          <a:lstStyle/>
          <a:p>
            <a:endParaRPr lang="fr-FR"/>
          </a:p>
        </p:txBody>
      </p:sp>
      <p:sp>
        <p:nvSpPr>
          <p:cNvPr id="8" name="Text 6"/>
          <p:cNvSpPr/>
          <p:nvPr/>
        </p:nvSpPr>
        <p:spPr>
          <a:xfrm>
            <a:off x="1041400" y="3588643"/>
            <a:ext cx="279933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3A566"/>
                </a:solidFill>
                <a:latin typeface="Nunito Sans" pitchFamily="34" charset="0"/>
                <a:ea typeface="Nunito Sans" pitchFamily="34" charset="-122"/>
                <a:cs typeface="Nunito Sans" pitchFamily="34" charset="-120"/>
              </a:rPr>
              <a:t>LE CONTRÔLE</a:t>
            </a:r>
            <a:endParaRPr lang="en-US" sz="1200" dirty="0"/>
          </a:p>
        </p:txBody>
      </p:sp>
      <p:sp>
        <p:nvSpPr>
          <p:cNvPr id="9" name="Text 7"/>
          <p:cNvSpPr/>
          <p:nvPr/>
        </p:nvSpPr>
        <p:spPr>
          <a:xfrm>
            <a:off x="1041400" y="3928963"/>
            <a:ext cx="2799334"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6F2E8"/>
                </a:solidFill>
                <a:latin typeface="Nunito Sans" pitchFamily="34" charset="0"/>
                <a:ea typeface="Nunito Sans" pitchFamily="34" charset="-122"/>
                <a:cs typeface="Nunito Sans" pitchFamily="34" charset="-120"/>
              </a:rPr>
              <a:t>Brix du colostrum à chaque vêlage (22 % et plus) ; protéines totales des veaux de 2 à 7 jours (6 à 7 g/dl).</a:t>
            </a:r>
            <a:endParaRPr lang="en-US" sz="1300" dirty="0"/>
          </a:p>
        </p:txBody>
      </p:sp>
      <p:sp>
        <p:nvSpPr>
          <p:cNvPr id="10" name="Shape 8"/>
          <p:cNvSpPr/>
          <p:nvPr/>
        </p:nvSpPr>
        <p:spPr>
          <a:xfrm>
            <a:off x="11376025" y="1828701"/>
            <a:ext cx="0" cy="2321917"/>
          </a:xfrm>
          <a:prstGeom prst="line">
            <a:avLst/>
          </a:prstGeom>
          <a:noFill/>
          <a:ln w="6350">
            <a:solidFill>
              <a:srgbClr val="D8CEB6"/>
            </a:solidFill>
            <a:prstDash val="solid"/>
          </a:ln>
        </p:spPr>
        <p:txBody>
          <a:bodyPr/>
          <a:lstStyle/>
          <a:p>
            <a:endParaRPr lang="fr-FR"/>
          </a:p>
        </p:txBody>
      </p:sp>
      <p:sp>
        <p:nvSpPr>
          <p:cNvPr id="11" name="Shape 9"/>
          <p:cNvSpPr/>
          <p:nvPr/>
        </p:nvSpPr>
        <p:spPr>
          <a:xfrm>
            <a:off x="4140200" y="4147443"/>
            <a:ext cx="7239000" cy="0"/>
          </a:xfrm>
          <a:prstGeom prst="line">
            <a:avLst/>
          </a:prstGeom>
          <a:noFill/>
          <a:ln w="6350">
            <a:solidFill>
              <a:srgbClr val="D8CEB6"/>
            </a:solidFill>
            <a:prstDash val="solid"/>
          </a:ln>
        </p:spPr>
        <p:txBody>
          <a:bodyPr/>
          <a:lstStyle/>
          <a:p>
            <a:endParaRPr lang="fr-FR"/>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52900" y="1841401"/>
          <a:ext cx="7219950" cy="2302868"/>
        </p:xfrm>
        <a:graphic>
          <a:graphicData uri="http://schemas.openxmlformats.org/drawingml/2006/table">
            <a:tbl>
              <a:tblPr/>
              <a:tblGrid>
                <a:gridCol w="1877187">
                  <a:extLst>
                    <a:ext uri="{9D8B030D-6E8A-4147-A177-3AD203B41FA5}">
                      <a16:colId xmlns:a16="http://schemas.microsoft.com/office/drawing/2014/main" val="20000"/>
                    </a:ext>
                  </a:extLst>
                </a:gridCol>
                <a:gridCol w="3754374">
                  <a:extLst>
                    <a:ext uri="{9D8B030D-6E8A-4147-A177-3AD203B41FA5}">
                      <a16:colId xmlns:a16="http://schemas.microsoft.com/office/drawing/2014/main" val="20001"/>
                    </a:ext>
                  </a:extLst>
                </a:gridCol>
                <a:gridCol w="1588389">
                  <a:extLst>
                    <a:ext uri="{9D8B030D-6E8A-4147-A177-3AD203B41FA5}">
                      <a16:colId xmlns:a16="http://schemas.microsoft.com/office/drawing/2014/main" val="20002"/>
                    </a:ext>
                  </a:extLst>
                </a:gridCol>
              </a:tblGrid>
              <a:tr h="332581">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Action</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Comment</a:t>
                      </a:r>
                      <a:endParaRPr lang="en-US" sz="1200" dirty="0">
                        <a:latin typeface="Nunito Sans" charset="0"/>
                        <a:ea typeface="Nunito Sans" charset="0"/>
                        <a:cs typeface="Nunito Sans" charset="0"/>
                      </a:endParaRPr>
                    </a:p>
                  </a:txBody>
                  <a:tcPr marL="53340" marR="53340" marT="53340" marB="53340">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Quand</a:t>
                      </a:r>
                      <a:endParaRPr lang="en-US" sz="1200" dirty="0">
                        <a:latin typeface="Nunito Sans" charset="0"/>
                        <a:ea typeface="Nunito Sans" charset="0"/>
                        <a:cs typeface="Nunito Sans" charset="0"/>
                      </a:endParaRPr>
                    </a:p>
                  </a:txBody>
                  <a:tcPr marL="53340" marR="53340" marT="53340" marB="53340">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extLst>
                  <a:ext uri="{0D108BD9-81ED-4DB2-BD59-A6C34878D82A}">
                    <a16:rowId xmlns:a16="http://schemas.microsoft.com/office/drawing/2014/main" val="10000"/>
                  </a:ext>
                </a:extLst>
              </a:tr>
              <a:tr h="545902">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Colostrum contrôlé</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Mesure au réfractomètre Brix, au moins 25 % ; buvée dans les 2 à 6 heures</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Chaque vêlage</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Cordon désinfecté</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Désinfection du nombril dès la naissance</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Chaque vêlage</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2"/>
                  </a:ext>
                </a:extLst>
              </a:tr>
              <a:tr h="545902">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Cases à vêlage propres</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Curage, désinfection avec un produit actif sur les oocystes, paillage abondant</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Entre deux vêlages</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3"/>
                  </a:ext>
                </a:extLst>
              </a:tr>
              <a:tr h="545902">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Soutien digestif</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Kéfir après la prise de colostrum (exemple : Kefidiet) ; vaccination cryptosporidies maintenue</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Saison de vêlage</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4"/>
                  </a:ext>
                </a:extLst>
              </a:tr>
            </a:tbl>
          </a:graphicData>
        </a:graphic>
      </p:graphicFrame>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66"/>
                </a:solidFill>
                <a:latin typeface="Nunito Sans" pitchFamily="34" charset="0"/>
                <a:ea typeface="Nunito Sans" pitchFamily="34" charset="-122"/>
                <a:cs typeface="Nunito Sans" pitchFamily="34" charset="-120"/>
              </a:rPr>
              <a:t>EARL </a:t>
            </a:r>
            <a:r>
              <a:rPr lang="en-US" sz="1200" dirty="0" err="1">
                <a:solidFill>
                  <a:srgbClr val="6B7266"/>
                </a:solidFill>
                <a:latin typeface="Nunito Sans" pitchFamily="34" charset="0"/>
                <a:ea typeface="Nunito Sans" pitchFamily="34" charset="-122"/>
                <a:cs typeface="Nunito Sans" pitchFamily="34" charset="-120"/>
              </a:rPr>
              <a:t>Belvache</a:t>
            </a:r>
            <a:r>
              <a:rPr lang="en-US" sz="1200" dirty="0">
                <a:solidFill>
                  <a:srgbClr val="6B7266"/>
                </a:solidFill>
                <a:latin typeface="Nunito Sans" pitchFamily="34" charset="0"/>
                <a:ea typeface="Nunito Sans" pitchFamily="34" charset="-122"/>
                <a:cs typeface="Nunito Sans" pitchFamily="34" charset="-120"/>
              </a:rPr>
              <a:t> · exemple de fiche action</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2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4F12"/>
                </a:solidFill>
                <a:latin typeface="Nunito Sans" pitchFamily="34" charset="0"/>
                <a:ea typeface="Nunito Sans" pitchFamily="34" charset="-122"/>
                <a:cs typeface="Nunito Sans" pitchFamily="34" charset="-120"/>
              </a:rPr>
              <a:t>ÉTAPE 5 · FICHE ACTION 5</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E3A2F"/>
                </a:solidFill>
                <a:latin typeface="Domine" pitchFamily="34" charset="0"/>
                <a:ea typeface="Domine" pitchFamily="34" charset="-122"/>
                <a:cs typeface="Domine" pitchFamily="34" charset="-120"/>
              </a:rPr>
              <a:t>Fourrages, sol et eau</a:t>
            </a:r>
            <a:endParaRPr lang="en-US" sz="3200" dirty="0"/>
          </a:p>
        </p:txBody>
      </p:sp>
      <p:sp>
        <p:nvSpPr>
          <p:cNvPr id="4" name="Shape 2"/>
          <p:cNvSpPr/>
          <p:nvPr/>
        </p:nvSpPr>
        <p:spPr>
          <a:xfrm>
            <a:off x="812800" y="1828701"/>
            <a:ext cx="3175000" cy="3253184"/>
          </a:xfrm>
          <a:prstGeom prst="roundRect">
            <a:avLst>
              <a:gd name="adj" fmla="val 3200"/>
            </a:avLst>
          </a:prstGeom>
          <a:solidFill>
            <a:srgbClr val="1E3A2F"/>
          </a:solidFill>
          <a:ln/>
        </p:spPr>
        <p:txBody>
          <a:bodyPr/>
          <a:lstStyle/>
          <a:p>
            <a:endParaRPr lang="fr-FR"/>
          </a:p>
        </p:txBody>
      </p:sp>
      <p:sp>
        <p:nvSpPr>
          <p:cNvPr id="5" name="Text 3"/>
          <p:cNvSpPr/>
          <p:nvPr/>
        </p:nvSpPr>
        <p:spPr>
          <a:xfrm>
            <a:off x="1041400" y="2057301"/>
            <a:ext cx="279933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3A566"/>
                </a:solidFill>
                <a:latin typeface="Nunito Sans" pitchFamily="34" charset="0"/>
                <a:ea typeface="Nunito Sans" pitchFamily="34" charset="-122"/>
                <a:cs typeface="Nunito Sans" pitchFamily="34" charset="-120"/>
              </a:rPr>
              <a:t>LE CONSTAT</a:t>
            </a:r>
            <a:endParaRPr lang="en-US" sz="1200" dirty="0"/>
          </a:p>
        </p:txBody>
      </p:sp>
      <p:sp>
        <p:nvSpPr>
          <p:cNvPr id="6" name="Text 4"/>
          <p:cNvSpPr/>
          <p:nvPr/>
        </p:nvSpPr>
        <p:spPr>
          <a:xfrm>
            <a:off x="1041400" y="2397621"/>
            <a:ext cx="2799334" cy="94972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6F2E8"/>
                </a:solidFill>
                <a:latin typeface="Nunito Sans" pitchFamily="34" charset="0"/>
                <a:ea typeface="Nunito Sans" pitchFamily="34" charset="-122"/>
                <a:cs typeface="Nunito Sans" pitchFamily="34" charset="-120"/>
              </a:rPr>
              <a:t>Enrubannage récolté tard, pauvre en azote ; foin 2025 terreux (cendres 92 g, fer 978 mg) ; eau analysée seulement pour le fer.</a:t>
            </a:r>
            <a:endParaRPr lang="en-US" sz="1300" dirty="0"/>
          </a:p>
        </p:txBody>
      </p:sp>
      <p:sp>
        <p:nvSpPr>
          <p:cNvPr id="7" name="Shape 5"/>
          <p:cNvSpPr/>
          <p:nvPr/>
        </p:nvSpPr>
        <p:spPr>
          <a:xfrm>
            <a:off x="1041400" y="3448943"/>
            <a:ext cx="2717800" cy="12700"/>
          </a:xfrm>
          <a:prstGeom prst="rect">
            <a:avLst/>
          </a:prstGeom>
          <a:solidFill>
            <a:srgbClr val="3F5C50"/>
          </a:solidFill>
          <a:ln/>
        </p:spPr>
        <p:txBody>
          <a:bodyPr/>
          <a:lstStyle/>
          <a:p>
            <a:endParaRPr lang="fr-FR"/>
          </a:p>
        </p:txBody>
      </p:sp>
      <p:sp>
        <p:nvSpPr>
          <p:cNvPr id="8" name="Text 6"/>
          <p:cNvSpPr/>
          <p:nvPr/>
        </p:nvSpPr>
        <p:spPr>
          <a:xfrm>
            <a:off x="1041400" y="3588643"/>
            <a:ext cx="279933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3A566"/>
                </a:solidFill>
                <a:latin typeface="Nunito Sans" pitchFamily="34" charset="0"/>
                <a:ea typeface="Nunito Sans" pitchFamily="34" charset="-122"/>
                <a:cs typeface="Nunito Sans" pitchFamily="34" charset="-120"/>
              </a:rPr>
              <a:t>LE CONTRÔLE</a:t>
            </a:r>
            <a:endParaRPr lang="en-US" sz="1200" dirty="0"/>
          </a:p>
        </p:txBody>
      </p:sp>
      <p:sp>
        <p:nvSpPr>
          <p:cNvPr id="9" name="Text 7"/>
          <p:cNvSpPr/>
          <p:nvPr/>
        </p:nvSpPr>
        <p:spPr>
          <a:xfrm>
            <a:off x="1041400" y="3928963"/>
            <a:ext cx="2799334" cy="94972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6F2E8"/>
                </a:solidFill>
                <a:latin typeface="Nunito Sans" pitchFamily="34" charset="0"/>
                <a:ea typeface="Nunito Sans" pitchFamily="34" charset="-122"/>
                <a:cs typeface="Nunito Sans" pitchFamily="34" charset="-120"/>
              </a:rPr>
              <a:t>Analyses de fourrages 2027 : MAT au-dessus de 110 g, cendres sous 100 g, fer sous 350 mg ; analyse d'eau complète.</a:t>
            </a:r>
            <a:endParaRPr lang="en-US" sz="1300" dirty="0"/>
          </a:p>
        </p:txBody>
      </p:sp>
      <p:sp>
        <p:nvSpPr>
          <p:cNvPr id="10" name="Shape 8"/>
          <p:cNvSpPr/>
          <p:nvPr/>
        </p:nvSpPr>
        <p:spPr>
          <a:xfrm>
            <a:off x="11376025" y="1828701"/>
            <a:ext cx="0" cy="2441178"/>
          </a:xfrm>
          <a:prstGeom prst="line">
            <a:avLst/>
          </a:prstGeom>
          <a:noFill/>
          <a:ln w="6350">
            <a:solidFill>
              <a:srgbClr val="D8CEB6"/>
            </a:solidFill>
            <a:prstDash val="solid"/>
          </a:ln>
        </p:spPr>
        <p:txBody>
          <a:bodyPr/>
          <a:lstStyle/>
          <a:p>
            <a:endParaRPr lang="fr-FR"/>
          </a:p>
        </p:txBody>
      </p:sp>
      <p:sp>
        <p:nvSpPr>
          <p:cNvPr id="11" name="Shape 9"/>
          <p:cNvSpPr/>
          <p:nvPr/>
        </p:nvSpPr>
        <p:spPr>
          <a:xfrm>
            <a:off x="4140200" y="4266704"/>
            <a:ext cx="7239000" cy="0"/>
          </a:xfrm>
          <a:prstGeom prst="line">
            <a:avLst/>
          </a:prstGeom>
          <a:noFill/>
          <a:ln w="6350">
            <a:solidFill>
              <a:srgbClr val="D8CEB6"/>
            </a:solidFill>
            <a:prstDash val="solid"/>
          </a:ln>
        </p:spPr>
        <p:txBody>
          <a:bodyPr/>
          <a:lstStyle/>
          <a:p>
            <a:endParaRPr lang="fr-FR"/>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52900" y="1841401"/>
          <a:ext cx="7219950" cy="2422128"/>
        </p:xfrm>
        <a:graphic>
          <a:graphicData uri="http://schemas.openxmlformats.org/drawingml/2006/table">
            <a:tbl>
              <a:tblPr/>
              <a:tblGrid>
                <a:gridCol w="1877187">
                  <a:extLst>
                    <a:ext uri="{9D8B030D-6E8A-4147-A177-3AD203B41FA5}">
                      <a16:colId xmlns:a16="http://schemas.microsoft.com/office/drawing/2014/main" val="20000"/>
                    </a:ext>
                  </a:extLst>
                </a:gridCol>
                <a:gridCol w="3754374">
                  <a:extLst>
                    <a:ext uri="{9D8B030D-6E8A-4147-A177-3AD203B41FA5}">
                      <a16:colId xmlns:a16="http://schemas.microsoft.com/office/drawing/2014/main" val="20001"/>
                    </a:ext>
                  </a:extLst>
                </a:gridCol>
                <a:gridCol w="1588389">
                  <a:extLst>
                    <a:ext uri="{9D8B030D-6E8A-4147-A177-3AD203B41FA5}">
                      <a16:colId xmlns:a16="http://schemas.microsoft.com/office/drawing/2014/main" val="20002"/>
                    </a:ext>
                  </a:extLst>
                </a:gridCol>
              </a:tblGrid>
              <a:tr h="332581">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Action</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Comment</a:t>
                      </a:r>
                      <a:endParaRPr lang="en-US" sz="1200" dirty="0">
                        <a:latin typeface="Nunito Sans" charset="0"/>
                        <a:ea typeface="Nunito Sans" charset="0"/>
                        <a:cs typeface="Nunito Sans" charset="0"/>
                      </a:endParaRPr>
                    </a:p>
                  </a:txBody>
                  <a:tcPr marL="53340" marR="53340" marT="53340" marB="53340">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Quand</a:t>
                      </a:r>
                      <a:endParaRPr lang="en-US" sz="1200" dirty="0">
                        <a:latin typeface="Nunito Sans" charset="0"/>
                        <a:ea typeface="Nunito Sans" charset="0"/>
                        <a:cs typeface="Nunito Sans" charset="0"/>
                      </a:endParaRPr>
                    </a:p>
                  </a:txBody>
                  <a:tcPr marL="53340" marR="53340" marT="53340" marB="53340">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Récolter plus tôt</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Enrubannage au début de l'épiaison, fin avril</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Printemps 2027</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Plus de légumineuses</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Sursemis de trèfles dans les prairies</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Printemps 2027</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Moins de terre</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Fauche et fanage à 7–8 cm, gestion des taupinières</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Chaque récolte</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3"/>
                  </a:ext>
                </a:extLst>
              </a:tr>
              <a:tr h="545902">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Trier les fourrages</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Foin 2025 aux vaches en lactation, foin 2026 et paille au lot prépa vêlage</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Dès l'hivernage</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4"/>
                  </a:ext>
                </a:extLst>
              </a:tr>
              <a:tr h="545902">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Eau</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Analyse bactériologie, nitrates, pH, dureté, sulfates ; nettoyage des abreuvoirs ; traitement si besoin</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Sous 3 mois</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5"/>
                  </a:ext>
                </a:extLst>
              </a:tr>
            </a:tbl>
          </a:graphicData>
        </a:graphic>
      </p:graphicFrame>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66"/>
                </a:solidFill>
                <a:latin typeface="Nunito Sans" pitchFamily="34" charset="0"/>
                <a:ea typeface="Nunito Sans" pitchFamily="34" charset="-122"/>
                <a:cs typeface="Nunito Sans" pitchFamily="34" charset="-120"/>
              </a:rPr>
              <a:t>EARL </a:t>
            </a:r>
            <a:r>
              <a:rPr lang="en-US" sz="1200" dirty="0" err="1">
                <a:solidFill>
                  <a:srgbClr val="6B7266"/>
                </a:solidFill>
                <a:latin typeface="Nunito Sans" pitchFamily="34" charset="0"/>
                <a:ea typeface="Nunito Sans" pitchFamily="34" charset="-122"/>
                <a:cs typeface="Nunito Sans" pitchFamily="34" charset="-120"/>
              </a:rPr>
              <a:t>Belvache</a:t>
            </a:r>
            <a:r>
              <a:rPr lang="en-US" sz="1200" dirty="0">
                <a:solidFill>
                  <a:srgbClr val="6B7266"/>
                </a:solidFill>
                <a:latin typeface="Nunito Sans" pitchFamily="34" charset="0"/>
                <a:ea typeface="Nunito Sans" pitchFamily="34" charset="-122"/>
                <a:cs typeface="Nunito Sans" pitchFamily="34" charset="-120"/>
              </a:rPr>
              <a:t> · exemple de fiche action</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2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4F12"/>
                </a:solidFill>
                <a:latin typeface="Nunito Sans" pitchFamily="34" charset="0"/>
                <a:ea typeface="Nunito Sans" pitchFamily="34" charset="-122"/>
                <a:cs typeface="Nunito Sans" pitchFamily="34" charset="-120"/>
              </a:rPr>
              <a:t>ÉTAPE 5 · AGIR</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E3A2F"/>
                </a:solidFill>
                <a:latin typeface="Domine" pitchFamily="34" charset="0"/>
                <a:ea typeface="Domine" pitchFamily="34" charset="-122"/>
                <a:cs typeface="Domine" pitchFamily="34" charset="-120"/>
              </a:rPr>
              <a:t>Deux rations : lactation et préparation au vêlage</a:t>
            </a:r>
            <a:endParaRPr lang="en-US" sz="3200" dirty="0"/>
          </a:p>
        </p:txBody>
      </p:sp>
      <p:sp>
        <p:nvSpPr>
          <p:cNvPr id="4" name="Shape 2"/>
          <p:cNvSpPr/>
          <p:nvPr/>
        </p:nvSpPr>
        <p:spPr>
          <a:xfrm>
            <a:off x="11376025" y="1828701"/>
            <a:ext cx="0" cy="3225602"/>
          </a:xfrm>
          <a:prstGeom prst="line">
            <a:avLst/>
          </a:prstGeom>
          <a:noFill/>
          <a:ln w="6350">
            <a:solidFill>
              <a:srgbClr val="D8CEB6"/>
            </a:solidFill>
            <a:prstDash val="solid"/>
          </a:ln>
        </p:spPr>
        <p:txBody>
          <a:bodyPr/>
          <a:lstStyle/>
          <a:p>
            <a:endParaRPr lang="fr-FR"/>
          </a:p>
        </p:txBody>
      </p:sp>
      <p:sp>
        <p:nvSpPr>
          <p:cNvPr id="5" name="Shape 3"/>
          <p:cNvSpPr/>
          <p:nvPr/>
        </p:nvSpPr>
        <p:spPr>
          <a:xfrm>
            <a:off x="812800" y="5051127"/>
            <a:ext cx="10566400" cy="0"/>
          </a:xfrm>
          <a:prstGeom prst="line">
            <a:avLst/>
          </a:prstGeom>
          <a:noFill/>
          <a:ln w="6350">
            <a:solidFill>
              <a:srgbClr val="D8CEB6"/>
            </a:solidFill>
            <a:prstDash val="solid"/>
          </a:ln>
        </p:spPr>
        <p:txBody>
          <a:bodyPr/>
          <a:lstStyle/>
          <a:p>
            <a:endParaRPr lang="fr-F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841401"/>
          <a:ext cx="10547349" cy="3206550"/>
        </p:xfrm>
        <a:graphic>
          <a:graphicData uri="http://schemas.openxmlformats.org/drawingml/2006/table">
            <a:tbl>
              <a:tblPr/>
              <a:tblGrid>
                <a:gridCol w="3164205">
                  <a:extLst>
                    <a:ext uri="{9D8B030D-6E8A-4147-A177-3AD203B41FA5}">
                      <a16:colId xmlns:a16="http://schemas.microsoft.com/office/drawing/2014/main" val="20000"/>
                    </a:ext>
                  </a:extLst>
                </a:gridCol>
                <a:gridCol w="3480625">
                  <a:extLst>
                    <a:ext uri="{9D8B030D-6E8A-4147-A177-3AD203B41FA5}">
                      <a16:colId xmlns:a16="http://schemas.microsoft.com/office/drawing/2014/main" val="20001"/>
                    </a:ext>
                  </a:extLst>
                </a:gridCol>
                <a:gridCol w="3902519">
                  <a:extLst>
                    <a:ext uri="{9D8B030D-6E8A-4147-A177-3AD203B41FA5}">
                      <a16:colId xmlns:a16="http://schemas.microsoft.com/office/drawing/2014/main" val="20002"/>
                    </a:ext>
                  </a:extLst>
                </a:gridCol>
              </a:tblGrid>
              <a:tr h="332581">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kg brut par vache et par jour</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Vaches en lactation</a:t>
                      </a:r>
                      <a:endParaRPr lang="en-US" sz="1200" dirty="0">
                        <a:latin typeface="Nunito Sans" charset="0"/>
                        <a:ea typeface="Nunito Sans" charset="0"/>
                        <a:cs typeface="Nunito Sans" charset="0"/>
                      </a:endParaRPr>
                    </a:p>
                  </a:txBody>
                  <a:tcPr marL="53340" marR="53340" marT="53340" marB="53340">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Prépa vêlage (6 dernières semaines)</a:t>
                      </a:r>
                      <a:endParaRPr lang="en-US" sz="1200" dirty="0">
                        <a:latin typeface="Nunito Sans" charset="0"/>
                        <a:ea typeface="Nunito Sans" charset="0"/>
                        <a:cs typeface="Nunito Sans" charset="0"/>
                      </a:endParaRPr>
                    </a:p>
                  </a:txBody>
                  <a:tcPr marL="53340" marR="53340" marT="53340" marB="53340">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Enrubannage 2026</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13</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7</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Foin</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2,5 (foin 2025)</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1,5 (foin 2026)</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Paille de triticale</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4,5</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Triticale</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0,5</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Correcteur 25 MAT</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1</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1</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5"/>
                  </a:ext>
                </a:extLst>
              </a:tr>
              <a:tr h="545902">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Minéral (100 g)</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Riche en P, pauvre en Ca (type 12 P / 8 Ca / 6 Mg)</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Spécial tarie (type 10 P / 3 Ca / 10 Mg), vitamines, Se, I</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6"/>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Sel</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Bloc iodé à volonté</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Bloc iodé à volonté</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7"/>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Apports estimés</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10,8 UFL · PDIN 817 g · Ca/P 2,8</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8,2 UFL · PDIN 549 g · BACA ≈ 175</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8"/>
                  </a:ext>
                </a:extLst>
              </a:tr>
            </a:tbl>
          </a:graphicData>
        </a:graphic>
      </p:graphicFrame>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66"/>
                </a:solidFill>
                <a:latin typeface="Nunito Sans" pitchFamily="34" charset="0"/>
                <a:ea typeface="Nunito Sans" pitchFamily="34" charset="-122"/>
                <a:cs typeface="Nunito Sans" pitchFamily="34" charset="-120"/>
              </a:rPr>
              <a:t>Valeurs estimées à partir des analyses LANO · à valider avec le vétérinaire ou le nutritionniste</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2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4F12"/>
                </a:solidFill>
                <a:latin typeface="Nunito Sans" pitchFamily="34" charset="0"/>
                <a:ea typeface="Nunito Sans" pitchFamily="34" charset="-122"/>
                <a:cs typeface="Nunito Sans" pitchFamily="34" charset="-120"/>
              </a:rPr>
              <a:t>ÉTAPE 6 · SUIVRE</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E3A2F"/>
                </a:solidFill>
                <a:latin typeface="Domine" pitchFamily="34" charset="0"/>
                <a:ea typeface="Domine" pitchFamily="34" charset="-122"/>
                <a:cs typeface="Domine" pitchFamily="34" charset="-120"/>
              </a:rPr>
              <a:t>Vérifier que les corrections fonctionnent</a:t>
            </a:r>
            <a:endParaRPr lang="en-US" sz="3200" dirty="0"/>
          </a:p>
        </p:txBody>
      </p:sp>
      <p:sp>
        <p:nvSpPr>
          <p:cNvPr id="4" name="Shape 2"/>
          <p:cNvSpPr/>
          <p:nvPr/>
        </p:nvSpPr>
        <p:spPr>
          <a:xfrm>
            <a:off x="11376025" y="1828701"/>
            <a:ext cx="0" cy="3319661"/>
          </a:xfrm>
          <a:prstGeom prst="line">
            <a:avLst/>
          </a:prstGeom>
          <a:noFill/>
          <a:ln w="6350">
            <a:solidFill>
              <a:srgbClr val="D8CEB6"/>
            </a:solidFill>
            <a:prstDash val="solid"/>
          </a:ln>
        </p:spPr>
        <p:txBody>
          <a:bodyPr/>
          <a:lstStyle/>
          <a:p>
            <a:endParaRPr lang="fr-FR"/>
          </a:p>
        </p:txBody>
      </p:sp>
      <p:sp>
        <p:nvSpPr>
          <p:cNvPr id="5" name="Shape 3"/>
          <p:cNvSpPr/>
          <p:nvPr/>
        </p:nvSpPr>
        <p:spPr>
          <a:xfrm>
            <a:off x="812800" y="5145187"/>
            <a:ext cx="10566400" cy="0"/>
          </a:xfrm>
          <a:prstGeom prst="line">
            <a:avLst/>
          </a:prstGeom>
          <a:noFill/>
          <a:ln w="6350">
            <a:solidFill>
              <a:srgbClr val="D8CEB6"/>
            </a:solidFill>
            <a:prstDash val="solid"/>
          </a:ln>
        </p:spPr>
        <p:txBody>
          <a:bodyPr/>
          <a:lstStyle/>
          <a:p>
            <a:endParaRPr lang="fr-F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841401"/>
          <a:ext cx="10547350" cy="3300611"/>
        </p:xfrm>
        <a:graphic>
          <a:graphicData uri="http://schemas.openxmlformats.org/drawingml/2006/table">
            <a:tbl>
              <a:tblPr/>
              <a:tblGrid>
                <a:gridCol w="3797046">
                  <a:extLst>
                    <a:ext uri="{9D8B030D-6E8A-4147-A177-3AD203B41FA5}">
                      <a16:colId xmlns:a16="http://schemas.microsoft.com/office/drawing/2014/main" val="20000"/>
                    </a:ext>
                  </a:extLst>
                </a:gridCol>
                <a:gridCol w="4218940">
                  <a:extLst>
                    <a:ext uri="{9D8B030D-6E8A-4147-A177-3AD203B41FA5}">
                      <a16:colId xmlns:a16="http://schemas.microsoft.com/office/drawing/2014/main" val="20001"/>
                    </a:ext>
                  </a:extLst>
                </a:gridCol>
                <a:gridCol w="2531364">
                  <a:extLst>
                    <a:ext uri="{9D8B030D-6E8A-4147-A177-3AD203B41FA5}">
                      <a16:colId xmlns:a16="http://schemas.microsoft.com/office/drawing/2014/main" val="20002"/>
                    </a:ext>
                  </a:extLst>
                </a:gridCol>
              </a:tblGrid>
              <a:tr h="332581">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Contrôle</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Objectif</a:t>
                      </a:r>
                      <a:endParaRPr lang="en-US" sz="1200" dirty="0">
                        <a:latin typeface="Nunito Sans" charset="0"/>
                        <a:ea typeface="Nunito Sans" charset="0"/>
                        <a:cs typeface="Nunito Sans" charset="0"/>
                      </a:endParaRPr>
                    </a:p>
                  </a:txBody>
                  <a:tcPr marL="53340" marR="53340" marT="53340" marB="53340">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tc>
                  <a:txBody>
                    <a:bodyPr/>
                    <a:lstStyle/>
                    <a:p>
                      <a:pPr marL="0" indent="0">
                        <a:lnSpc>
                          <a:spcPts val="1680"/>
                        </a:lnSpc>
                        <a:buNone/>
                      </a:pPr>
                      <a:r>
                        <a:rPr lang="en-US" sz="1200" b="1" dirty="0">
                          <a:solidFill>
                            <a:srgbClr val="F6F2E8"/>
                          </a:solidFill>
                          <a:latin typeface="Nunito Sans" pitchFamily="34" charset="0"/>
                          <a:ea typeface="Nunito Sans" pitchFamily="34" charset="-122"/>
                          <a:cs typeface="Nunito Sans" pitchFamily="34" charset="-120"/>
                        </a:rPr>
                        <a:t>Quand</a:t>
                      </a:r>
                      <a:endParaRPr lang="en-US" sz="1200" dirty="0">
                        <a:latin typeface="Nunito Sans" charset="0"/>
                        <a:ea typeface="Nunito Sans" charset="0"/>
                        <a:cs typeface="Nunito Sans" charset="0"/>
                      </a:endParaRPr>
                    </a:p>
                  </a:txBody>
                  <a:tcPr marL="53340" marR="53340" marT="53340" marB="53340">
                    <a:lnL w="12700" cap="flat" cmpd="sng" algn="ctr">
                      <a:solidFill>
                        <a:srgbClr val="1C3229"/>
                      </a:solidFill>
                      <a:prstDash val="solid"/>
                      <a:round/>
                      <a:headEnd type="none" w="med" len="med"/>
                      <a:tailEnd type="none" w="med" len="med"/>
                    </a:lnL>
                    <a:lnR w="12700" cap="flat" cmpd="sng" algn="ctr">
                      <a:solidFill>
                        <a:srgbClr val="1C3229"/>
                      </a:solidFill>
                      <a:prstDash val="solid"/>
                      <a:round/>
                      <a:headEnd type="none" w="med" len="med"/>
                      <a:tailEnd type="none" w="med" len="med"/>
                    </a:lnR>
                    <a:lnT w="12700" cap="flat" cmpd="sng" algn="ctr">
                      <a:solidFill>
                        <a:srgbClr val="C4C1B9"/>
                      </a:solidFill>
                      <a:prstDash val="solid"/>
                      <a:round/>
                      <a:headEnd type="none" w="med" len="med"/>
                      <a:tailEnd type="none" w="med" len="med"/>
                    </a:lnT>
                    <a:lnB w="12700" cap="flat" cmpd="sng" algn="ctr">
                      <a:solidFill>
                        <a:srgbClr val="1C3229"/>
                      </a:solidFill>
                      <a:prstDash val="solid"/>
                      <a:round/>
                      <a:headEnd type="none" w="med" len="med"/>
                      <a:tailEnd type="none" w="med" len="med"/>
                    </a:lnB>
                    <a:solidFill>
                      <a:srgbClr val="1E3A2F"/>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Prise de sang Se, I, Cu, Zn (5 à 6 vaches)</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Vérifier la correction des carences</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2 à 3 mois après</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C322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1"/>
                  </a:ext>
                </a:extLst>
              </a:tr>
              <a:tr h="545902">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Glycémie, urée, BOH, pH et redox des bouses</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Contrôler l'équilibre énergie / azote et l'acidose</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1 mois après le changement de ration</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2"/>
                  </a:ext>
                </a:extLst>
              </a:tr>
              <a:tr h="545902">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pH urinaire en prépa vêlage</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Cible 7,0 à 7,5 avec le chlorure de magnésium</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Chaque semaine, 3 dernières semaines</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Tamisage des bouses</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Moins de 10 % de refus sur le premier tamis</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Chaque mois en hivernage</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4"/>
                  </a:ext>
                </a:extLst>
              </a:tr>
              <a:tr h="545902">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État corporel et remplissage du rumen</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NEC 2,75 à 3 au vêlage, rumen noté 4 chez les taries</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Tarissement et 1 mois avant vêlage</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5"/>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Brix du colostrum, protéines des veaux</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Colostrum 22 % et plus ; veaux 6 à 7 g/dl</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À chaque vêlage</a:t>
                      </a:r>
                      <a:endParaRPr lang="en-US" sz="1200" dirty="0">
                        <a:latin typeface="Nunito Sans" charset="0"/>
                        <a:ea typeface="Nunito Sans" charset="0"/>
                        <a:cs typeface="Nunito Sans" charset="0"/>
                      </a:endParaRPr>
                    </a:p>
                  </a:txBody>
                  <a:tcPr marL="53340" marR="53340" marT="53340" marB="53340">
                    <a:lnL w="12700" cap="flat" cmpd="sng" algn="ctr">
                      <a:solidFill>
                        <a:srgbClr val="BCB7A9"/>
                      </a:solidFill>
                      <a:prstDash val="solid"/>
                      <a:round/>
                      <a:headEnd type="none" w="med" len="med"/>
                      <a:tailEnd type="none" w="med" len="med"/>
                    </a:lnL>
                    <a:lnR w="12700" cap="flat" cmpd="sng" algn="ctr">
                      <a:solidFill>
                        <a:srgbClr val="BCB7A9"/>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7A9"/>
                      </a:solidFill>
                      <a:prstDash val="solid"/>
                      <a:round/>
                      <a:headEnd type="none" w="med" len="med"/>
                      <a:tailEnd type="none" w="med" len="med"/>
                    </a:lnB>
                    <a:solidFill>
                      <a:srgbClr val="ECE5D3"/>
                    </a:solidFill>
                  </a:tcPr>
                </a:tc>
                <a:extLst>
                  <a:ext uri="{0D108BD9-81ED-4DB2-BD59-A6C34878D82A}">
                    <a16:rowId xmlns:a16="http://schemas.microsoft.com/office/drawing/2014/main" val="10006"/>
                  </a:ext>
                </a:extLst>
              </a:tr>
              <a:tr h="332581">
                <a:tc>
                  <a:txBody>
                    <a:bodyPr/>
                    <a:lstStyle/>
                    <a:p>
                      <a:pPr marL="0" indent="0">
                        <a:lnSpc>
                          <a:spcPts val="1680"/>
                        </a:lnSpc>
                        <a:buNone/>
                      </a:pPr>
                      <a:r>
                        <a:rPr lang="en-US" sz="1200" dirty="0">
                          <a:solidFill>
                            <a:srgbClr val="1E3A2F"/>
                          </a:solidFill>
                          <a:latin typeface="Nunito Sans" pitchFamily="34" charset="0"/>
                          <a:ea typeface="Nunito Sans" pitchFamily="34" charset="-122"/>
                          <a:cs typeface="Nunito Sans" pitchFamily="34" charset="-120"/>
                        </a:rPr>
                        <a:t>Bilan sanitaire GDS</a:t>
                      </a:r>
                      <a:endParaRPr lang="en-US" sz="1200" dirty="0">
                        <a:latin typeface="Nunito Sans" charset="0"/>
                        <a:ea typeface="Nunito Sans" charset="0"/>
                        <a:cs typeface="Nunito Sans" charset="0"/>
                      </a:endParaRPr>
                    </a:p>
                  </a:txBody>
                  <a:tcPr marL="53340" marR="53340" marT="53340" marB="53340">
                    <a:lnL w="12700" cap="flat" cmpd="sng" algn="ctr">
                      <a:solidFill>
                        <a:srgbClr val="C4C1B9"/>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Suivre non-délivrances, métrites, IVV, mortalité</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marL="0" indent="0">
                        <a:lnSpc>
                          <a:spcPts val="1680"/>
                        </a:lnSpc>
                        <a:buNone/>
                      </a:pPr>
                      <a:r>
                        <a:rPr lang="en-US" sz="1200" dirty="0">
                          <a:solidFill>
                            <a:srgbClr val="4A5448"/>
                          </a:solidFill>
                          <a:latin typeface="Nunito Sans" pitchFamily="34" charset="0"/>
                          <a:ea typeface="Nunito Sans" pitchFamily="34" charset="-122"/>
                          <a:cs typeface="Nunito Sans" pitchFamily="34" charset="-120"/>
                        </a:rPr>
                        <a:t>Campagne 2026–2027</a:t>
                      </a:r>
                      <a:endParaRPr lang="en-US" sz="1200" dirty="0">
                        <a:latin typeface="Nunito Sans" charset="0"/>
                        <a:ea typeface="Nunito Sans" charset="0"/>
                        <a:cs typeface="Nunito Sans" charset="0"/>
                      </a:endParaRPr>
                    </a:p>
                  </a:txBody>
                  <a:tcPr marL="53340" marR="53340" marT="53340" marB="53340">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7A9"/>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extLst>
                  <a:ext uri="{0D108BD9-81ED-4DB2-BD59-A6C34878D82A}">
                    <a16:rowId xmlns:a16="http://schemas.microsoft.com/office/drawing/2014/main" val="10007"/>
                  </a:ext>
                </a:extLst>
              </a:tr>
            </a:tbl>
          </a:graphicData>
        </a:graphic>
      </p:graphicFrame>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66"/>
                </a:solidFill>
                <a:latin typeface="Nunito Sans" pitchFamily="34" charset="0"/>
                <a:ea typeface="Nunito Sans" pitchFamily="34" charset="-122"/>
                <a:cs typeface="Nunito Sans" pitchFamily="34" charset="-120"/>
              </a:rPr>
              <a:t>EARL Forgeneuf · approche globale</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2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4F12"/>
                </a:solidFill>
                <a:latin typeface="Nunito Sans" pitchFamily="34" charset="0"/>
                <a:ea typeface="Nunito Sans" pitchFamily="34" charset="-122"/>
                <a:cs typeface="Nunito Sans" pitchFamily="34" charset="-120"/>
              </a:rPr>
              <a:t>ÉTAPE 6 · SUIVRE</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E3A2F"/>
                </a:solidFill>
                <a:latin typeface="Domine" pitchFamily="34" charset="0"/>
                <a:ea typeface="Domine" pitchFamily="34" charset="-122"/>
                <a:cs typeface="Domine" pitchFamily="34" charset="-120"/>
              </a:rPr>
              <a:t>Le calendrier des mesures à mettre en place</a:t>
            </a:r>
            <a:endParaRPr lang="en-US" sz="3200" dirty="0"/>
          </a:p>
        </p:txBody>
      </p:sp>
      <p:sp>
        <p:nvSpPr>
          <p:cNvPr id="4" name="Shape 2"/>
          <p:cNvSpPr/>
          <p:nvPr/>
        </p:nvSpPr>
        <p:spPr>
          <a:xfrm>
            <a:off x="819150" y="1835051"/>
            <a:ext cx="1663700" cy="2161183"/>
          </a:xfrm>
          <a:prstGeom prst="roundRect">
            <a:avLst>
              <a:gd name="adj" fmla="val 4198"/>
            </a:avLst>
          </a:prstGeom>
          <a:solidFill>
            <a:srgbClr val="FBF9F3"/>
          </a:solidFill>
          <a:ln w="12700">
            <a:solidFill>
              <a:srgbClr val="D8CEB6"/>
            </a:solidFill>
            <a:prstDash val="solid"/>
          </a:ln>
        </p:spPr>
        <p:txBody>
          <a:bodyPr/>
          <a:lstStyle/>
          <a:p>
            <a:endParaRPr lang="fr-FR"/>
          </a:p>
        </p:txBody>
      </p:sp>
      <p:sp>
        <p:nvSpPr>
          <p:cNvPr id="5" name="Text 3"/>
          <p:cNvSpPr/>
          <p:nvPr/>
        </p:nvSpPr>
        <p:spPr>
          <a:xfrm>
            <a:off x="977900" y="1993801"/>
            <a:ext cx="13970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A4F12"/>
                </a:solidFill>
                <a:latin typeface="Nunito Sans" pitchFamily="34" charset="0"/>
                <a:ea typeface="Nunito Sans" pitchFamily="34" charset="-122"/>
                <a:cs typeface="Nunito Sans" pitchFamily="34" charset="-120"/>
              </a:rPr>
              <a:t>1</a:t>
            </a:r>
            <a:endParaRPr lang="en-US" sz="1200" dirty="0"/>
          </a:p>
        </p:txBody>
      </p:sp>
      <p:sp>
        <p:nvSpPr>
          <p:cNvPr id="6" name="Text 4"/>
          <p:cNvSpPr/>
          <p:nvPr/>
        </p:nvSpPr>
        <p:spPr>
          <a:xfrm>
            <a:off x="977900" y="2283321"/>
            <a:ext cx="1397000" cy="42148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E3A2F"/>
                </a:solidFill>
                <a:latin typeface="Domine" pitchFamily="34" charset="0"/>
                <a:ea typeface="Domine" pitchFamily="34" charset="-122"/>
                <a:cs typeface="Domine" pitchFamily="34" charset="-120"/>
              </a:rPr>
              <a:t>Entrée en hivernage</a:t>
            </a:r>
            <a:endParaRPr lang="en-US" sz="1300" dirty="0"/>
          </a:p>
        </p:txBody>
      </p:sp>
      <p:sp>
        <p:nvSpPr>
          <p:cNvPr id="7" name="Text 5"/>
          <p:cNvSpPr/>
          <p:nvPr/>
        </p:nvSpPr>
        <p:spPr>
          <a:xfrm>
            <a:off x="977900" y="2755602"/>
            <a:ext cx="1397000" cy="10920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Analyses de fourrages</a:t>
            </a:r>
            <a:endParaRPr lang="en-US" sz="1200" dirty="0"/>
          </a:p>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ration recalculée</a:t>
            </a:r>
            <a:endParaRPr lang="en-US" sz="1200" dirty="0"/>
          </a:p>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correcteur azoté</a:t>
            </a:r>
            <a:endParaRPr lang="en-US" sz="1200" dirty="0"/>
          </a:p>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nouveau minéral</a:t>
            </a:r>
            <a:endParaRPr lang="en-US" sz="1200" dirty="0"/>
          </a:p>
        </p:txBody>
      </p:sp>
      <p:sp>
        <p:nvSpPr>
          <p:cNvPr id="8" name="Shape 6"/>
          <p:cNvSpPr/>
          <p:nvPr/>
        </p:nvSpPr>
        <p:spPr>
          <a:xfrm>
            <a:off x="2597150" y="1835051"/>
            <a:ext cx="1663700" cy="2161183"/>
          </a:xfrm>
          <a:prstGeom prst="roundRect">
            <a:avLst>
              <a:gd name="adj" fmla="val 4198"/>
            </a:avLst>
          </a:prstGeom>
          <a:solidFill>
            <a:srgbClr val="FBF9F3"/>
          </a:solidFill>
          <a:ln w="12700">
            <a:solidFill>
              <a:srgbClr val="D8CEB6"/>
            </a:solidFill>
            <a:prstDash val="solid"/>
          </a:ln>
        </p:spPr>
        <p:txBody>
          <a:bodyPr/>
          <a:lstStyle/>
          <a:p>
            <a:endParaRPr lang="fr-FR"/>
          </a:p>
        </p:txBody>
      </p:sp>
      <p:sp>
        <p:nvSpPr>
          <p:cNvPr id="9" name="Text 7"/>
          <p:cNvSpPr/>
          <p:nvPr/>
        </p:nvSpPr>
        <p:spPr>
          <a:xfrm>
            <a:off x="2755900" y="1993801"/>
            <a:ext cx="13970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A4F12"/>
                </a:solidFill>
                <a:latin typeface="Nunito Sans" pitchFamily="34" charset="0"/>
                <a:ea typeface="Nunito Sans" pitchFamily="34" charset="-122"/>
                <a:cs typeface="Nunito Sans" pitchFamily="34" charset="-120"/>
              </a:rPr>
              <a:t>2</a:t>
            </a:r>
            <a:endParaRPr lang="en-US" sz="1200" dirty="0"/>
          </a:p>
        </p:txBody>
      </p:sp>
      <p:sp>
        <p:nvSpPr>
          <p:cNvPr id="10" name="Text 8"/>
          <p:cNvSpPr/>
          <p:nvPr/>
        </p:nvSpPr>
        <p:spPr>
          <a:xfrm>
            <a:off x="2755900" y="2283321"/>
            <a:ext cx="1397000"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E3A2F"/>
                </a:solidFill>
                <a:latin typeface="Domine" pitchFamily="34" charset="0"/>
                <a:ea typeface="Domine" pitchFamily="34" charset="-122"/>
                <a:cs typeface="Domine" pitchFamily="34" charset="-120"/>
              </a:rPr>
              <a:t>Tarissement</a:t>
            </a:r>
            <a:endParaRPr lang="en-US" sz="1300" dirty="0"/>
          </a:p>
        </p:txBody>
      </p:sp>
      <p:sp>
        <p:nvSpPr>
          <p:cNvPr id="11" name="Text 9"/>
          <p:cNvSpPr/>
          <p:nvPr/>
        </p:nvSpPr>
        <p:spPr>
          <a:xfrm>
            <a:off x="2755900" y="2557562"/>
            <a:ext cx="1397000" cy="130532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NEC et remplissage du rumen</a:t>
            </a:r>
            <a:endParaRPr lang="en-US" sz="1200" dirty="0"/>
          </a:p>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bolus ou injection Se/I</a:t>
            </a:r>
            <a:endParaRPr lang="en-US" sz="1200" dirty="0"/>
          </a:p>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lot des taries</a:t>
            </a:r>
            <a:endParaRPr lang="en-US" sz="1200" dirty="0"/>
          </a:p>
        </p:txBody>
      </p:sp>
      <p:sp>
        <p:nvSpPr>
          <p:cNvPr id="12" name="Shape 10"/>
          <p:cNvSpPr/>
          <p:nvPr/>
        </p:nvSpPr>
        <p:spPr>
          <a:xfrm>
            <a:off x="4375150" y="1835051"/>
            <a:ext cx="1663700" cy="2161183"/>
          </a:xfrm>
          <a:prstGeom prst="roundRect">
            <a:avLst>
              <a:gd name="adj" fmla="val 4198"/>
            </a:avLst>
          </a:prstGeom>
          <a:solidFill>
            <a:srgbClr val="FBF9F3"/>
          </a:solidFill>
          <a:ln w="12700">
            <a:solidFill>
              <a:srgbClr val="D8CEB6"/>
            </a:solidFill>
            <a:prstDash val="solid"/>
          </a:ln>
        </p:spPr>
        <p:txBody>
          <a:bodyPr/>
          <a:lstStyle/>
          <a:p>
            <a:endParaRPr lang="fr-FR"/>
          </a:p>
        </p:txBody>
      </p:sp>
      <p:sp>
        <p:nvSpPr>
          <p:cNvPr id="13" name="Text 11"/>
          <p:cNvSpPr/>
          <p:nvPr/>
        </p:nvSpPr>
        <p:spPr>
          <a:xfrm>
            <a:off x="4533900" y="1993801"/>
            <a:ext cx="13970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A4F12"/>
                </a:solidFill>
                <a:latin typeface="Nunito Sans" pitchFamily="34" charset="0"/>
                <a:ea typeface="Nunito Sans" pitchFamily="34" charset="-122"/>
                <a:cs typeface="Nunito Sans" pitchFamily="34" charset="-120"/>
              </a:rPr>
              <a:t>3</a:t>
            </a:r>
            <a:endParaRPr lang="en-US" sz="1200" dirty="0"/>
          </a:p>
        </p:txBody>
      </p:sp>
      <p:sp>
        <p:nvSpPr>
          <p:cNvPr id="14" name="Text 12"/>
          <p:cNvSpPr/>
          <p:nvPr/>
        </p:nvSpPr>
        <p:spPr>
          <a:xfrm>
            <a:off x="4533900" y="2283321"/>
            <a:ext cx="1397000" cy="42148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E3A2F"/>
                </a:solidFill>
                <a:latin typeface="Domine" pitchFamily="34" charset="0"/>
                <a:ea typeface="Domine" pitchFamily="34" charset="-122"/>
                <a:cs typeface="Domine" pitchFamily="34" charset="-120"/>
              </a:rPr>
              <a:t>6 semaines avant vêlage</a:t>
            </a:r>
            <a:endParaRPr lang="en-US" sz="1300" dirty="0"/>
          </a:p>
        </p:txBody>
      </p:sp>
      <p:sp>
        <p:nvSpPr>
          <p:cNvPr id="15" name="Text 13"/>
          <p:cNvSpPr/>
          <p:nvPr/>
        </p:nvSpPr>
        <p:spPr>
          <a:xfrm>
            <a:off x="4533900" y="2755602"/>
            <a:ext cx="1397000"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Lot prépa vêlage</a:t>
            </a:r>
            <a:endParaRPr lang="en-US" sz="1200" dirty="0"/>
          </a:p>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paille et foin 2026</a:t>
            </a:r>
            <a:endParaRPr lang="en-US" sz="1200" dirty="0"/>
          </a:p>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minéral spécial tarie</a:t>
            </a:r>
            <a:endParaRPr lang="en-US" sz="1200" dirty="0"/>
          </a:p>
        </p:txBody>
      </p:sp>
      <p:sp>
        <p:nvSpPr>
          <p:cNvPr id="16" name="Shape 14"/>
          <p:cNvSpPr/>
          <p:nvPr/>
        </p:nvSpPr>
        <p:spPr>
          <a:xfrm>
            <a:off x="6153150" y="1835051"/>
            <a:ext cx="1663700" cy="2161183"/>
          </a:xfrm>
          <a:prstGeom prst="roundRect">
            <a:avLst>
              <a:gd name="adj" fmla="val 4198"/>
            </a:avLst>
          </a:prstGeom>
          <a:solidFill>
            <a:srgbClr val="FBF9F3"/>
          </a:solidFill>
          <a:ln w="12700">
            <a:solidFill>
              <a:srgbClr val="D8CEB6"/>
            </a:solidFill>
            <a:prstDash val="solid"/>
          </a:ln>
        </p:spPr>
        <p:txBody>
          <a:bodyPr/>
          <a:lstStyle/>
          <a:p>
            <a:endParaRPr lang="fr-FR"/>
          </a:p>
        </p:txBody>
      </p:sp>
      <p:sp>
        <p:nvSpPr>
          <p:cNvPr id="17" name="Text 15"/>
          <p:cNvSpPr/>
          <p:nvPr/>
        </p:nvSpPr>
        <p:spPr>
          <a:xfrm>
            <a:off x="6311900" y="1993801"/>
            <a:ext cx="13970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A4F12"/>
                </a:solidFill>
                <a:latin typeface="Nunito Sans" pitchFamily="34" charset="0"/>
                <a:ea typeface="Nunito Sans" pitchFamily="34" charset="-122"/>
                <a:cs typeface="Nunito Sans" pitchFamily="34" charset="-120"/>
              </a:rPr>
              <a:t>4</a:t>
            </a:r>
            <a:endParaRPr lang="en-US" sz="1200" dirty="0"/>
          </a:p>
        </p:txBody>
      </p:sp>
      <p:sp>
        <p:nvSpPr>
          <p:cNvPr id="18" name="Text 16"/>
          <p:cNvSpPr/>
          <p:nvPr/>
        </p:nvSpPr>
        <p:spPr>
          <a:xfrm>
            <a:off x="6311900" y="2283321"/>
            <a:ext cx="1397000" cy="42148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E3A2F"/>
                </a:solidFill>
                <a:latin typeface="Domine" pitchFamily="34" charset="0"/>
                <a:ea typeface="Domine" pitchFamily="34" charset="-122"/>
                <a:cs typeface="Domine" pitchFamily="34" charset="-120"/>
              </a:rPr>
              <a:t>3 semaines avant vêlage</a:t>
            </a:r>
            <a:endParaRPr lang="en-US" sz="1300" dirty="0"/>
          </a:p>
        </p:txBody>
      </p:sp>
      <p:sp>
        <p:nvSpPr>
          <p:cNvPr id="19" name="Text 17"/>
          <p:cNvSpPr/>
          <p:nvPr/>
        </p:nvSpPr>
        <p:spPr>
          <a:xfrm>
            <a:off x="6311900" y="2755602"/>
            <a:ext cx="1397000"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Chlorure de magnésium</a:t>
            </a:r>
            <a:endParaRPr lang="en-US" sz="1200" dirty="0"/>
          </a:p>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pH urinaire chaque semaine</a:t>
            </a:r>
            <a:endParaRPr lang="en-US" sz="1200" dirty="0"/>
          </a:p>
        </p:txBody>
      </p:sp>
      <p:sp>
        <p:nvSpPr>
          <p:cNvPr id="20" name="Shape 18"/>
          <p:cNvSpPr/>
          <p:nvPr/>
        </p:nvSpPr>
        <p:spPr>
          <a:xfrm>
            <a:off x="7931150" y="1835051"/>
            <a:ext cx="1663700" cy="2161183"/>
          </a:xfrm>
          <a:prstGeom prst="roundRect">
            <a:avLst>
              <a:gd name="adj" fmla="val 4198"/>
            </a:avLst>
          </a:prstGeom>
          <a:solidFill>
            <a:srgbClr val="FBF9F3"/>
          </a:solidFill>
          <a:ln w="12700">
            <a:solidFill>
              <a:srgbClr val="D8CEB6"/>
            </a:solidFill>
            <a:prstDash val="solid"/>
          </a:ln>
        </p:spPr>
        <p:txBody>
          <a:bodyPr/>
          <a:lstStyle/>
          <a:p>
            <a:endParaRPr lang="fr-FR"/>
          </a:p>
        </p:txBody>
      </p:sp>
      <p:sp>
        <p:nvSpPr>
          <p:cNvPr id="21" name="Text 19"/>
          <p:cNvSpPr/>
          <p:nvPr/>
        </p:nvSpPr>
        <p:spPr>
          <a:xfrm>
            <a:off x="8089900" y="1993801"/>
            <a:ext cx="13970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A4F12"/>
                </a:solidFill>
                <a:latin typeface="Nunito Sans" pitchFamily="34" charset="0"/>
                <a:ea typeface="Nunito Sans" pitchFamily="34" charset="-122"/>
                <a:cs typeface="Nunito Sans" pitchFamily="34" charset="-120"/>
              </a:rPr>
              <a:t>5</a:t>
            </a:r>
            <a:endParaRPr lang="en-US" sz="1200" dirty="0"/>
          </a:p>
        </p:txBody>
      </p:sp>
      <p:sp>
        <p:nvSpPr>
          <p:cNvPr id="22" name="Text 20"/>
          <p:cNvSpPr/>
          <p:nvPr/>
        </p:nvSpPr>
        <p:spPr>
          <a:xfrm>
            <a:off x="8089900" y="2283321"/>
            <a:ext cx="1397000"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E3A2F"/>
                </a:solidFill>
                <a:latin typeface="Domine" pitchFamily="34" charset="0"/>
                <a:ea typeface="Domine" pitchFamily="34" charset="-122"/>
                <a:cs typeface="Domine" pitchFamily="34" charset="-120"/>
              </a:rPr>
              <a:t>Vêlage</a:t>
            </a:r>
            <a:endParaRPr lang="en-US" sz="1300" dirty="0"/>
          </a:p>
        </p:txBody>
      </p:sp>
      <p:sp>
        <p:nvSpPr>
          <p:cNvPr id="23" name="Text 21"/>
          <p:cNvSpPr/>
          <p:nvPr/>
        </p:nvSpPr>
        <p:spPr>
          <a:xfrm>
            <a:off x="8089900" y="2557562"/>
            <a:ext cx="1397000"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Brix du colostrum</a:t>
            </a:r>
            <a:endParaRPr lang="en-US" sz="1200" dirty="0"/>
          </a:p>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buvée en 2 à 6 h</a:t>
            </a:r>
            <a:endParaRPr lang="en-US" sz="1200" dirty="0"/>
          </a:p>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cordon</a:t>
            </a:r>
            <a:endParaRPr lang="en-US" sz="1200" dirty="0"/>
          </a:p>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case propre</a:t>
            </a:r>
            <a:endParaRPr lang="en-US" sz="1200" dirty="0"/>
          </a:p>
        </p:txBody>
      </p:sp>
      <p:sp>
        <p:nvSpPr>
          <p:cNvPr id="24" name="Shape 22"/>
          <p:cNvSpPr/>
          <p:nvPr/>
        </p:nvSpPr>
        <p:spPr>
          <a:xfrm>
            <a:off x="9709150" y="1835051"/>
            <a:ext cx="1663700" cy="2161183"/>
          </a:xfrm>
          <a:prstGeom prst="roundRect">
            <a:avLst>
              <a:gd name="adj" fmla="val 4198"/>
            </a:avLst>
          </a:prstGeom>
          <a:solidFill>
            <a:srgbClr val="FBF9F3"/>
          </a:solidFill>
          <a:ln w="12700">
            <a:solidFill>
              <a:srgbClr val="D8CEB6"/>
            </a:solidFill>
            <a:prstDash val="solid"/>
          </a:ln>
        </p:spPr>
        <p:txBody>
          <a:bodyPr/>
          <a:lstStyle/>
          <a:p>
            <a:endParaRPr lang="fr-FR"/>
          </a:p>
        </p:txBody>
      </p:sp>
      <p:sp>
        <p:nvSpPr>
          <p:cNvPr id="25" name="Text 23"/>
          <p:cNvSpPr/>
          <p:nvPr/>
        </p:nvSpPr>
        <p:spPr>
          <a:xfrm>
            <a:off x="9867900" y="1993801"/>
            <a:ext cx="13970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A4F12"/>
                </a:solidFill>
                <a:latin typeface="Nunito Sans" pitchFamily="34" charset="0"/>
                <a:ea typeface="Nunito Sans" pitchFamily="34" charset="-122"/>
                <a:cs typeface="Nunito Sans" pitchFamily="34" charset="-120"/>
              </a:rPr>
              <a:t>6</a:t>
            </a:r>
            <a:endParaRPr lang="en-US" sz="1200" dirty="0"/>
          </a:p>
        </p:txBody>
      </p:sp>
      <p:sp>
        <p:nvSpPr>
          <p:cNvPr id="26" name="Text 24"/>
          <p:cNvSpPr/>
          <p:nvPr/>
        </p:nvSpPr>
        <p:spPr>
          <a:xfrm>
            <a:off x="9867900" y="2283321"/>
            <a:ext cx="1397000"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E3A2F"/>
                </a:solidFill>
                <a:latin typeface="Domine" pitchFamily="34" charset="0"/>
                <a:ea typeface="Domine" pitchFamily="34" charset="-122"/>
                <a:cs typeface="Domine" pitchFamily="34" charset="-120"/>
              </a:rPr>
              <a:t>1 à 3 mois après</a:t>
            </a:r>
            <a:endParaRPr lang="en-US" sz="1300" dirty="0"/>
          </a:p>
        </p:txBody>
      </p:sp>
      <p:sp>
        <p:nvSpPr>
          <p:cNvPr id="27" name="Text 25"/>
          <p:cNvSpPr/>
          <p:nvPr/>
        </p:nvSpPr>
        <p:spPr>
          <a:xfrm>
            <a:off x="9867900" y="2557562"/>
            <a:ext cx="1397000"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Mesures terrain</a:t>
            </a:r>
            <a:endParaRPr lang="en-US" sz="1200" dirty="0"/>
          </a:p>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prise de sang Se, I</a:t>
            </a:r>
            <a:endParaRPr lang="en-US" sz="1200" dirty="0"/>
          </a:p>
          <a:p>
            <a:pPr marL="0" indent="0" algn="l">
              <a:lnSpc>
                <a:spcPts val="1680"/>
              </a:lnSpc>
              <a:buNone/>
            </a:pPr>
            <a:r>
              <a:rPr lang="en-US" sz="1200" dirty="0">
                <a:solidFill>
                  <a:srgbClr val="4A5448"/>
                </a:solidFill>
                <a:latin typeface="Nunito Sans" pitchFamily="34" charset="0"/>
                <a:ea typeface="Nunito Sans" pitchFamily="34" charset="-122"/>
                <a:cs typeface="Nunito Sans" pitchFamily="34" charset="-120"/>
              </a:rPr>
              <a:t>protéines des veaux</a:t>
            </a:r>
            <a:endParaRPr lang="en-US" sz="1200" dirty="0"/>
          </a:p>
        </p:txBody>
      </p:sp>
      <p:sp>
        <p:nvSpPr>
          <p:cNvPr id="28" name="Shape 26"/>
          <p:cNvSpPr/>
          <p:nvPr/>
        </p:nvSpPr>
        <p:spPr>
          <a:xfrm>
            <a:off x="812800" y="4256584"/>
            <a:ext cx="10566400" cy="817761"/>
          </a:xfrm>
          <a:prstGeom prst="roundRect">
            <a:avLst>
              <a:gd name="adj" fmla="val 12424"/>
            </a:avLst>
          </a:prstGeom>
          <a:solidFill>
            <a:srgbClr val="ECE5D3"/>
          </a:solidFill>
          <a:ln/>
        </p:spPr>
        <p:txBody>
          <a:bodyPr/>
          <a:lstStyle/>
          <a:p>
            <a:endParaRPr lang="fr-FR"/>
          </a:p>
        </p:txBody>
      </p:sp>
      <p:pic>
        <p:nvPicPr>
          <p:cNvPr id="29" name="Image 0" descr="Clock"/>
          <p:cNvPicPr>
            <a:picLocks noChangeAspect="1"/>
          </p:cNvPicPr>
          <p:nvPr/>
        </p:nvPicPr>
        <p:blipFill>
          <a:blip r:embed="rId3"/>
          <a:srcRect t="-36" b="-36"/>
          <a:stretch/>
        </p:blipFill>
        <p:spPr>
          <a:xfrm>
            <a:off x="990600" y="4525764"/>
            <a:ext cx="272852" cy="279400"/>
          </a:xfrm>
          <a:prstGeom prst="rect">
            <a:avLst/>
          </a:prstGeom>
        </p:spPr>
      </p:pic>
      <p:sp>
        <p:nvSpPr>
          <p:cNvPr id="30" name="Text 27"/>
          <p:cNvSpPr/>
          <p:nvPr/>
        </p:nvSpPr>
        <p:spPr>
          <a:xfrm>
            <a:off x="1390452" y="4434384"/>
            <a:ext cx="10105277"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E3A2F"/>
                </a:solidFill>
                <a:latin typeface="Nunito Sans" pitchFamily="34" charset="0"/>
                <a:ea typeface="Nunito Sans" pitchFamily="34" charset="-122"/>
                <a:cs typeface="Nunito Sans" pitchFamily="34" charset="-120"/>
              </a:rPr>
              <a:t>Mise à l'herbe :</a:t>
            </a:r>
            <a:r>
              <a:rPr lang="en-US" sz="1300" dirty="0">
                <a:solidFill>
                  <a:srgbClr val="1E3A2F"/>
                </a:solidFill>
                <a:latin typeface="Nunito Sans" pitchFamily="34" charset="0"/>
                <a:ea typeface="Nunito Sans" pitchFamily="34" charset="-122"/>
                <a:cs typeface="Nunito Sans" pitchFamily="34" charset="-120"/>
              </a:rPr>
              <a:t> transition sur 2 à 3 semaines et contrôle des zones de passage (boiteries). </a:t>
            </a:r>
            <a:r>
              <a:rPr lang="en-US" sz="1300" b="1" dirty="0">
                <a:solidFill>
                  <a:srgbClr val="1E3A2F"/>
                </a:solidFill>
                <a:latin typeface="Nunito Sans" pitchFamily="34" charset="0"/>
                <a:ea typeface="Nunito Sans" pitchFamily="34" charset="-122"/>
                <a:cs typeface="Nunito Sans" pitchFamily="34" charset="-120"/>
              </a:rPr>
              <a:t>Printemps :</a:t>
            </a:r>
            <a:r>
              <a:rPr lang="en-US" sz="1300" dirty="0">
                <a:solidFill>
                  <a:srgbClr val="1E3A2F"/>
                </a:solidFill>
                <a:latin typeface="Nunito Sans" pitchFamily="34" charset="0"/>
                <a:ea typeface="Nunito Sans" pitchFamily="34" charset="-122"/>
                <a:cs typeface="Nunito Sans" pitchFamily="34" charset="-120"/>
              </a:rPr>
              <a:t> fauche précoce de l'enrubannage.</a:t>
            </a:r>
            <a:endParaRPr lang="en-US" sz="1300" dirty="0"/>
          </a:p>
        </p:txBody>
      </p:sp>
      <p:sp>
        <p:nvSpPr>
          <p:cNvPr id="31" name="Text 2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66"/>
                </a:solidFill>
                <a:latin typeface="Nunito Sans" pitchFamily="34" charset="0"/>
                <a:ea typeface="Nunito Sans" pitchFamily="34" charset="-122"/>
                <a:cs typeface="Nunito Sans" pitchFamily="34" charset="-120"/>
              </a:rPr>
              <a:t>EARL </a:t>
            </a:r>
            <a:r>
              <a:rPr lang="en-US" sz="1200" dirty="0" err="1">
                <a:solidFill>
                  <a:srgbClr val="6B7266"/>
                </a:solidFill>
                <a:latin typeface="Nunito Sans" pitchFamily="34" charset="0"/>
                <a:ea typeface="Nunito Sans" pitchFamily="34" charset="-122"/>
                <a:cs typeface="Nunito Sans" pitchFamily="34" charset="-120"/>
              </a:rPr>
              <a:t>Belvache</a:t>
            </a:r>
            <a:r>
              <a:rPr lang="en-US" sz="1200" dirty="0">
                <a:solidFill>
                  <a:srgbClr val="6B7266"/>
                </a:solidFill>
                <a:latin typeface="Nunito Sans" pitchFamily="34" charset="0"/>
                <a:ea typeface="Nunito Sans" pitchFamily="34" charset="-122"/>
                <a:cs typeface="Nunito Sans" pitchFamily="34" charset="-120"/>
              </a:rPr>
              <a:t> · approche globale</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E3A2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3A566"/>
                </a:solidFill>
                <a:latin typeface="Nunito Sans" pitchFamily="34" charset="0"/>
                <a:ea typeface="Nunito Sans" pitchFamily="34" charset="-122"/>
                <a:cs typeface="Nunito Sans" pitchFamily="34" charset="-120"/>
              </a:rPr>
              <a:t>CE QU'IL FAUT RETENIR</a:t>
            </a:r>
            <a:endParaRPr lang="en-US" sz="1200" dirty="0"/>
          </a:p>
        </p:txBody>
      </p:sp>
      <p:sp>
        <p:nvSpPr>
          <p:cNvPr id="3" name="Text 1"/>
          <p:cNvSpPr/>
          <p:nvPr/>
        </p:nvSpPr>
        <p:spPr>
          <a:xfrm>
            <a:off x="812800" y="1330920"/>
            <a:ext cx="431800"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E3A566"/>
                </a:solidFill>
                <a:latin typeface="Domine" pitchFamily="34" charset="0"/>
                <a:ea typeface="Domine" pitchFamily="34" charset="-122"/>
                <a:cs typeface="Domine" pitchFamily="34" charset="-120"/>
              </a:rPr>
              <a:t>1</a:t>
            </a:r>
            <a:endParaRPr lang="en-US" sz="3200" dirty="0"/>
          </a:p>
        </p:txBody>
      </p:sp>
      <p:sp>
        <p:nvSpPr>
          <p:cNvPr id="4" name="Text 2"/>
          <p:cNvSpPr/>
          <p:nvPr/>
        </p:nvSpPr>
        <p:spPr>
          <a:xfrm>
            <a:off x="1397000" y="1330920"/>
            <a:ext cx="9810750" cy="6858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6F2E8"/>
                </a:solidFill>
                <a:latin typeface="Nunito Sans" pitchFamily="34" charset="0"/>
                <a:ea typeface="Nunito Sans" pitchFamily="34" charset="-122"/>
                <a:cs typeface="Nunito Sans" pitchFamily="34" charset="-120"/>
              </a:rPr>
              <a:t>Un trouble qui revient chaque année est un signal d'élevage : on regarde le système avant l'animal.</a:t>
            </a:r>
            <a:endParaRPr lang="en-US" sz="2000" dirty="0"/>
          </a:p>
        </p:txBody>
      </p:sp>
      <p:sp>
        <p:nvSpPr>
          <p:cNvPr id="5" name="Text 3"/>
          <p:cNvSpPr/>
          <p:nvPr/>
        </p:nvSpPr>
        <p:spPr>
          <a:xfrm>
            <a:off x="812800" y="2219920"/>
            <a:ext cx="431800"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E3A566"/>
                </a:solidFill>
                <a:latin typeface="Domine" pitchFamily="34" charset="0"/>
                <a:ea typeface="Domine" pitchFamily="34" charset="-122"/>
                <a:cs typeface="Domine" pitchFamily="34" charset="-120"/>
              </a:rPr>
              <a:t>2</a:t>
            </a:r>
            <a:endParaRPr lang="en-US" sz="3200" dirty="0"/>
          </a:p>
        </p:txBody>
      </p:sp>
      <p:sp>
        <p:nvSpPr>
          <p:cNvPr id="6" name="Text 4"/>
          <p:cNvSpPr/>
          <p:nvPr/>
        </p:nvSpPr>
        <p:spPr>
          <a:xfrm>
            <a:off x="1397000" y="2219920"/>
            <a:ext cx="981075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6F2E8"/>
                </a:solidFill>
                <a:latin typeface="Nunito Sans" pitchFamily="34" charset="0"/>
                <a:ea typeface="Nunito Sans" pitchFamily="34" charset="-122"/>
                <a:cs typeface="Nunito Sans" pitchFamily="34" charset="-120"/>
              </a:rPr>
              <a:t>Analyser fourrages et eau, lire l'étiquette du minéral : c'est la base.</a:t>
            </a:r>
            <a:endParaRPr lang="en-US" sz="2000" dirty="0"/>
          </a:p>
        </p:txBody>
      </p:sp>
      <p:sp>
        <p:nvSpPr>
          <p:cNvPr id="7" name="Text 5"/>
          <p:cNvSpPr/>
          <p:nvPr/>
        </p:nvSpPr>
        <p:spPr>
          <a:xfrm>
            <a:off x="812800" y="2854920"/>
            <a:ext cx="431800"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E3A566"/>
                </a:solidFill>
                <a:latin typeface="Domine" pitchFamily="34" charset="0"/>
                <a:ea typeface="Domine" pitchFamily="34" charset="-122"/>
                <a:cs typeface="Domine" pitchFamily="34" charset="-120"/>
              </a:rPr>
              <a:t>3</a:t>
            </a:r>
            <a:endParaRPr lang="en-US" sz="3200" dirty="0"/>
          </a:p>
        </p:txBody>
      </p:sp>
      <p:sp>
        <p:nvSpPr>
          <p:cNvPr id="8" name="Text 6"/>
          <p:cNvSpPr/>
          <p:nvPr/>
        </p:nvSpPr>
        <p:spPr>
          <a:xfrm>
            <a:off x="1397000" y="2854920"/>
            <a:ext cx="981075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6F2E8"/>
                </a:solidFill>
                <a:latin typeface="Nunito Sans" pitchFamily="34" charset="0"/>
                <a:ea typeface="Nunito Sans" pitchFamily="34" charset="-122"/>
                <a:cs typeface="Nunito Sans" pitchFamily="34" charset="-120"/>
              </a:rPr>
              <a:t>Mesurer les animaux confirme ou corrige ce que disent les analyses.</a:t>
            </a:r>
            <a:endParaRPr lang="en-US" sz="2000" dirty="0"/>
          </a:p>
        </p:txBody>
      </p:sp>
      <p:sp>
        <p:nvSpPr>
          <p:cNvPr id="9" name="Text 7"/>
          <p:cNvSpPr/>
          <p:nvPr/>
        </p:nvSpPr>
        <p:spPr>
          <a:xfrm>
            <a:off x="812800" y="3489920"/>
            <a:ext cx="431800"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E3A566"/>
                </a:solidFill>
                <a:latin typeface="Domine" pitchFamily="34" charset="0"/>
                <a:ea typeface="Domine" pitchFamily="34" charset="-122"/>
                <a:cs typeface="Domine" pitchFamily="34" charset="-120"/>
              </a:rPr>
              <a:t>4</a:t>
            </a:r>
            <a:endParaRPr lang="en-US" sz="3200" dirty="0"/>
          </a:p>
        </p:txBody>
      </p:sp>
      <p:sp>
        <p:nvSpPr>
          <p:cNvPr id="10" name="Text 8"/>
          <p:cNvSpPr/>
          <p:nvPr/>
        </p:nvSpPr>
        <p:spPr>
          <a:xfrm>
            <a:off x="1397000" y="3489920"/>
            <a:ext cx="981075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6F2E8"/>
                </a:solidFill>
                <a:latin typeface="Nunito Sans" pitchFamily="34" charset="0"/>
                <a:ea typeface="Nunito Sans" pitchFamily="34" charset="-122"/>
                <a:cs typeface="Nunito Sans" pitchFamily="34" charset="-120"/>
              </a:rPr>
              <a:t>Peu d'actions, bien priorisées, puis des contrôles pour vérifier.</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2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4F12"/>
                </a:solidFill>
                <a:latin typeface="Nunito Sans" pitchFamily="34" charset="0"/>
                <a:ea typeface="Nunito Sans" pitchFamily="34" charset="-122"/>
                <a:cs typeface="Nunito Sans" pitchFamily="34" charset="-120"/>
              </a:rPr>
              <a:t>ET CHEZ VOUS ?</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E3A2F"/>
                </a:solidFill>
                <a:latin typeface="Domine" pitchFamily="34" charset="0"/>
                <a:ea typeface="Domine" pitchFamily="34" charset="-122"/>
                <a:cs typeface="Domine" pitchFamily="34" charset="-120"/>
              </a:rPr>
              <a:t>Préparer une visite d'approche globale</a:t>
            </a:r>
            <a:endParaRPr lang="en-US" sz="3200" dirty="0"/>
          </a:p>
        </p:txBody>
      </p:sp>
      <p:sp>
        <p:nvSpPr>
          <p:cNvPr id="4" name="Shape 2"/>
          <p:cNvSpPr/>
          <p:nvPr/>
        </p:nvSpPr>
        <p:spPr>
          <a:xfrm>
            <a:off x="819150" y="1835051"/>
            <a:ext cx="6149380" cy="2399109"/>
          </a:xfrm>
          <a:prstGeom prst="roundRect">
            <a:avLst>
              <a:gd name="adj" fmla="val 3970"/>
            </a:avLst>
          </a:prstGeom>
          <a:solidFill>
            <a:srgbClr val="FBF9F3"/>
          </a:solidFill>
          <a:ln w="12700">
            <a:solidFill>
              <a:srgbClr val="D8CEB6"/>
            </a:solidFill>
            <a:prstDash val="solid"/>
          </a:ln>
        </p:spPr>
        <p:txBody>
          <a:bodyPr/>
          <a:lstStyle/>
          <a:p>
            <a:endParaRPr lang="fr-FR"/>
          </a:p>
        </p:txBody>
      </p:sp>
      <p:sp>
        <p:nvSpPr>
          <p:cNvPr id="5" name="Text 3"/>
          <p:cNvSpPr/>
          <p:nvPr/>
        </p:nvSpPr>
        <p:spPr>
          <a:xfrm>
            <a:off x="1028700" y="2044601"/>
            <a:ext cx="590218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3A2F"/>
                </a:solidFill>
                <a:latin typeface="Domine" pitchFamily="34" charset="0"/>
                <a:ea typeface="Domine" pitchFamily="34" charset="-122"/>
                <a:cs typeface="Domine" pitchFamily="34" charset="-120"/>
              </a:rPr>
              <a:t>Documents à rassembler</a:t>
            </a:r>
            <a:endParaRPr lang="en-US" sz="1500" dirty="0"/>
          </a:p>
        </p:txBody>
      </p:sp>
      <p:sp>
        <p:nvSpPr>
          <p:cNvPr id="6" name="Text 4"/>
          <p:cNvSpPr/>
          <p:nvPr/>
        </p:nvSpPr>
        <p:spPr>
          <a:xfrm>
            <a:off x="1120394" y="2349401"/>
            <a:ext cx="5802874" cy="1700609"/>
          </a:xfrm>
          <a:prstGeom prst="rect">
            <a:avLst/>
          </a:prstGeom>
          <a:noFill/>
          <a:ln/>
        </p:spPr>
        <p:txBody>
          <a:bodyPr wrap="square" lIns="0" tIns="0" rIns="0" bIns="0" rtlCol="0" anchor="t">
            <a:normAutofit/>
          </a:bodyPr>
          <a:lstStyle/>
          <a:p>
            <a:pPr marL="162306" indent="-162306" algn="l">
              <a:lnSpc>
                <a:spcPts val="1885"/>
              </a:lnSpc>
              <a:buSzPct val="100000"/>
              <a:buChar char="•"/>
            </a:pPr>
            <a:r>
              <a:rPr lang="en-US" sz="1300" dirty="0">
                <a:solidFill>
                  <a:srgbClr val="4A5448"/>
                </a:solidFill>
                <a:latin typeface="Nunito Sans" pitchFamily="34" charset="0"/>
                <a:ea typeface="Nunito Sans" pitchFamily="34" charset="-122"/>
                <a:cs typeface="Nunito Sans" pitchFamily="34" charset="-120"/>
              </a:rPr>
              <a:t>Étiquettes des minéraux et additifs</a:t>
            </a:r>
            <a:endParaRPr lang="en-US" sz="1300" dirty="0"/>
          </a:p>
          <a:p>
            <a:pPr marL="162306" indent="-162306" algn="l">
              <a:lnSpc>
                <a:spcPts val="1885"/>
              </a:lnSpc>
              <a:buSzPct val="100000"/>
              <a:buChar char="•"/>
            </a:pPr>
            <a:r>
              <a:rPr lang="en-US" sz="1300" dirty="0">
                <a:solidFill>
                  <a:srgbClr val="4A5448"/>
                </a:solidFill>
                <a:latin typeface="Nunito Sans" pitchFamily="34" charset="0"/>
                <a:ea typeface="Nunito Sans" pitchFamily="34" charset="-122"/>
                <a:cs typeface="Nunito Sans" pitchFamily="34" charset="-120"/>
              </a:rPr>
              <a:t>Bons de livraison et composition des aliments</a:t>
            </a:r>
            <a:endParaRPr lang="en-US" sz="1300" dirty="0"/>
          </a:p>
          <a:p>
            <a:pPr marL="162306" indent="-162306" algn="l">
              <a:lnSpc>
                <a:spcPts val="1885"/>
              </a:lnSpc>
              <a:buSzPct val="100000"/>
              <a:buChar char="•"/>
            </a:pPr>
            <a:r>
              <a:rPr lang="en-US" sz="1300" dirty="0">
                <a:solidFill>
                  <a:srgbClr val="4A5448"/>
                </a:solidFill>
                <a:latin typeface="Nunito Sans" pitchFamily="34" charset="0"/>
                <a:ea typeface="Nunito Sans" pitchFamily="34" charset="-122"/>
                <a:cs typeface="Nunito Sans" pitchFamily="34" charset="-120"/>
              </a:rPr>
              <a:t>Analyses de fourrages de plusieurs années</a:t>
            </a:r>
            <a:endParaRPr lang="en-US" sz="1300" dirty="0"/>
          </a:p>
          <a:p>
            <a:pPr marL="162306" indent="-162306" algn="l">
              <a:lnSpc>
                <a:spcPts val="1885"/>
              </a:lnSpc>
              <a:buSzPct val="100000"/>
              <a:buChar char="•"/>
            </a:pPr>
            <a:r>
              <a:rPr lang="en-US" sz="1300" dirty="0">
                <a:solidFill>
                  <a:srgbClr val="4A5448"/>
                </a:solidFill>
                <a:latin typeface="Nunito Sans" pitchFamily="34" charset="0"/>
                <a:ea typeface="Nunito Sans" pitchFamily="34" charset="-122"/>
                <a:cs typeface="Nunito Sans" pitchFamily="34" charset="-120"/>
              </a:rPr>
              <a:t>Analyses de terre et formules des engrais</a:t>
            </a:r>
            <a:endParaRPr lang="en-US" sz="1300" dirty="0"/>
          </a:p>
          <a:p>
            <a:pPr marL="162306" indent="-162306" algn="l">
              <a:lnSpc>
                <a:spcPts val="1885"/>
              </a:lnSpc>
              <a:buSzPct val="100000"/>
              <a:buChar char="•"/>
            </a:pPr>
            <a:r>
              <a:rPr lang="en-US" sz="1300" dirty="0">
                <a:solidFill>
                  <a:srgbClr val="4A5448"/>
                </a:solidFill>
                <a:latin typeface="Nunito Sans" pitchFamily="34" charset="0"/>
                <a:ea typeface="Nunito Sans" pitchFamily="34" charset="-122"/>
                <a:cs typeface="Nunito Sans" pitchFamily="34" charset="-120"/>
              </a:rPr>
              <a:t>Analyses d'eau et quantité bue par jour</a:t>
            </a:r>
            <a:endParaRPr lang="en-US" sz="1300" dirty="0"/>
          </a:p>
          <a:p>
            <a:pPr marL="162306" indent="-162306" algn="l">
              <a:lnSpc>
                <a:spcPts val="1885"/>
              </a:lnSpc>
              <a:buSzPct val="100000"/>
              <a:buChar char="•"/>
            </a:pPr>
            <a:r>
              <a:rPr lang="en-US" sz="1300" dirty="0">
                <a:solidFill>
                  <a:srgbClr val="4A5448"/>
                </a:solidFill>
                <a:latin typeface="Nunito Sans" pitchFamily="34" charset="0"/>
                <a:ea typeface="Nunito Sans" pitchFamily="34" charset="-122"/>
                <a:cs typeface="Nunito Sans" pitchFamily="34" charset="-120"/>
              </a:rPr>
              <a:t>Résultats d'analyses : avortements, diarrhées, antibiogrammes</a:t>
            </a:r>
            <a:endParaRPr lang="en-US" sz="1300" dirty="0"/>
          </a:p>
          <a:p>
            <a:pPr marL="162306" indent="-162306" algn="l">
              <a:lnSpc>
                <a:spcPts val="1885"/>
              </a:lnSpc>
              <a:buSzPct val="100000"/>
              <a:buChar char="•"/>
            </a:pPr>
            <a:r>
              <a:rPr lang="en-US" sz="1300" dirty="0">
                <a:solidFill>
                  <a:srgbClr val="4A5448"/>
                </a:solidFill>
                <a:latin typeface="Nunito Sans" pitchFamily="34" charset="0"/>
                <a:ea typeface="Nunito Sans" pitchFamily="34" charset="-122"/>
                <a:cs typeface="Nunito Sans" pitchFamily="34" charset="-120"/>
              </a:rPr>
              <a:t>Bilan sanitaire GDS de l'année</a:t>
            </a:r>
            <a:endParaRPr lang="en-US" sz="1300" dirty="0"/>
          </a:p>
        </p:txBody>
      </p:sp>
      <p:sp>
        <p:nvSpPr>
          <p:cNvPr id="7" name="Shape 5"/>
          <p:cNvSpPr/>
          <p:nvPr/>
        </p:nvSpPr>
        <p:spPr>
          <a:xfrm>
            <a:off x="7133630" y="1835051"/>
            <a:ext cx="4239220" cy="2399109"/>
          </a:xfrm>
          <a:prstGeom prst="roundRect">
            <a:avLst>
              <a:gd name="adj" fmla="val 3970"/>
            </a:avLst>
          </a:prstGeom>
          <a:solidFill>
            <a:srgbClr val="FBF9F3"/>
          </a:solidFill>
          <a:ln w="12700">
            <a:solidFill>
              <a:srgbClr val="D8CEB6"/>
            </a:solidFill>
            <a:prstDash val="solid"/>
          </a:ln>
        </p:spPr>
        <p:txBody>
          <a:bodyPr/>
          <a:lstStyle/>
          <a:p>
            <a:endParaRPr lang="fr-FR"/>
          </a:p>
        </p:txBody>
      </p:sp>
      <p:sp>
        <p:nvSpPr>
          <p:cNvPr id="8" name="Text 6"/>
          <p:cNvSpPr/>
          <p:nvPr/>
        </p:nvSpPr>
        <p:spPr>
          <a:xfrm>
            <a:off x="7343180" y="2044601"/>
            <a:ext cx="393472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3A2F"/>
                </a:solidFill>
                <a:latin typeface="Domine" pitchFamily="34" charset="0"/>
                <a:ea typeface="Domine" pitchFamily="34" charset="-122"/>
                <a:cs typeface="Domine" pitchFamily="34" charset="-120"/>
              </a:rPr>
              <a:t>Le jour de la visite</a:t>
            </a:r>
            <a:endParaRPr lang="en-US" sz="1500" dirty="0"/>
          </a:p>
        </p:txBody>
      </p:sp>
      <p:sp>
        <p:nvSpPr>
          <p:cNvPr id="9" name="Text 7"/>
          <p:cNvSpPr/>
          <p:nvPr/>
        </p:nvSpPr>
        <p:spPr>
          <a:xfrm>
            <a:off x="7434874" y="2349401"/>
            <a:ext cx="3835410" cy="982662"/>
          </a:xfrm>
          <a:prstGeom prst="rect">
            <a:avLst/>
          </a:prstGeom>
          <a:noFill/>
          <a:ln/>
        </p:spPr>
        <p:txBody>
          <a:bodyPr wrap="square" lIns="0" tIns="0" rIns="0" bIns="0" rtlCol="0" anchor="t">
            <a:normAutofit/>
          </a:bodyPr>
          <a:lstStyle/>
          <a:p>
            <a:pPr marL="162306" indent="-162306" algn="l">
              <a:lnSpc>
                <a:spcPts val="1885"/>
              </a:lnSpc>
              <a:buSzPct val="100000"/>
              <a:buChar char="•"/>
            </a:pPr>
            <a:r>
              <a:rPr lang="en-US" sz="1300" dirty="0">
                <a:solidFill>
                  <a:srgbClr val="4A5448"/>
                </a:solidFill>
                <a:latin typeface="Nunito Sans" pitchFamily="34" charset="0"/>
                <a:ea typeface="Nunito Sans" pitchFamily="34" charset="-122"/>
                <a:cs typeface="Nunito Sans" pitchFamily="34" charset="-120"/>
              </a:rPr>
              <a:t>Entretien et tour des lots</a:t>
            </a:r>
            <a:endParaRPr lang="en-US" sz="1300" dirty="0"/>
          </a:p>
          <a:p>
            <a:pPr marL="162306" indent="-162306" algn="l">
              <a:lnSpc>
                <a:spcPts val="1885"/>
              </a:lnSpc>
              <a:buSzPct val="100000"/>
              <a:buChar char="•"/>
            </a:pPr>
            <a:r>
              <a:rPr lang="en-US" sz="1300" dirty="0">
                <a:solidFill>
                  <a:srgbClr val="4A5448"/>
                </a:solidFill>
                <a:latin typeface="Nunito Sans" pitchFamily="34" charset="0"/>
                <a:ea typeface="Nunito Sans" pitchFamily="34" charset="-122"/>
                <a:cs typeface="Nunito Sans" pitchFamily="34" charset="-120"/>
              </a:rPr>
              <a:t>Prélèvement des fourrages</a:t>
            </a:r>
            <a:endParaRPr lang="en-US" sz="1300" dirty="0"/>
          </a:p>
          <a:p>
            <a:pPr marL="162306" indent="-162306" algn="l">
              <a:lnSpc>
                <a:spcPts val="1885"/>
              </a:lnSpc>
              <a:buSzPct val="100000"/>
              <a:buChar char="•"/>
            </a:pPr>
            <a:r>
              <a:rPr lang="en-US" sz="1300" dirty="0">
                <a:solidFill>
                  <a:srgbClr val="4A5448"/>
                </a:solidFill>
                <a:latin typeface="Nunito Sans" pitchFamily="34" charset="0"/>
                <a:ea typeface="Nunito Sans" pitchFamily="34" charset="-122"/>
                <a:cs typeface="Nunito Sans" pitchFamily="34" charset="-120"/>
              </a:rPr>
              <a:t>Mesures terrain et prises de sang sur 5 vaches</a:t>
            </a:r>
            <a:endParaRPr lang="en-US" sz="1300" dirty="0"/>
          </a:p>
          <a:p>
            <a:pPr marL="162306" indent="-162306" algn="l">
              <a:lnSpc>
                <a:spcPts val="1885"/>
              </a:lnSpc>
              <a:buSzPct val="100000"/>
              <a:buChar char="•"/>
            </a:pPr>
            <a:r>
              <a:rPr lang="en-US" sz="1300" dirty="0">
                <a:solidFill>
                  <a:srgbClr val="4A5448"/>
                </a:solidFill>
                <a:latin typeface="Nunito Sans" pitchFamily="34" charset="0"/>
                <a:ea typeface="Nunito Sans" pitchFamily="34" charset="-122"/>
                <a:cs typeface="Nunito Sans" pitchFamily="34" charset="-120"/>
              </a:rPr>
              <a:t>Photo des étiquettes</a:t>
            </a:r>
            <a:endParaRPr lang="en-US" sz="13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66"/>
                </a:solidFill>
                <a:latin typeface="Nunito Sans" pitchFamily="34" charset="0"/>
                <a:ea typeface="Nunito Sans" pitchFamily="34" charset="-122"/>
                <a:cs typeface="Nunito Sans" pitchFamily="34" charset="-120"/>
              </a:rPr>
              <a:t>EARL </a:t>
            </a:r>
            <a:r>
              <a:rPr lang="en-US" sz="1200" dirty="0" err="1">
                <a:solidFill>
                  <a:srgbClr val="6B7266"/>
                </a:solidFill>
                <a:latin typeface="Nunito Sans" pitchFamily="34" charset="0"/>
                <a:ea typeface="Nunito Sans" pitchFamily="34" charset="-122"/>
                <a:cs typeface="Nunito Sans" pitchFamily="34" charset="-120"/>
              </a:rPr>
              <a:t>Belvache</a:t>
            </a:r>
            <a:r>
              <a:rPr lang="en-US" sz="1200" dirty="0">
                <a:solidFill>
                  <a:srgbClr val="6B7266"/>
                </a:solidFill>
                <a:latin typeface="Nunito Sans" pitchFamily="34" charset="0"/>
                <a:ea typeface="Nunito Sans" pitchFamily="34" charset="-122"/>
                <a:cs typeface="Nunito Sans" pitchFamily="34" charset="-120"/>
              </a:rPr>
              <a:t> · approche globale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5374</Words>
  <Application>Microsoft Office PowerPoint</Application>
  <PresentationFormat>Grand écran</PresentationFormat>
  <Paragraphs>768</Paragraphs>
  <Slides>30</Slides>
  <Notes>30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30</vt:i4>
      </vt:variant>
    </vt:vector>
  </HeadingPairs>
  <TitlesOfParts>
    <vt:vector size="34" baseType="lpstr">
      <vt:lpstr>Arial</vt:lpstr>
      <vt:lpstr>Domine</vt:lpstr>
      <vt:lpstr>Nunito Sans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L'approche globale de la santé du troupeau — exemple EARL Forgeneuf</dc:title>
  <dc:subject>PptxGenJS Presentation</dc:subject>
  <dc:creator>PptxGenJS</dc:creator>
  <cp:lastModifiedBy>Olena KLYMENKO</cp:lastModifiedBy>
  <cp:revision>4</cp:revision>
  <dcterms:created xsi:type="dcterms:W3CDTF">2026-09-30T13:37:58Z</dcterms:created>
  <dcterms:modified xsi:type="dcterms:W3CDTF">2026-10-13T09:59:56Z</dcterms:modified>
</cp:coreProperties>
</file>